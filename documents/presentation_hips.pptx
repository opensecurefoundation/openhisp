
<file path=[Content_Types].xml><?xml version="1.0" encoding="utf-8"?>
<Types xmlns="http://schemas.openxmlformats.org/package/2006/content-types">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3" Type="http://schemas.openxmlformats.org/package/2006/relationships/metadata/core-properties" Target="docProps/core.xml"/><Relationship Id="rId2"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48" r:id="rId1"/>
  </p:sldMasterIdLst>
  <p:notesMasterIdLst>
    <p:notesMasterId r:id="rId4"/>
  </p:notesMasterIdLst>
  <p:sldIdLst>
    <p:sldId id="256" r:id="rId3"/>
    <p:sldId id="257" r:id="rId5"/>
    <p:sldId id="258" r:id="rId6"/>
    <p:sldId id="259" r:id="rId7"/>
    <p:sldId id="260" r:id="rId8"/>
    <p:sldId id="261" r:id="rId9"/>
    <p:sldId id="262" r:id="rId10"/>
    <p:sldId id="263" r:id="rId11"/>
    <p:sldId id="264" r:id="rId12"/>
    <p:sldId id="265" r:id="rId13"/>
    <p:sldId id="266" r:id="rId14"/>
  </p:sldIdLst>
  <p:sldSz cx="12191365" cy="6858000"/>
  <p:notesSz cx="6858000" cy="12191365"/>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9" Type="http://schemas.openxmlformats.org/officeDocument/2006/relationships/slide" Target="slides/slide6.xml"/><Relationship Id="rId8" Type="http://schemas.openxmlformats.org/officeDocument/2006/relationships/slide" Target="slides/slide5.xml"/><Relationship Id="rId7" Type="http://schemas.openxmlformats.org/officeDocument/2006/relationships/slide" Target="slides/slide4.xml"/><Relationship Id="rId6" Type="http://schemas.openxmlformats.org/officeDocument/2006/relationships/slide" Target="slides/slide3.xml"/><Relationship Id="rId5" Type="http://schemas.openxmlformats.org/officeDocument/2006/relationships/slide" Target="slides/slide2.xml"/><Relationship Id="rId4" Type="http://schemas.openxmlformats.org/officeDocument/2006/relationships/notesMaster" Target="notesMasters/notesMaster1.xml"/><Relationship Id="rId3" Type="http://schemas.openxmlformats.org/officeDocument/2006/relationships/slide" Target="slides/slide1.xml"/><Relationship Id="rId2" Type="http://schemas.openxmlformats.org/officeDocument/2006/relationships/theme" Target="theme/theme1.xml"/><Relationship Id="rId17" Type="http://schemas.openxmlformats.org/officeDocument/2006/relationships/tableStyles" Target="tableStyles.xml"/><Relationship Id="rId16" Type="http://schemas.openxmlformats.org/officeDocument/2006/relationships/viewProps" Target="viewProps.xml"/><Relationship Id="rId15" Type="http://schemas.openxmlformats.org/officeDocument/2006/relationships/presProps" Target="presProps.xml"/><Relationship Id="rId14" Type="http://schemas.openxmlformats.org/officeDocument/2006/relationships/slide" Target="slides/slide11.xml"/><Relationship Id="rId13" Type="http://schemas.openxmlformats.org/officeDocument/2006/relationships/slide" Target="slides/slide10.xml"/><Relationship Id="rId12" Type="http://schemas.openxmlformats.org/officeDocument/2006/relationships/slide" Target="slides/slide9.xml"/><Relationship Id="rId11" Type="http://schemas.openxmlformats.org/officeDocument/2006/relationships/slide" Target="slides/slide8.xml"/><Relationship Id="rId10" Type="http://schemas.openxmlformats.org/officeDocument/2006/relationships/slide" Target="slides/slide7.xml"/><Relationship Id="rId1" Type="http://schemas.openxmlformats.org/officeDocument/2006/relationships/slideMaster" Target="slideMasters/slide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fld>
            <a:endParaRPr 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0D1B12"/>
        </a:solidFill>
        <a:effectLst/>
      </p:bgPr>
    </p:bg>
    <p:spTree>
      <p:nvGrpSpPr>
        <p:cNvPr id="1" name=""/>
        <p:cNvGrpSpPr/>
        <p:nvPr/>
      </p:nvGrpSpPr>
      <p:grpSpPr>
        <a:xfrm>
          <a:off x="0" y="0"/>
          <a:ext cx="0" cy="0"/>
          <a:chOff x="0" y="0"/>
          <a:chExt cx="0" cy="0"/>
        </a:xfrm>
      </p:grpSpPr>
      <p:sp>
        <p:nvSpPr>
          <p:cNvPr id="2" name="Shape 0"/>
          <p:cNvSpPr/>
          <p:nvPr/>
        </p:nvSpPr>
        <p:spPr>
          <a:xfrm>
            <a:off x="0" y="1188720"/>
            <a:ext cx="12191695" cy="0"/>
          </a:xfrm>
          <a:prstGeom prst="line">
            <a:avLst/>
          </a:prstGeom>
          <a:noFill/>
          <a:ln w="12700">
            <a:solidFill>
              <a:srgbClr val="18301F"/>
            </a:solidFill>
            <a:prstDash val="solid"/>
          </a:ln>
        </p:spPr>
      </p:sp>
      <p:sp>
        <p:nvSpPr>
          <p:cNvPr id="3" name="Shape 1"/>
          <p:cNvSpPr/>
          <p:nvPr/>
        </p:nvSpPr>
        <p:spPr>
          <a:xfrm>
            <a:off x="0" y="2148840"/>
            <a:ext cx="12191695" cy="0"/>
          </a:xfrm>
          <a:prstGeom prst="line">
            <a:avLst/>
          </a:prstGeom>
          <a:noFill/>
          <a:ln w="12700">
            <a:solidFill>
              <a:srgbClr val="18301F"/>
            </a:solidFill>
            <a:prstDash val="solid"/>
          </a:ln>
        </p:spPr>
      </p:sp>
      <p:sp>
        <p:nvSpPr>
          <p:cNvPr id="4" name="Shape 2"/>
          <p:cNvSpPr/>
          <p:nvPr/>
        </p:nvSpPr>
        <p:spPr>
          <a:xfrm>
            <a:off x="0" y="3108960"/>
            <a:ext cx="12191695" cy="0"/>
          </a:xfrm>
          <a:prstGeom prst="line">
            <a:avLst/>
          </a:prstGeom>
          <a:noFill/>
          <a:ln w="12700">
            <a:solidFill>
              <a:srgbClr val="18301F"/>
            </a:solidFill>
            <a:prstDash val="solid"/>
          </a:ln>
        </p:spPr>
      </p:sp>
      <p:sp>
        <p:nvSpPr>
          <p:cNvPr id="5" name="Shape 3"/>
          <p:cNvSpPr/>
          <p:nvPr/>
        </p:nvSpPr>
        <p:spPr>
          <a:xfrm>
            <a:off x="0" y="4069080"/>
            <a:ext cx="12191695" cy="0"/>
          </a:xfrm>
          <a:prstGeom prst="line">
            <a:avLst/>
          </a:prstGeom>
          <a:noFill/>
          <a:ln w="12700">
            <a:solidFill>
              <a:srgbClr val="18301F"/>
            </a:solidFill>
            <a:prstDash val="solid"/>
          </a:ln>
        </p:spPr>
      </p:sp>
      <p:sp>
        <p:nvSpPr>
          <p:cNvPr id="6" name="Shape 4"/>
          <p:cNvSpPr/>
          <p:nvPr/>
        </p:nvSpPr>
        <p:spPr>
          <a:xfrm>
            <a:off x="0" y="5029200"/>
            <a:ext cx="12191695" cy="0"/>
          </a:xfrm>
          <a:prstGeom prst="line">
            <a:avLst/>
          </a:prstGeom>
          <a:noFill/>
          <a:ln w="12700">
            <a:solidFill>
              <a:srgbClr val="18301F"/>
            </a:solidFill>
            <a:prstDash val="solid"/>
          </a:ln>
        </p:spPr>
      </p:sp>
      <p:sp>
        <p:nvSpPr>
          <p:cNvPr id="7" name="Shape 5"/>
          <p:cNvSpPr/>
          <p:nvPr/>
        </p:nvSpPr>
        <p:spPr>
          <a:xfrm>
            <a:off x="0" y="5989320"/>
            <a:ext cx="12191695" cy="0"/>
          </a:xfrm>
          <a:prstGeom prst="line">
            <a:avLst/>
          </a:prstGeom>
          <a:noFill/>
          <a:ln w="12700">
            <a:solidFill>
              <a:srgbClr val="18301F"/>
            </a:solidFill>
            <a:prstDash val="solid"/>
          </a:ln>
        </p:spPr>
      </p:sp>
      <p:sp>
        <p:nvSpPr>
          <p:cNvPr id="8" name="Text 6"/>
          <p:cNvSpPr/>
          <p:nvPr/>
        </p:nvSpPr>
        <p:spPr>
          <a:xfrm>
            <a:off x="822960" y="1463040"/>
            <a:ext cx="5486400" cy="365760"/>
          </a:xfrm>
          <a:prstGeom prst="rect">
            <a:avLst/>
          </a:prstGeom>
          <a:noFill/>
        </p:spPr>
        <p:txBody>
          <a:bodyPr wrap="square" lIns="0" tIns="0" rIns="0" bIns="0" rtlCol="0" anchor="ctr"/>
          <a:lstStyle/>
          <a:p>
            <a:pPr marL="0" indent="0">
              <a:buNone/>
            </a:pPr>
            <a:r>
              <a:rPr lang="en-US" sz="1300" b="1" kern="0" spc="300" dirty="0">
                <a:solidFill>
                  <a:srgbClr val="4CAF50"/>
                </a:solidFill>
                <a:latin typeface="Calibri" panose="020F0502020204030204" pitchFamily="34" charset="0"/>
                <a:ea typeface="Calibri" panose="020F0502020204030204" pitchFamily="34" charset="-122"/>
                <a:cs typeface="Calibri" panose="020F0502020204030204" pitchFamily="34" charset="-120"/>
              </a:rPr>
              <a:t>PROJET N°7</a:t>
            </a:r>
            <a:endParaRPr lang="en-US" sz="1300" dirty="0"/>
          </a:p>
        </p:txBody>
      </p:sp>
      <p:sp>
        <p:nvSpPr>
          <p:cNvPr id="9" name="Text 7"/>
          <p:cNvSpPr/>
          <p:nvPr/>
        </p:nvSpPr>
        <p:spPr>
          <a:xfrm>
            <a:off x="777240" y="1965960"/>
            <a:ext cx="9601200" cy="1737360"/>
          </a:xfrm>
          <a:prstGeom prst="rect">
            <a:avLst/>
          </a:prstGeom>
          <a:noFill/>
        </p:spPr>
        <p:txBody>
          <a:bodyPr wrap="square" lIns="0" tIns="0" rIns="0" bIns="0" rtlCol="0" anchor="ctr"/>
          <a:lstStyle/>
          <a:p>
            <a:pPr marL="0" indent="0">
              <a:lnSpc>
                <a:spcPct val="105000"/>
              </a:lnSpc>
              <a:buNone/>
            </a:pPr>
            <a:r>
              <a:rPr lang="en-US" sz="4400" b="1" dirty="0">
                <a:solidFill>
                  <a:srgbClr val="FFFFFF"/>
                </a:solidFill>
                <a:latin typeface="Cambria" panose="02040503050406030204" pitchFamily="34" charset="0"/>
                <a:ea typeface="Cambria" panose="02040503050406030204" pitchFamily="34" charset="-122"/>
                <a:cs typeface="Cambria" panose="02040503050406030204" pitchFamily="34" charset="-120"/>
              </a:rPr>
              <a:t>Système de détection et de</a:t>
            </a:r>
            <a:endParaRPr lang="en-US" sz="4400" dirty="0"/>
          </a:p>
          <a:p>
            <a:pPr marL="0" indent="0">
              <a:lnSpc>
                <a:spcPct val="105000"/>
              </a:lnSpc>
              <a:buNone/>
            </a:pPr>
            <a:r>
              <a:rPr lang="en-US" sz="4400" b="1" dirty="0">
                <a:solidFill>
                  <a:srgbClr val="FFFFFF"/>
                </a:solidFill>
                <a:latin typeface="Cambria" panose="02040503050406030204" pitchFamily="34" charset="0"/>
                <a:ea typeface="Cambria" panose="02040503050406030204" pitchFamily="34" charset="-122"/>
                <a:cs typeface="Cambria" panose="02040503050406030204" pitchFamily="34" charset="-120"/>
              </a:rPr>
              <a:t>prévention d'intrusions hôte</a:t>
            </a:r>
            <a:endParaRPr lang="en-US" sz="4400" dirty="0"/>
          </a:p>
        </p:txBody>
      </p:sp>
      <p:sp>
        <p:nvSpPr>
          <p:cNvPr id="10" name="Text 8"/>
          <p:cNvSpPr/>
          <p:nvPr/>
        </p:nvSpPr>
        <p:spPr>
          <a:xfrm>
            <a:off x="822960" y="3611880"/>
            <a:ext cx="8229600" cy="457200"/>
          </a:xfrm>
          <a:prstGeom prst="rect">
            <a:avLst/>
          </a:prstGeom>
          <a:noFill/>
        </p:spPr>
        <p:txBody>
          <a:bodyPr wrap="square" lIns="0" tIns="0" rIns="0" bIns="0" rtlCol="0" anchor="ctr"/>
          <a:lstStyle/>
          <a:p>
            <a:pPr marL="0" indent="0">
              <a:buNone/>
            </a:pPr>
            <a:r>
              <a:rPr lang="en-US" sz="1800" i="1" dirty="0">
                <a:solidFill>
                  <a:srgbClr val="8BC9A0"/>
                </a:solidFill>
                <a:latin typeface="Calibri" panose="020F0502020204030204" pitchFamily="34" charset="0"/>
                <a:ea typeface="Calibri" panose="020F0502020204030204" pitchFamily="34" charset="-122"/>
                <a:cs typeface="Calibri" panose="020F0502020204030204" pitchFamily="34" charset="-120"/>
              </a:rPr>
              <a:t>HIPS sous Linux — Cahier de réalisation</a:t>
            </a:r>
            <a:endParaRPr lang="en-US" sz="1800" dirty="0"/>
          </a:p>
        </p:txBody>
      </p:sp>
      <p:sp>
        <p:nvSpPr>
          <p:cNvPr id="11" name="Shape 9"/>
          <p:cNvSpPr/>
          <p:nvPr/>
        </p:nvSpPr>
        <p:spPr>
          <a:xfrm>
            <a:off x="822960" y="4251960"/>
            <a:ext cx="2011680" cy="0"/>
          </a:xfrm>
          <a:prstGeom prst="line">
            <a:avLst/>
          </a:prstGeom>
          <a:noFill/>
          <a:ln w="38100">
            <a:solidFill>
              <a:srgbClr val="2E7D32"/>
            </a:solidFill>
            <a:prstDash val="solid"/>
          </a:ln>
        </p:spPr>
      </p:sp>
      <p:sp>
        <p:nvSpPr>
          <p:cNvPr id="12" name="Text 10"/>
          <p:cNvSpPr/>
          <p:nvPr/>
        </p:nvSpPr>
        <p:spPr>
          <a:xfrm>
            <a:off x="822960" y="4663440"/>
            <a:ext cx="7315200" cy="822960"/>
          </a:xfrm>
          <a:prstGeom prst="rect">
            <a:avLst/>
          </a:prstGeom>
          <a:noFill/>
        </p:spPr>
        <p:txBody>
          <a:bodyPr wrap="square" lIns="0" tIns="0" rIns="0" bIns="0" rtlCol="0" anchor="ctr"/>
          <a:lstStyle/>
          <a:p>
            <a:pPr marL="0" indent="0">
              <a:lnSpc>
                <a:spcPct val="150000"/>
              </a:lnSpc>
              <a:buNone/>
            </a:pPr>
            <a:r>
              <a:rPr lang="en-US" sz="1300" dirty="0">
                <a:solidFill>
                  <a:srgbClr val="9FB3A6"/>
                </a:solidFill>
                <a:latin typeface="Calibri" panose="020F0502020204030204" pitchFamily="34" charset="0"/>
                <a:ea typeface="Calibri" panose="020F0502020204030204" pitchFamily="34" charset="-122"/>
                <a:cs typeface="Calibri" panose="020F0502020204030204" pitchFamily="34" charset="-120"/>
              </a:rPr>
              <a:t>Étudiante  </a:t>
            </a:r>
            <a:r>
              <a:rPr lang="en-US" sz="1300" b="1" dirty="0">
                <a:solidFill>
                  <a:srgbClr val="FFFFFF"/>
                </a:solidFill>
                <a:latin typeface="Calibri" panose="020F0502020204030204" pitchFamily="34" charset="0"/>
                <a:ea typeface="Calibri" panose="020F0502020204030204" pitchFamily="34" charset="-122"/>
                <a:cs typeface="Calibri" panose="020F0502020204030204" pitchFamily="34" charset="-120"/>
              </a:rPr>
              <a:t>KAMDOUM TEUFENG Josette</a:t>
            </a:r>
            <a:endParaRPr lang="en-US" sz="1300" b="1" dirty="0">
              <a:solidFill>
                <a:srgbClr val="FFFFFF"/>
              </a:solidFill>
              <a:latin typeface="Calibri" panose="020F0502020204030204" pitchFamily="34" charset="0"/>
              <a:ea typeface="Calibri" panose="020F0502020204030204" pitchFamily="34" charset="-122"/>
              <a:cs typeface="Calibri" panose="020F0502020204030204" pitchFamily="34" charset="-120"/>
            </a:endParaRPr>
          </a:p>
          <a:p>
            <a:pPr marL="0" indent="457200">
              <a:lnSpc>
                <a:spcPct val="150000"/>
              </a:lnSpc>
              <a:buNone/>
            </a:pPr>
            <a:r>
              <a:rPr lang="fr-FR" altLang="en-US" sz="1300" b="1" dirty="0">
                <a:solidFill>
                  <a:srgbClr val="FFFFFF"/>
                </a:solidFill>
                <a:latin typeface="Calibri" panose="020F0502020204030204" pitchFamily="34" charset="0"/>
                <a:ea typeface="Calibri" panose="020F0502020204030204" pitchFamily="34" charset="-122"/>
                <a:cs typeface="Calibri" panose="020F0502020204030204" pitchFamily="34" charset="-120"/>
              </a:rPr>
              <a:t>Harvis Landry FOTSEU</a:t>
            </a:r>
            <a:r>
              <a:rPr lang="en-US" sz="1300" b="1" dirty="0">
                <a:solidFill>
                  <a:srgbClr val="FFFFFF"/>
                </a:solidFill>
                <a:latin typeface="Calibri" panose="020F0502020204030204" pitchFamily="34" charset="0"/>
                <a:ea typeface="Calibri" panose="020F0502020204030204" pitchFamily="34" charset="-122"/>
                <a:cs typeface="Calibri" panose="020F0502020204030204" pitchFamily="34" charset="-120"/>
              </a:rPr>
              <a:t>
</a:t>
            </a:r>
            <a:r>
              <a:rPr lang="en-US" sz="1300" dirty="0">
                <a:solidFill>
                  <a:srgbClr val="9FB3A6"/>
                </a:solidFill>
                <a:latin typeface="Calibri" panose="020F0502020204030204" pitchFamily="34" charset="0"/>
                <a:ea typeface="Calibri" panose="020F0502020204030204" pitchFamily="34" charset="-122"/>
                <a:cs typeface="Calibri" panose="020F0502020204030204" pitchFamily="34" charset="-120"/>
              </a:rPr>
              <a:t>Environnement  </a:t>
            </a:r>
            <a:r>
              <a:rPr lang="en-US" sz="1300" b="1" dirty="0">
                <a:solidFill>
                  <a:srgbClr val="FFFFFF"/>
                </a:solidFill>
                <a:latin typeface="Calibri" panose="020F0502020204030204" pitchFamily="34" charset="0"/>
                <a:ea typeface="Calibri" panose="020F0502020204030204" pitchFamily="34" charset="-122"/>
                <a:cs typeface="Calibri" panose="020F0502020204030204" pitchFamily="34" charset="-120"/>
              </a:rPr>
              <a:t>VMware — Kali Linux / Ubuntu Desktop</a:t>
            </a:r>
            <a:endParaRPr lang="en-US" sz="13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65760"/>
            <a:ext cx="7315200" cy="365760"/>
          </a:xfrm>
          <a:prstGeom prst="rect">
            <a:avLst/>
          </a:prstGeom>
          <a:noFill/>
        </p:spPr>
        <p:txBody>
          <a:bodyPr wrap="square" lIns="0" tIns="0" rIns="0" bIns="0" rtlCol="0" anchor="ctr"/>
          <a:lstStyle/>
          <a:p>
            <a:pPr marL="0" indent="0">
              <a:buNone/>
            </a:pPr>
            <a:r>
              <a:rPr lang="en-US" sz="1200" b="1" kern="0" spc="200" dirty="0">
                <a:solidFill>
                  <a:srgbClr val="2E7D32"/>
                </a:solidFill>
                <a:latin typeface="Calibri" panose="020F0502020204030204" pitchFamily="34" charset="0"/>
                <a:ea typeface="Calibri" panose="020F0502020204030204" pitchFamily="34" charset="-122"/>
                <a:cs typeface="Calibri" panose="020F0502020204030204" pitchFamily="34" charset="-120"/>
              </a:rPr>
              <a:t>SOMMAIRE</a:t>
            </a:r>
            <a:endParaRPr lang="en-US" sz="1200" dirty="0"/>
          </a:p>
        </p:txBody>
      </p:sp>
      <p:sp>
        <p:nvSpPr>
          <p:cNvPr id="3" name="Text 1"/>
          <p:cNvSpPr/>
          <p:nvPr/>
        </p:nvSpPr>
        <p:spPr>
          <a:xfrm>
            <a:off x="548640" y="685800"/>
            <a:ext cx="10515600" cy="731520"/>
          </a:xfrm>
          <a:prstGeom prst="rect">
            <a:avLst/>
          </a:prstGeom>
          <a:noFill/>
        </p:spPr>
        <p:txBody>
          <a:bodyPr wrap="square" lIns="0" tIns="0" rIns="0" bIns="0" rtlCol="0" anchor="ctr"/>
          <a:lstStyle/>
          <a:p>
            <a:pPr marL="0" indent="0">
              <a:buNone/>
            </a:pPr>
            <a:r>
              <a:rPr lang="en-US" sz="3000" b="1" dirty="0">
                <a:solidFill>
                  <a:srgbClr val="1B1B1B"/>
                </a:solidFill>
                <a:latin typeface="Cambria" panose="02040503050406030204" pitchFamily="34" charset="0"/>
                <a:ea typeface="Cambria" panose="02040503050406030204" pitchFamily="34" charset="-122"/>
                <a:cs typeface="Cambria" panose="02040503050406030204" pitchFamily="34" charset="-120"/>
              </a:rPr>
              <a:t>Plan de la présentation</a:t>
            </a:r>
            <a:endParaRPr lang="en-US" sz="3000" dirty="0"/>
          </a:p>
        </p:txBody>
      </p:sp>
      <p:sp>
        <p:nvSpPr>
          <p:cNvPr id="4" name="Shape 2"/>
          <p:cNvSpPr/>
          <p:nvPr/>
        </p:nvSpPr>
        <p:spPr>
          <a:xfrm>
            <a:off x="548640" y="1737360"/>
            <a:ext cx="5120640" cy="731520"/>
          </a:xfrm>
          <a:prstGeom prst="roundRect">
            <a:avLst>
              <a:gd name="adj" fmla="val 7500"/>
            </a:avLst>
          </a:prstGeom>
          <a:solidFill>
            <a:srgbClr val="F0F5F1"/>
          </a:solidFill>
        </p:spPr>
      </p:sp>
      <p:sp>
        <p:nvSpPr>
          <p:cNvPr id="5" name="Text 3"/>
          <p:cNvSpPr/>
          <p:nvPr/>
        </p:nvSpPr>
        <p:spPr>
          <a:xfrm>
            <a:off x="777240" y="1737360"/>
            <a:ext cx="822960" cy="731520"/>
          </a:xfrm>
          <a:prstGeom prst="rect">
            <a:avLst/>
          </a:prstGeom>
          <a:noFill/>
        </p:spPr>
        <p:txBody>
          <a:bodyPr wrap="square" lIns="0" tIns="0" rIns="0" bIns="0" rtlCol="0" anchor="ctr"/>
          <a:lstStyle/>
          <a:p>
            <a:pPr marL="0" indent="0">
              <a:buNone/>
            </a:pPr>
            <a:r>
              <a:rPr lang="en-US" sz="2400" b="1" dirty="0">
                <a:solidFill>
                  <a:srgbClr val="2E7D32"/>
                </a:solidFill>
                <a:latin typeface="Cambria" panose="02040503050406030204" pitchFamily="34" charset="0"/>
                <a:ea typeface="Cambria" panose="02040503050406030204" pitchFamily="34" charset="-122"/>
                <a:cs typeface="Cambria" panose="02040503050406030204" pitchFamily="34" charset="-120"/>
              </a:rPr>
              <a:t>01</a:t>
            </a:r>
            <a:endParaRPr lang="en-US" sz="2400" dirty="0"/>
          </a:p>
        </p:txBody>
      </p:sp>
      <p:sp>
        <p:nvSpPr>
          <p:cNvPr id="6" name="Text 4"/>
          <p:cNvSpPr/>
          <p:nvPr/>
        </p:nvSpPr>
        <p:spPr>
          <a:xfrm>
            <a:off x="1463040" y="1737360"/>
            <a:ext cx="4023360" cy="731520"/>
          </a:xfrm>
          <a:prstGeom prst="rect">
            <a:avLst/>
          </a:prstGeom>
          <a:noFill/>
        </p:spPr>
        <p:txBody>
          <a:bodyPr wrap="square" lIns="0" tIns="0" rIns="0" bIns="0" rtlCol="0" anchor="ctr"/>
          <a:lstStyle/>
          <a:p>
            <a:pPr marL="0" indent="0">
              <a:buNone/>
            </a:pPr>
            <a:r>
              <a:rPr lang="en-US" sz="1600" b="1" dirty="0">
                <a:solidFill>
                  <a:srgbClr val="1B1B1B"/>
                </a:solidFill>
                <a:latin typeface="Calibri" panose="020F0502020204030204" pitchFamily="34" charset="0"/>
                <a:ea typeface="Calibri" panose="020F0502020204030204" pitchFamily="34" charset="-122"/>
                <a:cs typeface="Calibri" panose="020F0502020204030204" pitchFamily="34" charset="-120"/>
              </a:rPr>
              <a:t>Introduction</a:t>
            </a:r>
            <a:endParaRPr lang="en-US" sz="1600" dirty="0"/>
          </a:p>
        </p:txBody>
      </p:sp>
      <p:sp>
        <p:nvSpPr>
          <p:cNvPr id="7" name="Shape 5"/>
          <p:cNvSpPr/>
          <p:nvPr/>
        </p:nvSpPr>
        <p:spPr>
          <a:xfrm>
            <a:off x="6172200" y="1737360"/>
            <a:ext cx="5120640" cy="731520"/>
          </a:xfrm>
          <a:prstGeom prst="roundRect">
            <a:avLst>
              <a:gd name="adj" fmla="val 7500"/>
            </a:avLst>
          </a:prstGeom>
          <a:solidFill>
            <a:srgbClr val="F0F5F1"/>
          </a:solidFill>
        </p:spPr>
      </p:sp>
      <p:sp>
        <p:nvSpPr>
          <p:cNvPr id="8" name="Text 6"/>
          <p:cNvSpPr/>
          <p:nvPr/>
        </p:nvSpPr>
        <p:spPr>
          <a:xfrm>
            <a:off x="6400800" y="1737360"/>
            <a:ext cx="822960" cy="731520"/>
          </a:xfrm>
          <a:prstGeom prst="rect">
            <a:avLst/>
          </a:prstGeom>
          <a:noFill/>
        </p:spPr>
        <p:txBody>
          <a:bodyPr wrap="square" lIns="0" tIns="0" rIns="0" bIns="0" rtlCol="0" anchor="ctr"/>
          <a:lstStyle/>
          <a:p>
            <a:pPr marL="0" indent="0">
              <a:buNone/>
            </a:pPr>
            <a:r>
              <a:rPr lang="en-US" sz="2400" b="1" dirty="0">
                <a:solidFill>
                  <a:srgbClr val="2E7D32"/>
                </a:solidFill>
                <a:latin typeface="Cambria" panose="02040503050406030204" pitchFamily="34" charset="0"/>
                <a:ea typeface="Cambria" panose="02040503050406030204" pitchFamily="34" charset="-122"/>
                <a:cs typeface="Cambria" panose="02040503050406030204" pitchFamily="34" charset="-120"/>
              </a:rPr>
              <a:t>02</a:t>
            </a:r>
            <a:endParaRPr lang="en-US" sz="2400" dirty="0"/>
          </a:p>
        </p:txBody>
      </p:sp>
      <p:sp>
        <p:nvSpPr>
          <p:cNvPr id="9" name="Text 7"/>
          <p:cNvSpPr/>
          <p:nvPr/>
        </p:nvSpPr>
        <p:spPr>
          <a:xfrm>
            <a:off x="7086600" y="1737360"/>
            <a:ext cx="4023360" cy="731520"/>
          </a:xfrm>
          <a:prstGeom prst="rect">
            <a:avLst/>
          </a:prstGeom>
          <a:noFill/>
        </p:spPr>
        <p:txBody>
          <a:bodyPr wrap="square" lIns="0" tIns="0" rIns="0" bIns="0" rtlCol="0" anchor="ctr"/>
          <a:lstStyle/>
          <a:p>
            <a:pPr marL="0" indent="0">
              <a:buNone/>
            </a:pPr>
            <a:r>
              <a:rPr lang="en-US" sz="1600" b="1" dirty="0">
                <a:solidFill>
                  <a:srgbClr val="1B1B1B"/>
                </a:solidFill>
                <a:latin typeface="Calibri" panose="020F0502020204030204" pitchFamily="34" charset="0"/>
                <a:ea typeface="Calibri" panose="020F0502020204030204" pitchFamily="34" charset="-122"/>
                <a:cs typeface="Calibri" panose="020F0502020204030204" pitchFamily="34" charset="-120"/>
              </a:rPr>
              <a:t>Analyse de l'existant</a:t>
            </a:r>
            <a:endParaRPr lang="en-US" sz="1600" dirty="0"/>
          </a:p>
        </p:txBody>
      </p:sp>
      <p:sp>
        <p:nvSpPr>
          <p:cNvPr id="10" name="Shape 8"/>
          <p:cNvSpPr/>
          <p:nvPr/>
        </p:nvSpPr>
        <p:spPr>
          <a:xfrm>
            <a:off x="548640" y="2633472"/>
            <a:ext cx="5120640" cy="731520"/>
          </a:xfrm>
          <a:prstGeom prst="roundRect">
            <a:avLst>
              <a:gd name="adj" fmla="val 7500"/>
            </a:avLst>
          </a:prstGeom>
          <a:solidFill>
            <a:srgbClr val="F0F5F1"/>
          </a:solidFill>
        </p:spPr>
      </p:sp>
      <p:sp>
        <p:nvSpPr>
          <p:cNvPr id="11" name="Text 9"/>
          <p:cNvSpPr/>
          <p:nvPr/>
        </p:nvSpPr>
        <p:spPr>
          <a:xfrm>
            <a:off x="777240" y="2633472"/>
            <a:ext cx="822960" cy="731520"/>
          </a:xfrm>
          <a:prstGeom prst="rect">
            <a:avLst/>
          </a:prstGeom>
          <a:noFill/>
        </p:spPr>
        <p:txBody>
          <a:bodyPr wrap="square" lIns="0" tIns="0" rIns="0" bIns="0" rtlCol="0" anchor="ctr"/>
          <a:lstStyle/>
          <a:p>
            <a:pPr marL="0" indent="0">
              <a:buNone/>
            </a:pPr>
            <a:r>
              <a:rPr lang="en-US" sz="2400" b="1" dirty="0">
                <a:solidFill>
                  <a:srgbClr val="2E7D32"/>
                </a:solidFill>
                <a:latin typeface="Cambria" panose="02040503050406030204" pitchFamily="34" charset="0"/>
                <a:ea typeface="Cambria" panose="02040503050406030204" pitchFamily="34" charset="-122"/>
                <a:cs typeface="Cambria" panose="02040503050406030204" pitchFamily="34" charset="-120"/>
              </a:rPr>
              <a:t>03</a:t>
            </a:r>
            <a:endParaRPr lang="en-US" sz="2400" dirty="0"/>
          </a:p>
        </p:txBody>
      </p:sp>
      <p:sp>
        <p:nvSpPr>
          <p:cNvPr id="12" name="Text 10"/>
          <p:cNvSpPr/>
          <p:nvPr/>
        </p:nvSpPr>
        <p:spPr>
          <a:xfrm>
            <a:off x="1463040" y="2633472"/>
            <a:ext cx="4023360" cy="731520"/>
          </a:xfrm>
          <a:prstGeom prst="rect">
            <a:avLst/>
          </a:prstGeom>
          <a:noFill/>
        </p:spPr>
        <p:txBody>
          <a:bodyPr wrap="square" lIns="0" tIns="0" rIns="0" bIns="0" rtlCol="0" anchor="ctr"/>
          <a:lstStyle/>
          <a:p>
            <a:pPr marL="0" indent="0">
              <a:buNone/>
            </a:pPr>
            <a:r>
              <a:rPr lang="en-US" sz="1600" b="1" dirty="0">
                <a:solidFill>
                  <a:srgbClr val="1B1B1B"/>
                </a:solidFill>
                <a:latin typeface="Calibri" panose="020F0502020204030204" pitchFamily="34" charset="0"/>
                <a:ea typeface="Calibri" panose="020F0502020204030204" pitchFamily="34" charset="-122"/>
                <a:cs typeface="Calibri" panose="020F0502020204030204" pitchFamily="34" charset="-120"/>
              </a:rPr>
              <a:t>Architecture de la solution</a:t>
            </a:r>
            <a:endParaRPr lang="en-US" sz="1600" dirty="0"/>
          </a:p>
        </p:txBody>
      </p:sp>
      <p:sp>
        <p:nvSpPr>
          <p:cNvPr id="13" name="Shape 11"/>
          <p:cNvSpPr/>
          <p:nvPr/>
        </p:nvSpPr>
        <p:spPr>
          <a:xfrm>
            <a:off x="6172200" y="2633472"/>
            <a:ext cx="5120640" cy="731520"/>
          </a:xfrm>
          <a:prstGeom prst="roundRect">
            <a:avLst>
              <a:gd name="adj" fmla="val 7500"/>
            </a:avLst>
          </a:prstGeom>
          <a:solidFill>
            <a:srgbClr val="F0F5F1"/>
          </a:solidFill>
        </p:spPr>
      </p:sp>
      <p:sp>
        <p:nvSpPr>
          <p:cNvPr id="14" name="Text 12"/>
          <p:cNvSpPr/>
          <p:nvPr/>
        </p:nvSpPr>
        <p:spPr>
          <a:xfrm>
            <a:off x="6400800" y="2633472"/>
            <a:ext cx="822960" cy="731520"/>
          </a:xfrm>
          <a:prstGeom prst="rect">
            <a:avLst/>
          </a:prstGeom>
          <a:noFill/>
        </p:spPr>
        <p:txBody>
          <a:bodyPr wrap="square" lIns="0" tIns="0" rIns="0" bIns="0" rtlCol="0" anchor="ctr"/>
          <a:lstStyle/>
          <a:p>
            <a:pPr marL="0" indent="0">
              <a:buNone/>
            </a:pPr>
            <a:r>
              <a:rPr lang="en-US" sz="2400" b="1" dirty="0">
                <a:solidFill>
                  <a:srgbClr val="2E7D32"/>
                </a:solidFill>
                <a:latin typeface="Cambria" panose="02040503050406030204" pitchFamily="34" charset="0"/>
                <a:ea typeface="Cambria" panose="02040503050406030204" pitchFamily="34" charset="-122"/>
                <a:cs typeface="Cambria" panose="02040503050406030204" pitchFamily="34" charset="-120"/>
              </a:rPr>
              <a:t>04</a:t>
            </a:r>
            <a:endParaRPr lang="en-US" sz="2400" dirty="0"/>
          </a:p>
        </p:txBody>
      </p:sp>
      <p:sp>
        <p:nvSpPr>
          <p:cNvPr id="15" name="Text 13"/>
          <p:cNvSpPr/>
          <p:nvPr/>
        </p:nvSpPr>
        <p:spPr>
          <a:xfrm>
            <a:off x="7086600" y="2633472"/>
            <a:ext cx="4023360" cy="731520"/>
          </a:xfrm>
          <a:prstGeom prst="rect">
            <a:avLst/>
          </a:prstGeom>
          <a:noFill/>
        </p:spPr>
        <p:txBody>
          <a:bodyPr wrap="square" lIns="0" tIns="0" rIns="0" bIns="0" rtlCol="0" anchor="ctr"/>
          <a:lstStyle/>
          <a:p>
            <a:pPr marL="0" indent="0">
              <a:buNone/>
            </a:pPr>
            <a:r>
              <a:rPr lang="en-US" sz="1600" b="1" dirty="0">
                <a:solidFill>
                  <a:srgbClr val="1B1B1B"/>
                </a:solidFill>
                <a:latin typeface="Calibri" panose="020F0502020204030204" pitchFamily="34" charset="0"/>
                <a:ea typeface="Calibri" panose="020F0502020204030204" pitchFamily="34" charset="-122"/>
                <a:cs typeface="Calibri" panose="020F0502020204030204" pitchFamily="34" charset="-120"/>
              </a:rPr>
              <a:t>Choix technologiques</a:t>
            </a:r>
            <a:endParaRPr lang="en-US" sz="1600" dirty="0"/>
          </a:p>
        </p:txBody>
      </p:sp>
      <p:sp>
        <p:nvSpPr>
          <p:cNvPr id="16" name="Shape 14"/>
          <p:cNvSpPr/>
          <p:nvPr/>
        </p:nvSpPr>
        <p:spPr>
          <a:xfrm>
            <a:off x="548640" y="3529584"/>
            <a:ext cx="5120640" cy="731520"/>
          </a:xfrm>
          <a:prstGeom prst="roundRect">
            <a:avLst>
              <a:gd name="adj" fmla="val 7500"/>
            </a:avLst>
          </a:prstGeom>
          <a:solidFill>
            <a:srgbClr val="F0F5F1"/>
          </a:solidFill>
        </p:spPr>
      </p:sp>
      <p:sp>
        <p:nvSpPr>
          <p:cNvPr id="17" name="Text 15"/>
          <p:cNvSpPr/>
          <p:nvPr/>
        </p:nvSpPr>
        <p:spPr>
          <a:xfrm>
            <a:off x="777240" y="3529584"/>
            <a:ext cx="822960" cy="731520"/>
          </a:xfrm>
          <a:prstGeom prst="rect">
            <a:avLst/>
          </a:prstGeom>
          <a:noFill/>
        </p:spPr>
        <p:txBody>
          <a:bodyPr wrap="square" lIns="0" tIns="0" rIns="0" bIns="0" rtlCol="0" anchor="ctr"/>
          <a:lstStyle/>
          <a:p>
            <a:pPr marL="0" indent="0">
              <a:buNone/>
            </a:pPr>
            <a:r>
              <a:rPr lang="en-US" sz="2400" b="1" dirty="0">
                <a:solidFill>
                  <a:srgbClr val="2E7D32"/>
                </a:solidFill>
                <a:latin typeface="Cambria" panose="02040503050406030204" pitchFamily="34" charset="0"/>
                <a:ea typeface="Cambria" panose="02040503050406030204" pitchFamily="34" charset="-122"/>
                <a:cs typeface="Cambria" panose="02040503050406030204" pitchFamily="34" charset="-120"/>
              </a:rPr>
              <a:t>05</a:t>
            </a:r>
            <a:endParaRPr lang="en-US" sz="2400" dirty="0"/>
          </a:p>
        </p:txBody>
      </p:sp>
      <p:sp>
        <p:nvSpPr>
          <p:cNvPr id="18" name="Text 16"/>
          <p:cNvSpPr/>
          <p:nvPr/>
        </p:nvSpPr>
        <p:spPr>
          <a:xfrm>
            <a:off x="1463040" y="3529584"/>
            <a:ext cx="4023360" cy="731520"/>
          </a:xfrm>
          <a:prstGeom prst="rect">
            <a:avLst/>
          </a:prstGeom>
          <a:noFill/>
        </p:spPr>
        <p:txBody>
          <a:bodyPr wrap="square" lIns="0" tIns="0" rIns="0" bIns="0" rtlCol="0" anchor="ctr"/>
          <a:lstStyle/>
          <a:p>
            <a:pPr marL="0" indent="0">
              <a:buNone/>
            </a:pPr>
            <a:r>
              <a:rPr lang="en-US" sz="1600" b="1" dirty="0">
                <a:solidFill>
                  <a:srgbClr val="1B1B1B"/>
                </a:solidFill>
                <a:latin typeface="Calibri" panose="020F0502020204030204" pitchFamily="34" charset="0"/>
                <a:ea typeface="Calibri" panose="020F0502020204030204" pitchFamily="34" charset="-122"/>
                <a:cs typeface="Calibri" panose="020F0502020204030204" pitchFamily="34" charset="-120"/>
              </a:rPr>
              <a:t>Environnement de développement</a:t>
            </a:r>
            <a:endParaRPr lang="en-US" sz="1600" dirty="0"/>
          </a:p>
        </p:txBody>
      </p:sp>
      <p:sp>
        <p:nvSpPr>
          <p:cNvPr id="19" name="Shape 17"/>
          <p:cNvSpPr/>
          <p:nvPr/>
        </p:nvSpPr>
        <p:spPr>
          <a:xfrm>
            <a:off x="6172200" y="3529584"/>
            <a:ext cx="5120640" cy="731520"/>
          </a:xfrm>
          <a:prstGeom prst="roundRect">
            <a:avLst>
              <a:gd name="adj" fmla="val 7500"/>
            </a:avLst>
          </a:prstGeom>
          <a:solidFill>
            <a:srgbClr val="F0F5F1"/>
          </a:solidFill>
        </p:spPr>
      </p:sp>
      <p:sp>
        <p:nvSpPr>
          <p:cNvPr id="20" name="Text 18"/>
          <p:cNvSpPr/>
          <p:nvPr/>
        </p:nvSpPr>
        <p:spPr>
          <a:xfrm>
            <a:off x="6400800" y="3529584"/>
            <a:ext cx="822960" cy="731520"/>
          </a:xfrm>
          <a:prstGeom prst="rect">
            <a:avLst/>
          </a:prstGeom>
          <a:noFill/>
        </p:spPr>
        <p:txBody>
          <a:bodyPr wrap="square" lIns="0" tIns="0" rIns="0" bIns="0" rtlCol="0" anchor="ctr"/>
          <a:lstStyle/>
          <a:p>
            <a:pPr marL="0" indent="0">
              <a:buNone/>
            </a:pPr>
            <a:r>
              <a:rPr lang="en-US" sz="2400" b="1" dirty="0">
                <a:solidFill>
                  <a:srgbClr val="2E7D32"/>
                </a:solidFill>
                <a:latin typeface="Cambria" panose="02040503050406030204" pitchFamily="34" charset="0"/>
                <a:ea typeface="Cambria" panose="02040503050406030204" pitchFamily="34" charset="-122"/>
                <a:cs typeface="Cambria" panose="02040503050406030204" pitchFamily="34" charset="-120"/>
              </a:rPr>
              <a:t>06</a:t>
            </a:r>
            <a:endParaRPr lang="en-US" sz="2400" dirty="0"/>
          </a:p>
        </p:txBody>
      </p:sp>
      <p:sp>
        <p:nvSpPr>
          <p:cNvPr id="21" name="Text 19"/>
          <p:cNvSpPr/>
          <p:nvPr/>
        </p:nvSpPr>
        <p:spPr>
          <a:xfrm>
            <a:off x="7086600" y="3529584"/>
            <a:ext cx="4023360" cy="731520"/>
          </a:xfrm>
          <a:prstGeom prst="rect">
            <a:avLst/>
          </a:prstGeom>
          <a:noFill/>
        </p:spPr>
        <p:txBody>
          <a:bodyPr wrap="square" lIns="0" tIns="0" rIns="0" bIns="0" rtlCol="0" anchor="ctr"/>
          <a:lstStyle/>
          <a:p>
            <a:pPr marL="0" indent="0">
              <a:buNone/>
            </a:pPr>
            <a:r>
              <a:rPr lang="en-US" sz="1600" b="1" dirty="0">
                <a:solidFill>
                  <a:srgbClr val="1B1B1B"/>
                </a:solidFill>
                <a:latin typeface="Calibri" panose="020F0502020204030204" pitchFamily="34" charset="0"/>
                <a:ea typeface="Calibri" panose="020F0502020204030204" pitchFamily="34" charset="-122"/>
                <a:cs typeface="Calibri" panose="020F0502020204030204" pitchFamily="34" charset="-120"/>
              </a:rPr>
              <a:t>Implémentation technique</a:t>
            </a:r>
            <a:endParaRPr lang="en-US" sz="1600" dirty="0"/>
          </a:p>
        </p:txBody>
      </p:sp>
      <p:sp>
        <p:nvSpPr>
          <p:cNvPr id="22" name="Shape 20"/>
          <p:cNvSpPr/>
          <p:nvPr/>
        </p:nvSpPr>
        <p:spPr>
          <a:xfrm>
            <a:off x="548640" y="4425696"/>
            <a:ext cx="5120640" cy="731520"/>
          </a:xfrm>
          <a:prstGeom prst="roundRect">
            <a:avLst>
              <a:gd name="adj" fmla="val 7500"/>
            </a:avLst>
          </a:prstGeom>
          <a:solidFill>
            <a:srgbClr val="F0F5F1"/>
          </a:solidFill>
        </p:spPr>
      </p:sp>
      <p:sp>
        <p:nvSpPr>
          <p:cNvPr id="23" name="Text 21"/>
          <p:cNvSpPr/>
          <p:nvPr/>
        </p:nvSpPr>
        <p:spPr>
          <a:xfrm>
            <a:off x="777240" y="4425696"/>
            <a:ext cx="822960" cy="731520"/>
          </a:xfrm>
          <a:prstGeom prst="rect">
            <a:avLst/>
          </a:prstGeom>
          <a:noFill/>
        </p:spPr>
        <p:txBody>
          <a:bodyPr wrap="square" lIns="0" tIns="0" rIns="0" bIns="0" rtlCol="0" anchor="ctr"/>
          <a:lstStyle/>
          <a:p>
            <a:pPr marL="0" indent="0">
              <a:buNone/>
            </a:pPr>
            <a:r>
              <a:rPr lang="en-US" sz="2400" b="1" dirty="0">
                <a:solidFill>
                  <a:srgbClr val="2E7D32"/>
                </a:solidFill>
                <a:latin typeface="Cambria" panose="02040503050406030204" pitchFamily="34" charset="0"/>
                <a:ea typeface="Cambria" panose="02040503050406030204" pitchFamily="34" charset="-122"/>
                <a:cs typeface="Cambria" panose="02040503050406030204" pitchFamily="34" charset="-120"/>
              </a:rPr>
              <a:t>07</a:t>
            </a:r>
            <a:endParaRPr lang="en-US" sz="2400" dirty="0"/>
          </a:p>
        </p:txBody>
      </p:sp>
      <p:sp>
        <p:nvSpPr>
          <p:cNvPr id="24" name="Text 22"/>
          <p:cNvSpPr/>
          <p:nvPr/>
        </p:nvSpPr>
        <p:spPr>
          <a:xfrm>
            <a:off x="1463040" y="4425696"/>
            <a:ext cx="4023360" cy="731520"/>
          </a:xfrm>
          <a:prstGeom prst="rect">
            <a:avLst/>
          </a:prstGeom>
          <a:noFill/>
        </p:spPr>
        <p:txBody>
          <a:bodyPr wrap="square" lIns="0" tIns="0" rIns="0" bIns="0" rtlCol="0" anchor="ctr"/>
          <a:lstStyle/>
          <a:p>
            <a:pPr marL="0" indent="0">
              <a:buNone/>
            </a:pPr>
            <a:r>
              <a:rPr lang="en-US" sz="1600" b="1" dirty="0">
                <a:solidFill>
                  <a:srgbClr val="1B1B1B"/>
                </a:solidFill>
                <a:latin typeface="Calibri" panose="020F0502020204030204" pitchFamily="34" charset="0"/>
                <a:ea typeface="Calibri" panose="020F0502020204030204" pitchFamily="34" charset="-122"/>
                <a:cs typeface="Calibri" panose="020F0502020204030204" pitchFamily="34" charset="-120"/>
              </a:rPr>
              <a:t>Scénarios d'attaque &amp; détection</a:t>
            </a:r>
            <a:endParaRPr lang="en-US" sz="1600" dirty="0"/>
          </a:p>
        </p:txBody>
      </p:sp>
      <p:sp>
        <p:nvSpPr>
          <p:cNvPr id="25" name="Shape 23"/>
          <p:cNvSpPr/>
          <p:nvPr/>
        </p:nvSpPr>
        <p:spPr>
          <a:xfrm>
            <a:off x="6172200" y="4425696"/>
            <a:ext cx="5120640" cy="731520"/>
          </a:xfrm>
          <a:prstGeom prst="roundRect">
            <a:avLst>
              <a:gd name="adj" fmla="val 7500"/>
            </a:avLst>
          </a:prstGeom>
          <a:solidFill>
            <a:srgbClr val="F0F5F1"/>
          </a:solidFill>
        </p:spPr>
      </p:sp>
      <p:sp>
        <p:nvSpPr>
          <p:cNvPr id="26" name="Text 24"/>
          <p:cNvSpPr/>
          <p:nvPr/>
        </p:nvSpPr>
        <p:spPr>
          <a:xfrm>
            <a:off x="6400800" y="4425696"/>
            <a:ext cx="822960" cy="731520"/>
          </a:xfrm>
          <a:prstGeom prst="rect">
            <a:avLst/>
          </a:prstGeom>
          <a:noFill/>
        </p:spPr>
        <p:txBody>
          <a:bodyPr wrap="square" lIns="0" tIns="0" rIns="0" bIns="0" rtlCol="0" anchor="ctr"/>
          <a:lstStyle/>
          <a:p>
            <a:pPr marL="0" indent="0">
              <a:buNone/>
            </a:pPr>
            <a:r>
              <a:rPr lang="en-US" sz="2400" b="1" dirty="0">
                <a:solidFill>
                  <a:srgbClr val="2E7D32"/>
                </a:solidFill>
                <a:latin typeface="Cambria" panose="02040503050406030204" pitchFamily="34" charset="0"/>
                <a:ea typeface="Cambria" panose="02040503050406030204" pitchFamily="34" charset="-122"/>
                <a:cs typeface="Cambria" panose="02040503050406030204" pitchFamily="34" charset="-120"/>
              </a:rPr>
              <a:t>08</a:t>
            </a:r>
            <a:endParaRPr lang="en-US" sz="2400" dirty="0"/>
          </a:p>
        </p:txBody>
      </p:sp>
      <p:sp>
        <p:nvSpPr>
          <p:cNvPr id="27" name="Text 25"/>
          <p:cNvSpPr/>
          <p:nvPr/>
        </p:nvSpPr>
        <p:spPr>
          <a:xfrm>
            <a:off x="7086600" y="4425696"/>
            <a:ext cx="4023360" cy="731520"/>
          </a:xfrm>
          <a:prstGeom prst="rect">
            <a:avLst/>
          </a:prstGeom>
          <a:noFill/>
        </p:spPr>
        <p:txBody>
          <a:bodyPr wrap="square" lIns="0" tIns="0" rIns="0" bIns="0" rtlCol="0" anchor="ctr"/>
          <a:lstStyle/>
          <a:p>
            <a:pPr marL="0" indent="0">
              <a:buNone/>
            </a:pPr>
            <a:r>
              <a:rPr lang="en-US" sz="1600" b="1" dirty="0">
                <a:solidFill>
                  <a:srgbClr val="1B1B1B"/>
                </a:solidFill>
                <a:latin typeface="Calibri" panose="020F0502020204030204" pitchFamily="34" charset="0"/>
                <a:ea typeface="Calibri" panose="020F0502020204030204" pitchFamily="34" charset="-122"/>
                <a:cs typeface="Calibri" panose="020F0502020204030204" pitchFamily="34" charset="-120"/>
              </a:rPr>
              <a:t>Conclusion &amp; perspectives</a:t>
            </a:r>
            <a:endParaRPr lang="en-US" sz="1600" dirty="0"/>
          </a:p>
        </p:txBody>
      </p:sp>
      <p:sp>
        <p:nvSpPr>
          <p:cNvPr id="28" name="Text 26"/>
          <p:cNvSpPr/>
          <p:nvPr/>
        </p:nvSpPr>
        <p:spPr>
          <a:xfrm>
            <a:off x="11521440" y="6446520"/>
            <a:ext cx="548640" cy="320040"/>
          </a:xfrm>
          <a:prstGeom prst="rect">
            <a:avLst/>
          </a:prstGeom>
          <a:noFill/>
        </p:spPr>
        <p:txBody>
          <a:bodyPr wrap="square" lIns="0" tIns="0" rIns="0" bIns="0" rtlCol="0" anchor="ctr"/>
          <a:lstStyle/>
          <a:p>
            <a:pPr marL="0" indent="0" algn="r">
              <a:buNone/>
            </a:pPr>
            <a:r>
              <a:rPr lang="en-US" sz="1100" dirty="0">
                <a:solidFill>
                  <a:srgbClr val="B7C2BC"/>
                </a:solidFill>
                <a:latin typeface="Calibri" panose="020F0502020204030204" pitchFamily="34" charset="0"/>
                <a:ea typeface="Calibri" panose="020F0502020204030204" pitchFamily="34" charset="-122"/>
                <a:cs typeface="Calibri" panose="020F0502020204030204" pitchFamily="34" charset="-120"/>
              </a:rPr>
              <a:t>02</a:t>
            </a:r>
            <a:endParaRPr lang="en-US" sz="11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65760"/>
            <a:ext cx="7315200" cy="365760"/>
          </a:xfrm>
          <a:prstGeom prst="rect">
            <a:avLst/>
          </a:prstGeom>
          <a:noFill/>
        </p:spPr>
        <p:txBody>
          <a:bodyPr wrap="square" lIns="0" tIns="0" rIns="0" bIns="0" rtlCol="0" anchor="ctr"/>
          <a:lstStyle/>
          <a:p>
            <a:pPr marL="0" indent="0">
              <a:buNone/>
            </a:pPr>
            <a:r>
              <a:rPr lang="en-US" sz="1200" b="1" kern="0" spc="200" dirty="0">
                <a:solidFill>
                  <a:srgbClr val="2E7D32"/>
                </a:solidFill>
                <a:latin typeface="Calibri" panose="020F0502020204030204" pitchFamily="34" charset="0"/>
                <a:ea typeface="Calibri" panose="020F0502020204030204" pitchFamily="34" charset="-122"/>
                <a:cs typeface="Calibri" panose="020F0502020204030204" pitchFamily="34" charset="-120"/>
              </a:rPr>
              <a:t>01 — INTRODUCTION</a:t>
            </a:r>
            <a:endParaRPr lang="en-US" sz="1200" dirty="0"/>
          </a:p>
        </p:txBody>
      </p:sp>
      <p:sp>
        <p:nvSpPr>
          <p:cNvPr id="3" name="Text 1"/>
          <p:cNvSpPr/>
          <p:nvPr/>
        </p:nvSpPr>
        <p:spPr>
          <a:xfrm>
            <a:off x="548640" y="685800"/>
            <a:ext cx="10515600" cy="731520"/>
          </a:xfrm>
          <a:prstGeom prst="rect">
            <a:avLst/>
          </a:prstGeom>
          <a:noFill/>
        </p:spPr>
        <p:txBody>
          <a:bodyPr wrap="square" lIns="0" tIns="0" rIns="0" bIns="0" rtlCol="0" anchor="ctr"/>
          <a:lstStyle/>
          <a:p>
            <a:pPr marL="0" indent="0">
              <a:buNone/>
            </a:pPr>
            <a:r>
              <a:rPr lang="en-US" sz="3000" b="1" dirty="0">
                <a:solidFill>
                  <a:srgbClr val="1B1B1B"/>
                </a:solidFill>
                <a:latin typeface="Cambria" panose="02040503050406030204" pitchFamily="34" charset="0"/>
                <a:ea typeface="Cambria" panose="02040503050406030204" pitchFamily="34" charset="-122"/>
                <a:cs typeface="Cambria" panose="02040503050406030204" pitchFamily="34" charset="-120"/>
              </a:rPr>
              <a:t>Objectifs du projet</a:t>
            </a:r>
            <a:endParaRPr lang="en-US" sz="3000" dirty="0"/>
          </a:p>
        </p:txBody>
      </p:sp>
      <p:sp>
        <p:nvSpPr>
          <p:cNvPr id="4" name="Text 2"/>
          <p:cNvSpPr/>
          <p:nvPr/>
        </p:nvSpPr>
        <p:spPr>
          <a:xfrm>
            <a:off x="548640" y="1600200"/>
            <a:ext cx="5669280" cy="1554480"/>
          </a:xfrm>
          <a:prstGeom prst="rect">
            <a:avLst/>
          </a:prstGeom>
          <a:noFill/>
        </p:spPr>
        <p:txBody>
          <a:bodyPr wrap="square" lIns="0" tIns="0" rIns="0" bIns="0" rtlCol="0" anchor="ctr"/>
          <a:lstStyle/>
          <a:p>
            <a:pPr marL="0" indent="0">
              <a:lnSpc>
                <a:spcPct val="125000"/>
              </a:lnSpc>
              <a:buNone/>
            </a:pPr>
            <a:r>
              <a:rPr lang="en-US" sz="1450" dirty="0">
                <a:solidFill>
                  <a:srgbClr val="5F5F5F"/>
                </a:solidFill>
                <a:latin typeface="Calibri" panose="020F0502020204030204" pitchFamily="34" charset="0"/>
                <a:ea typeface="Calibri" panose="020F0502020204030204" pitchFamily="34" charset="-122"/>
                <a:cs typeface="Calibri" panose="020F0502020204030204" pitchFamily="34" charset="-120"/>
              </a:rPr>
              <a:t>Concevoir, développer et déployer un système HIPS (Host Intrusion Prevention System) sous Linux, capable de surveiller en continu l'activité d'une machine, de détecter des comportements suspects et de réagir automatiquement, avec une interface web de supervision.</a:t>
            </a:r>
            <a:endParaRPr lang="en-US" sz="1450" dirty="0"/>
          </a:p>
        </p:txBody>
      </p:sp>
      <p:sp>
        <p:nvSpPr>
          <p:cNvPr id="5" name="Shape 3"/>
          <p:cNvSpPr/>
          <p:nvPr/>
        </p:nvSpPr>
        <p:spPr>
          <a:xfrm>
            <a:off x="548640" y="3383280"/>
            <a:ext cx="502920" cy="502920"/>
          </a:xfrm>
          <a:prstGeom prst="ellipse">
            <a:avLst/>
          </a:prstGeom>
          <a:solidFill>
            <a:srgbClr val="2E7D32"/>
          </a:solidFill>
        </p:spPr>
      </p:sp>
      <p:sp>
        <p:nvSpPr>
          <p:cNvPr id="6" name="Text 4"/>
          <p:cNvSpPr/>
          <p:nvPr/>
        </p:nvSpPr>
        <p:spPr>
          <a:xfrm>
            <a:off x="548640" y="3383280"/>
            <a:ext cx="502920" cy="502920"/>
          </a:xfrm>
          <a:prstGeom prst="rect">
            <a:avLst/>
          </a:prstGeom>
          <a:noFill/>
        </p:spPr>
        <p:txBody>
          <a:bodyPr wrap="square" lIns="0" tIns="0" rIns="0" bIns="0" rtlCol="0" anchor="ctr"/>
          <a:lstStyle/>
          <a:p>
            <a:pPr marL="0" indent="0" algn="ctr">
              <a:buNone/>
            </a:pPr>
            <a:r>
              <a:rPr lang="en-US" sz="1600" b="1" dirty="0">
                <a:solidFill>
                  <a:srgbClr val="FFFFFF"/>
                </a:solidFill>
                <a:latin typeface="Calibri" panose="020F0502020204030204" pitchFamily="34" charset="0"/>
                <a:ea typeface="Calibri" panose="020F0502020204030204" pitchFamily="34" charset="-122"/>
                <a:cs typeface="Calibri" panose="020F0502020204030204" pitchFamily="34" charset="-120"/>
              </a:rPr>
              <a:t>🔍</a:t>
            </a:r>
            <a:endParaRPr lang="en-US" sz="1600" dirty="0"/>
          </a:p>
        </p:txBody>
      </p:sp>
      <p:sp>
        <p:nvSpPr>
          <p:cNvPr id="7" name="Text 5"/>
          <p:cNvSpPr/>
          <p:nvPr/>
        </p:nvSpPr>
        <p:spPr>
          <a:xfrm>
            <a:off x="1234440" y="3337560"/>
            <a:ext cx="4937760" cy="365760"/>
          </a:xfrm>
          <a:prstGeom prst="rect">
            <a:avLst/>
          </a:prstGeom>
          <a:noFill/>
        </p:spPr>
        <p:txBody>
          <a:bodyPr wrap="square" lIns="0" tIns="0" rIns="0" bIns="0" rtlCol="0" anchor="ctr"/>
          <a:lstStyle/>
          <a:p>
            <a:pPr marL="0" indent="0">
              <a:buNone/>
            </a:pPr>
            <a:r>
              <a:rPr lang="en-US" sz="1500" b="1" dirty="0">
                <a:solidFill>
                  <a:srgbClr val="1B1B1B"/>
                </a:solidFill>
                <a:latin typeface="Calibri" panose="020F0502020204030204" pitchFamily="34" charset="0"/>
                <a:ea typeface="Calibri" panose="020F0502020204030204" pitchFamily="34" charset="-122"/>
                <a:cs typeface="Calibri" panose="020F0502020204030204" pitchFamily="34" charset="-120"/>
              </a:rPr>
              <a:t>Détecter</a:t>
            </a:r>
            <a:endParaRPr lang="en-US" sz="1500" dirty="0"/>
          </a:p>
        </p:txBody>
      </p:sp>
      <p:sp>
        <p:nvSpPr>
          <p:cNvPr id="8" name="Text 6"/>
          <p:cNvSpPr/>
          <p:nvPr/>
        </p:nvSpPr>
        <p:spPr>
          <a:xfrm>
            <a:off x="1234440" y="3675888"/>
            <a:ext cx="5029200" cy="502920"/>
          </a:xfrm>
          <a:prstGeom prst="rect">
            <a:avLst/>
          </a:prstGeom>
          <a:noFill/>
        </p:spPr>
        <p:txBody>
          <a:bodyPr wrap="square" lIns="0" tIns="0" rIns="0" bIns="0" rtlCol="0" anchor="ctr"/>
          <a:lstStyle/>
          <a:p>
            <a:pPr marL="0" indent="0">
              <a:buNone/>
            </a:pPr>
            <a:r>
              <a:rPr lang="en-US" sz="1150" dirty="0">
                <a:solidFill>
                  <a:srgbClr val="5F5F5F"/>
                </a:solidFill>
                <a:latin typeface="Calibri" panose="020F0502020204030204" pitchFamily="34" charset="0"/>
                <a:ea typeface="Calibri" panose="020F0502020204030204" pitchFamily="34" charset="-122"/>
                <a:cs typeface="Calibri" panose="020F0502020204030204" pitchFamily="34" charset="-120"/>
              </a:rPr>
              <a:t>Fichiers sensibles, exécutions suspectes, brute force SSH, malware simple</a:t>
            </a:r>
            <a:endParaRPr lang="en-US" sz="1150" dirty="0"/>
          </a:p>
        </p:txBody>
      </p:sp>
      <p:sp>
        <p:nvSpPr>
          <p:cNvPr id="9" name="Shape 7"/>
          <p:cNvSpPr/>
          <p:nvPr/>
        </p:nvSpPr>
        <p:spPr>
          <a:xfrm>
            <a:off x="548640" y="4315968"/>
            <a:ext cx="502920" cy="502920"/>
          </a:xfrm>
          <a:prstGeom prst="ellipse">
            <a:avLst/>
          </a:prstGeom>
          <a:solidFill>
            <a:srgbClr val="2E7D32"/>
          </a:solidFill>
        </p:spPr>
      </p:sp>
      <p:sp>
        <p:nvSpPr>
          <p:cNvPr id="10" name="Text 8"/>
          <p:cNvSpPr/>
          <p:nvPr/>
        </p:nvSpPr>
        <p:spPr>
          <a:xfrm>
            <a:off x="548640" y="4315968"/>
            <a:ext cx="502920" cy="502920"/>
          </a:xfrm>
          <a:prstGeom prst="rect">
            <a:avLst/>
          </a:prstGeom>
          <a:noFill/>
        </p:spPr>
        <p:txBody>
          <a:bodyPr wrap="square" lIns="0" tIns="0" rIns="0" bIns="0" rtlCol="0" anchor="ctr"/>
          <a:lstStyle/>
          <a:p>
            <a:pPr marL="0" indent="0" algn="ctr">
              <a:buNone/>
            </a:pPr>
            <a:r>
              <a:rPr lang="en-US" sz="1600" b="1" dirty="0">
                <a:solidFill>
                  <a:srgbClr val="FFFFFF"/>
                </a:solidFill>
                <a:latin typeface="Calibri" panose="020F0502020204030204" pitchFamily="34" charset="0"/>
                <a:ea typeface="Calibri" panose="020F0502020204030204" pitchFamily="34" charset="-122"/>
                <a:cs typeface="Calibri" panose="020F0502020204030204" pitchFamily="34" charset="-120"/>
              </a:rPr>
              <a:t>⚡</a:t>
            </a:r>
            <a:endParaRPr lang="en-US" sz="1600" dirty="0"/>
          </a:p>
        </p:txBody>
      </p:sp>
      <p:sp>
        <p:nvSpPr>
          <p:cNvPr id="11" name="Text 9"/>
          <p:cNvSpPr/>
          <p:nvPr/>
        </p:nvSpPr>
        <p:spPr>
          <a:xfrm>
            <a:off x="1234440" y="4270248"/>
            <a:ext cx="4937760" cy="365760"/>
          </a:xfrm>
          <a:prstGeom prst="rect">
            <a:avLst/>
          </a:prstGeom>
          <a:noFill/>
        </p:spPr>
        <p:txBody>
          <a:bodyPr wrap="square" lIns="0" tIns="0" rIns="0" bIns="0" rtlCol="0" anchor="ctr"/>
          <a:lstStyle/>
          <a:p>
            <a:pPr marL="0" indent="0">
              <a:buNone/>
            </a:pPr>
            <a:r>
              <a:rPr lang="en-US" sz="1500" b="1" dirty="0">
                <a:solidFill>
                  <a:srgbClr val="1B1B1B"/>
                </a:solidFill>
                <a:latin typeface="Calibri" panose="020F0502020204030204" pitchFamily="34" charset="0"/>
                <a:ea typeface="Calibri" panose="020F0502020204030204" pitchFamily="34" charset="-122"/>
                <a:cs typeface="Calibri" panose="020F0502020204030204" pitchFamily="34" charset="-120"/>
              </a:rPr>
              <a:t>Réagir</a:t>
            </a:r>
            <a:endParaRPr lang="en-US" sz="1500" dirty="0"/>
          </a:p>
        </p:txBody>
      </p:sp>
      <p:sp>
        <p:nvSpPr>
          <p:cNvPr id="12" name="Text 10"/>
          <p:cNvSpPr/>
          <p:nvPr/>
        </p:nvSpPr>
        <p:spPr>
          <a:xfrm>
            <a:off x="1234440" y="4608576"/>
            <a:ext cx="5029200" cy="502920"/>
          </a:xfrm>
          <a:prstGeom prst="rect">
            <a:avLst/>
          </a:prstGeom>
          <a:noFill/>
        </p:spPr>
        <p:txBody>
          <a:bodyPr wrap="square" lIns="0" tIns="0" rIns="0" bIns="0" rtlCol="0" anchor="ctr"/>
          <a:lstStyle/>
          <a:p>
            <a:pPr marL="0" indent="0">
              <a:buNone/>
            </a:pPr>
            <a:r>
              <a:rPr lang="en-US" sz="1150" dirty="0">
                <a:solidFill>
                  <a:srgbClr val="5F5F5F"/>
                </a:solidFill>
                <a:latin typeface="Calibri" panose="020F0502020204030204" pitchFamily="34" charset="0"/>
                <a:ea typeface="Calibri" panose="020F0502020204030204" pitchFamily="34" charset="-122"/>
                <a:cs typeface="Calibri" panose="020F0502020204030204" pitchFamily="34" charset="-120"/>
              </a:rPr>
              <a:t>Blocage IP réseau réel et arrêt automatique des processus incriminés</a:t>
            </a:r>
            <a:endParaRPr lang="en-US" sz="1150" dirty="0"/>
          </a:p>
        </p:txBody>
      </p:sp>
      <p:sp>
        <p:nvSpPr>
          <p:cNvPr id="13" name="Shape 11"/>
          <p:cNvSpPr/>
          <p:nvPr/>
        </p:nvSpPr>
        <p:spPr>
          <a:xfrm>
            <a:off x="548640" y="5248656"/>
            <a:ext cx="502920" cy="502920"/>
          </a:xfrm>
          <a:prstGeom prst="ellipse">
            <a:avLst/>
          </a:prstGeom>
          <a:solidFill>
            <a:srgbClr val="2E7D32"/>
          </a:solidFill>
        </p:spPr>
      </p:sp>
      <p:sp>
        <p:nvSpPr>
          <p:cNvPr id="14" name="Text 12"/>
          <p:cNvSpPr/>
          <p:nvPr/>
        </p:nvSpPr>
        <p:spPr>
          <a:xfrm>
            <a:off x="548640" y="5248656"/>
            <a:ext cx="502920" cy="502920"/>
          </a:xfrm>
          <a:prstGeom prst="rect">
            <a:avLst/>
          </a:prstGeom>
          <a:noFill/>
        </p:spPr>
        <p:txBody>
          <a:bodyPr wrap="square" lIns="0" tIns="0" rIns="0" bIns="0" rtlCol="0" anchor="ctr"/>
          <a:lstStyle/>
          <a:p>
            <a:pPr marL="0" indent="0" algn="ctr">
              <a:buNone/>
            </a:pPr>
            <a:r>
              <a:rPr lang="en-US" sz="1600" b="1" dirty="0">
                <a:solidFill>
                  <a:srgbClr val="FFFFFF"/>
                </a:solidFill>
                <a:latin typeface="Calibri" panose="020F0502020204030204" pitchFamily="34" charset="0"/>
                <a:ea typeface="Calibri" panose="020F0502020204030204" pitchFamily="34" charset="-122"/>
                <a:cs typeface="Calibri" panose="020F0502020204030204" pitchFamily="34" charset="-120"/>
              </a:rPr>
              <a:t>📊</a:t>
            </a:r>
            <a:endParaRPr lang="en-US" sz="1600" dirty="0"/>
          </a:p>
        </p:txBody>
      </p:sp>
      <p:sp>
        <p:nvSpPr>
          <p:cNvPr id="15" name="Text 13"/>
          <p:cNvSpPr/>
          <p:nvPr/>
        </p:nvSpPr>
        <p:spPr>
          <a:xfrm>
            <a:off x="1234440" y="5202936"/>
            <a:ext cx="4937760" cy="365760"/>
          </a:xfrm>
          <a:prstGeom prst="rect">
            <a:avLst/>
          </a:prstGeom>
          <a:noFill/>
        </p:spPr>
        <p:txBody>
          <a:bodyPr wrap="square" lIns="0" tIns="0" rIns="0" bIns="0" rtlCol="0" anchor="ctr"/>
          <a:lstStyle/>
          <a:p>
            <a:pPr marL="0" indent="0">
              <a:buNone/>
            </a:pPr>
            <a:r>
              <a:rPr lang="en-US" sz="1500" b="1" dirty="0">
                <a:solidFill>
                  <a:srgbClr val="1B1B1B"/>
                </a:solidFill>
                <a:latin typeface="Calibri" panose="020F0502020204030204" pitchFamily="34" charset="0"/>
                <a:ea typeface="Calibri" panose="020F0502020204030204" pitchFamily="34" charset="-122"/>
                <a:cs typeface="Calibri" panose="020F0502020204030204" pitchFamily="34" charset="-120"/>
              </a:rPr>
              <a:t>Superviser</a:t>
            </a:r>
            <a:endParaRPr lang="en-US" sz="1500" dirty="0"/>
          </a:p>
        </p:txBody>
      </p:sp>
      <p:sp>
        <p:nvSpPr>
          <p:cNvPr id="16" name="Text 14"/>
          <p:cNvSpPr/>
          <p:nvPr/>
        </p:nvSpPr>
        <p:spPr>
          <a:xfrm>
            <a:off x="1234440" y="5541264"/>
            <a:ext cx="5029200" cy="502920"/>
          </a:xfrm>
          <a:prstGeom prst="rect">
            <a:avLst/>
          </a:prstGeom>
          <a:noFill/>
        </p:spPr>
        <p:txBody>
          <a:bodyPr wrap="square" lIns="0" tIns="0" rIns="0" bIns="0" rtlCol="0" anchor="ctr"/>
          <a:lstStyle/>
          <a:p>
            <a:pPr marL="0" indent="0">
              <a:buNone/>
            </a:pPr>
            <a:r>
              <a:rPr lang="en-US" sz="1150" dirty="0">
                <a:solidFill>
                  <a:srgbClr val="5F5F5F"/>
                </a:solidFill>
                <a:latin typeface="Calibri" panose="020F0502020204030204" pitchFamily="34" charset="0"/>
                <a:ea typeface="Calibri" panose="020F0502020204030204" pitchFamily="34" charset="-122"/>
                <a:cs typeface="Calibri" panose="020F0502020204030204" pitchFamily="34" charset="-120"/>
              </a:rPr>
              <a:t>Tableau de bord web pour consulter les alertes en temps réel et l'historique</a:t>
            </a:r>
            <a:endParaRPr lang="en-US" sz="1150" dirty="0"/>
          </a:p>
        </p:txBody>
      </p:sp>
      <p:sp>
        <p:nvSpPr>
          <p:cNvPr id="17" name="Shape 15"/>
          <p:cNvSpPr/>
          <p:nvPr/>
        </p:nvSpPr>
        <p:spPr>
          <a:xfrm>
            <a:off x="6675120" y="1600200"/>
            <a:ext cx="4937760" cy="4434840"/>
          </a:xfrm>
          <a:prstGeom prst="roundRect">
            <a:avLst>
              <a:gd name="adj" fmla="val 1649"/>
            </a:avLst>
          </a:prstGeom>
          <a:solidFill>
            <a:srgbClr val="0D1B12"/>
          </a:solidFill>
        </p:spPr>
      </p:sp>
      <p:sp>
        <p:nvSpPr>
          <p:cNvPr id="18" name="Text 16"/>
          <p:cNvSpPr/>
          <p:nvPr/>
        </p:nvSpPr>
        <p:spPr>
          <a:xfrm>
            <a:off x="7040880" y="1874520"/>
            <a:ext cx="4206240" cy="365760"/>
          </a:xfrm>
          <a:prstGeom prst="rect">
            <a:avLst/>
          </a:prstGeom>
          <a:noFill/>
        </p:spPr>
        <p:txBody>
          <a:bodyPr wrap="square" lIns="0" tIns="0" rIns="0" bIns="0" rtlCol="0" anchor="ctr"/>
          <a:lstStyle/>
          <a:p>
            <a:pPr marL="0" indent="0">
              <a:buNone/>
            </a:pPr>
            <a:r>
              <a:rPr lang="en-US" sz="1200" b="1" kern="0" spc="200" dirty="0">
                <a:solidFill>
                  <a:srgbClr val="4CAF50"/>
                </a:solidFill>
                <a:latin typeface="Calibri" panose="020F0502020204030204" pitchFamily="34" charset="0"/>
                <a:ea typeface="Calibri" panose="020F0502020204030204" pitchFamily="34" charset="-122"/>
                <a:cs typeface="Calibri" panose="020F0502020204030204" pitchFamily="34" charset="-120"/>
              </a:rPr>
              <a:t>PÉRIMÈTRE DU SUJET</a:t>
            </a:r>
            <a:endParaRPr lang="en-US" sz="1200" dirty="0"/>
          </a:p>
        </p:txBody>
      </p:sp>
      <p:sp>
        <p:nvSpPr>
          <p:cNvPr id="19" name="Text 17"/>
          <p:cNvSpPr/>
          <p:nvPr/>
        </p:nvSpPr>
        <p:spPr>
          <a:xfrm>
            <a:off x="7040880" y="2377440"/>
            <a:ext cx="4297680" cy="3474720"/>
          </a:xfrm>
          <a:prstGeom prst="rect">
            <a:avLst/>
          </a:prstGeom>
          <a:noFill/>
        </p:spPr>
        <p:txBody>
          <a:bodyPr wrap="square" lIns="0" tIns="0" rIns="0" bIns="0" rtlCol="0" anchor="ctr"/>
          <a:lstStyle/>
          <a:p>
            <a:pPr marL="177800" indent="-177800">
              <a:lnSpc>
                <a:spcPct val="115000"/>
              </a:lnSpc>
              <a:spcAft>
                <a:spcPts val="1200"/>
              </a:spcAft>
              <a:buSzPct val="100000"/>
              <a:buChar char="•"/>
            </a:pPr>
            <a:r>
              <a:rPr lang="en-US" sz="1300" dirty="0">
                <a:solidFill>
                  <a:srgbClr val="F5F7F5"/>
                </a:solidFill>
                <a:latin typeface="Calibri" panose="020F0502020204030204" pitchFamily="34" charset="0"/>
                <a:ea typeface="Calibri" panose="020F0502020204030204" pitchFamily="34" charset="-122"/>
                <a:cs typeface="Calibri" panose="020F0502020204030204" pitchFamily="34" charset="-120"/>
              </a:rPr>
              <a:t>Collecte de logs (syslog, auditd)</a:t>
            </a:r>
            <a:endParaRPr lang="en-US" sz="1300" dirty="0"/>
          </a:p>
          <a:p>
            <a:pPr marL="177800" indent="-177800">
              <a:lnSpc>
                <a:spcPct val="115000"/>
              </a:lnSpc>
              <a:spcAft>
                <a:spcPts val="1200"/>
              </a:spcAft>
              <a:buSzPct val="100000"/>
              <a:buChar char="•"/>
            </a:pPr>
            <a:r>
              <a:rPr lang="en-US" sz="1300" dirty="0">
                <a:solidFill>
                  <a:srgbClr val="F5F7F5"/>
                </a:solidFill>
                <a:latin typeface="Calibri" panose="020F0502020204030204" pitchFamily="34" charset="0"/>
                <a:ea typeface="Calibri" panose="020F0502020204030204" pitchFamily="34" charset="-122"/>
                <a:cs typeface="Calibri" panose="020F0502020204030204" pitchFamily="34" charset="-120"/>
              </a:rPr>
              <a:t>Détection : brute force, accès fichiers, exécution suspecte</a:t>
            </a:r>
            <a:endParaRPr lang="en-US" sz="1300" dirty="0"/>
          </a:p>
          <a:p>
            <a:pPr marL="177800" indent="-177800">
              <a:lnSpc>
                <a:spcPct val="115000"/>
              </a:lnSpc>
              <a:spcAft>
                <a:spcPts val="1200"/>
              </a:spcAft>
              <a:buSzPct val="100000"/>
              <a:buChar char="•"/>
            </a:pPr>
            <a:r>
              <a:rPr lang="en-US" sz="1300" dirty="0">
                <a:solidFill>
                  <a:srgbClr val="F5F7F5"/>
                </a:solidFill>
                <a:latin typeface="Calibri" panose="020F0502020204030204" pitchFamily="34" charset="0"/>
                <a:ea typeface="Calibri" panose="020F0502020204030204" pitchFamily="34" charset="-122"/>
                <a:cs typeface="Calibri" panose="020F0502020204030204" pitchFamily="34" charset="-120"/>
              </a:rPr>
              <a:t>Dashboard web : alertes + historique</a:t>
            </a:r>
            <a:endParaRPr lang="en-US" sz="1300" dirty="0"/>
          </a:p>
          <a:p>
            <a:pPr marL="177800" indent="-177800">
              <a:lnSpc>
                <a:spcPct val="115000"/>
              </a:lnSpc>
              <a:spcAft>
                <a:spcPts val="1200"/>
              </a:spcAft>
              <a:buSzPct val="100000"/>
              <a:buChar char="•"/>
            </a:pPr>
            <a:r>
              <a:rPr lang="en-US" sz="1300" dirty="0">
                <a:solidFill>
                  <a:srgbClr val="F5F7F5"/>
                </a:solidFill>
                <a:latin typeface="Calibri" panose="020F0502020204030204" pitchFamily="34" charset="0"/>
                <a:ea typeface="Calibri" panose="020F0502020204030204" pitchFamily="34" charset="-122"/>
                <a:cs typeface="Calibri" panose="020F0502020204030204" pitchFamily="34" charset="-120"/>
              </a:rPr>
              <a:t>Actions automatiques : blocage IP, kill process</a:t>
            </a:r>
            <a:endParaRPr lang="en-US" sz="1300" dirty="0"/>
          </a:p>
          <a:p>
            <a:pPr marL="177800" indent="-177800">
              <a:lnSpc>
                <a:spcPct val="115000"/>
              </a:lnSpc>
              <a:spcAft>
                <a:spcPts val="1200"/>
              </a:spcAft>
              <a:buSzPct val="100000"/>
              <a:buChar char="•"/>
            </a:pPr>
            <a:r>
              <a:rPr lang="en-US" sz="1300" dirty="0">
                <a:solidFill>
                  <a:srgbClr val="F5F7F5"/>
                </a:solidFill>
                <a:latin typeface="Calibri" panose="020F0502020204030204" pitchFamily="34" charset="0"/>
                <a:ea typeface="Calibri" panose="020F0502020204030204" pitchFamily="34" charset="-122"/>
                <a:cs typeface="Calibri" panose="020F0502020204030204" pitchFamily="34" charset="-120"/>
              </a:rPr>
              <a:t>Partie attaque obligatoire : brute force SSH, accès non autorisé, malware simple</a:t>
            </a:r>
            <a:endParaRPr lang="en-US" sz="1300" dirty="0"/>
          </a:p>
        </p:txBody>
      </p:sp>
      <p:sp>
        <p:nvSpPr>
          <p:cNvPr id="20" name="Text 18"/>
          <p:cNvSpPr/>
          <p:nvPr/>
        </p:nvSpPr>
        <p:spPr>
          <a:xfrm>
            <a:off x="11521440" y="6446520"/>
            <a:ext cx="548640" cy="320040"/>
          </a:xfrm>
          <a:prstGeom prst="rect">
            <a:avLst/>
          </a:prstGeom>
          <a:noFill/>
        </p:spPr>
        <p:txBody>
          <a:bodyPr wrap="square" lIns="0" tIns="0" rIns="0" bIns="0" rtlCol="0" anchor="ctr"/>
          <a:lstStyle/>
          <a:p>
            <a:pPr marL="0" indent="0" algn="r">
              <a:buNone/>
            </a:pPr>
            <a:r>
              <a:rPr lang="en-US" sz="1100" dirty="0">
                <a:solidFill>
                  <a:srgbClr val="B7C2BC"/>
                </a:solidFill>
                <a:latin typeface="Calibri" panose="020F0502020204030204" pitchFamily="34" charset="0"/>
                <a:ea typeface="Calibri" panose="020F0502020204030204" pitchFamily="34" charset="-122"/>
                <a:cs typeface="Calibri" panose="020F0502020204030204" pitchFamily="34" charset="-120"/>
              </a:rPr>
              <a:t>03</a:t>
            </a:r>
            <a:endParaRPr lang="en-US" sz="11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65760"/>
            <a:ext cx="7315200" cy="365760"/>
          </a:xfrm>
          <a:prstGeom prst="rect">
            <a:avLst/>
          </a:prstGeom>
          <a:noFill/>
        </p:spPr>
        <p:txBody>
          <a:bodyPr wrap="square" lIns="0" tIns="0" rIns="0" bIns="0" rtlCol="0" anchor="ctr"/>
          <a:lstStyle/>
          <a:p>
            <a:pPr marL="0" indent="0">
              <a:buNone/>
            </a:pPr>
            <a:r>
              <a:rPr lang="en-US" sz="1200" b="1" kern="0" spc="200" dirty="0">
                <a:solidFill>
                  <a:srgbClr val="2E7D32"/>
                </a:solidFill>
                <a:latin typeface="Calibri" panose="020F0502020204030204" pitchFamily="34" charset="0"/>
                <a:ea typeface="Calibri" panose="020F0502020204030204" pitchFamily="34" charset="-122"/>
                <a:cs typeface="Calibri" panose="020F0502020204030204" pitchFamily="34" charset="-120"/>
              </a:rPr>
              <a:t>02 — ANALYSE DE L'EXISTANT</a:t>
            </a:r>
            <a:endParaRPr lang="en-US" sz="1200" dirty="0"/>
          </a:p>
        </p:txBody>
      </p:sp>
      <p:sp>
        <p:nvSpPr>
          <p:cNvPr id="3" name="Text 1"/>
          <p:cNvSpPr/>
          <p:nvPr/>
        </p:nvSpPr>
        <p:spPr>
          <a:xfrm>
            <a:off x="548640" y="685800"/>
            <a:ext cx="10515600" cy="731520"/>
          </a:xfrm>
          <a:prstGeom prst="rect">
            <a:avLst/>
          </a:prstGeom>
          <a:noFill/>
        </p:spPr>
        <p:txBody>
          <a:bodyPr wrap="square" lIns="0" tIns="0" rIns="0" bIns="0" rtlCol="0" anchor="ctr"/>
          <a:lstStyle/>
          <a:p>
            <a:pPr marL="0" indent="0">
              <a:buNone/>
            </a:pPr>
            <a:r>
              <a:rPr lang="en-US" sz="3000" b="1" dirty="0">
                <a:solidFill>
                  <a:srgbClr val="1B1B1B"/>
                </a:solidFill>
                <a:latin typeface="Cambria" panose="02040503050406030204" pitchFamily="34" charset="0"/>
                <a:ea typeface="Cambria" panose="02040503050406030204" pitchFamily="34" charset="-122"/>
                <a:cs typeface="Cambria" panose="02040503050406030204" pitchFamily="34" charset="-120"/>
              </a:rPr>
              <a:t>Solutions existantes et positionnement</a:t>
            </a:r>
            <a:endParaRPr lang="en-US" sz="3000" dirty="0"/>
          </a:p>
        </p:txBody>
      </p:sp>
      <p:sp>
        <p:nvSpPr>
          <p:cNvPr id="4" name="Shape 2"/>
          <p:cNvSpPr/>
          <p:nvPr/>
        </p:nvSpPr>
        <p:spPr>
          <a:xfrm>
            <a:off x="548640" y="1691640"/>
            <a:ext cx="6675120" cy="502920"/>
          </a:xfrm>
          <a:prstGeom prst="roundRect">
            <a:avLst>
              <a:gd name="adj" fmla="val 9091"/>
            </a:avLst>
          </a:prstGeom>
          <a:solidFill>
            <a:srgbClr val="0D1B12"/>
          </a:solidFill>
        </p:spPr>
      </p:sp>
      <p:sp>
        <p:nvSpPr>
          <p:cNvPr id="5" name="Text 3"/>
          <p:cNvSpPr/>
          <p:nvPr/>
        </p:nvSpPr>
        <p:spPr>
          <a:xfrm>
            <a:off x="777240" y="1691640"/>
            <a:ext cx="2011680" cy="502920"/>
          </a:xfrm>
          <a:prstGeom prst="rect">
            <a:avLst/>
          </a:prstGeom>
          <a:noFill/>
        </p:spPr>
        <p:txBody>
          <a:bodyPr wrap="square" lIns="0" tIns="0" rIns="0" bIns="0" rtlCol="0" anchor="ctr"/>
          <a:lstStyle/>
          <a:p>
            <a:pPr marL="0" indent="0">
              <a:buNone/>
            </a:pPr>
            <a:r>
              <a:rPr lang="en-US" sz="1250" b="1" dirty="0">
                <a:solidFill>
                  <a:srgbClr val="FFFFFF"/>
                </a:solidFill>
                <a:latin typeface="Calibri" panose="020F0502020204030204" pitchFamily="34" charset="0"/>
                <a:ea typeface="Calibri" panose="020F0502020204030204" pitchFamily="34" charset="-122"/>
                <a:cs typeface="Calibri" panose="020F0502020204030204" pitchFamily="34" charset="-120"/>
              </a:rPr>
              <a:t>Outil</a:t>
            </a:r>
            <a:endParaRPr lang="en-US" sz="1250" dirty="0"/>
          </a:p>
        </p:txBody>
      </p:sp>
      <p:sp>
        <p:nvSpPr>
          <p:cNvPr id="6" name="Text 4"/>
          <p:cNvSpPr/>
          <p:nvPr/>
        </p:nvSpPr>
        <p:spPr>
          <a:xfrm>
            <a:off x="2834640" y="1691640"/>
            <a:ext cx="1828800" cy="502920"/>
          </a:xfrm>
          <a:prstGeom prst="rect">
            <a:avLst/>
          </a:prstGeom>
          <a:noFill/>
        </p:spPr>
        <p:txBody>
          <a:bodyPr wrap="square" lIns="0" tIns="0" rIns="0" bIns="0" rtlCol="0" anchor="ctr"/>
          <a:lstStyle/>
          <a:p>
            <a:pPr marL="0" indent="0">
              <a:buNone/>
            </a:pPr>
            <a:r>
              <a:rPr lang="en-US" sz="1250" b="1" dirty="0">
                <a:solidFill>
                  <a:srgbClr val="FFFFFF"/>
                </a:solidFill>
                <a:latin typeface="Calibri" panose="020F0502020204030204" pitchFamily="34" charset="0"/>
                <a:ea typeface="Calibri" panose="020F0502020204030204" pitchFamily="34" charset="-122"/>
                <a:cs typeface="Calibri" panose="020F0502020204030204" pitchFamily="34" charset="-120"/>
              </a:rPr>
              <a:t>Apport</a:t>
            </a:r>
            <a:endParaRPr lang="en-US" sz="1250" dirty="0"/>
          </a:p>
        </p:txBody>
      </p:sp>
      <p:sp>
        <p:nvSpPr>
          <p:cNvPr id="7" name="Text 5"/>
          <p:cNvSpPr/>
          <p:nvPr/>
        </p:nvSpPr>
        <p:spPr>
          <a:xfrm>
            <a:off x="4709160" y="1691640"/>
            <a:ext cx="2468880" cy="502920"/>
          </a:xfrm>
          <a:prstGeom prst="rect">
            <a:avLst/>
          </a:prstGeom>
          <a:noFill/>
        </p:spPr>
        <p:txBody>
          <a:bodyPr wrap="square" lIns="0" tIns="0" rIns="0" bIns="0" rtlCol="0" anchor="ctr"/>
          <a:lstStyle/>
          <a:p>
            <a:pPr marL="0" indent="0">
              <a:buNone/>
            </a:pPr>
            <a:r>
              <a:rPr lang="en-US" sz="1250" b="1" dirty="0">
                <a:solidFill>
                  <a:srgbClr val="FFFFFF"/>
                </a:solidFill>
                <a:latin typeface="Calibri" panose="020F0502020204030204" pitchFamily="34" charset="0"/>
                <a:ea typeface="Calibri" panose="020F0502020204030204" pitchFamily="34" charset="-122"/>
                <a:cs typeface="Calibri" panose="020F0502020204030204" pitchFamily="34" charset="-120"/>
              </a:rPr>
              <a:t>Limite pour ce projet</a:t>
            </a:r>
            <a:endParaRPr lang="en-US" sz="1250" dirty="0"/>
          </a:p>
        </p:txBody>
      </p:sp>
      <p:sp>
        <p:nvSpPr>
          <p:cNvPr id="8" name="Shape 6"/>
          <p:cNvSpPr/>
          <p:nvPr/>
        </p:nvSpPr>
        <p:spPr>
          <a:xfrm>
            <a:off x="548640" y="2194560"/>
            <a:ext cx="6675120" cy="713232"/>
          </a:xfrm>
          <a:prstGeom prst="rect">
            <a:avLst/>
          </a:prstGeom>
          <a:solidFill>
            <a:srgbClr val="F0F5F1"/>
          </a:solidFill>
        </p:spPr>
      </p:sp>
      <p:sp>
        <p:nvSpPr>
          <p:cNvPr id="9" name="Text 7"/>
          <p:cNvSpPr/>
          <p:nvPr/>
        </p:nvSpPr>
        <p:spPr>
          <a:xfrm>
            <a:off x="777240" y="2194560"/>
            <a:ext cx="2011680" cy="713232"/>
          </a:xfrm>
          <a:prstGeom prst="rect">
            <a:avLst/>
          </a:prstGeom>
          <a:noFill/>
        </p:spPr>
        <p:txBody>
          <a:bodyPr wrap="square" lIns="0" tIns="0" rIns="0" bIns="0" rtlCol="0" anchor="ctr"/>
          <a:lstStyle/>
          <a:p>
            <a:pPr marL="0" indent="0">
              <a:buNone/>
            </a:pPr>
            <a:r>
              <a:rPr lang="en-US" sz="1200" b="1" dirty="0">
                <a:solidFill>
                  <a:srgbClr val="1B1B1B"/>
                </a:solidFill>
                <a:latin typeface="Calibri" panose="020F0502020204030204" pitchFamily="34" charset="0"/>
                <a:ea typeface="Calibri" panose="020F0502020204030204" pitchFamily="34" charset="-122"/>
                <a:cs typeface="Calibri" panose="020F0502020204030204" pitchFamily="34" charset="-120"/>
              </a:rPr>
              <a:t>OSSEC / Wazuh</a:t>
            </a:r>
            <a:endParaRPr lang="en-US" sz="1200" dirty="0"/>
          </a:p>
        </p:txBody>
      </p:sp>
      <p:sp>
        <p:nvSpPr>
          <p:cNvPr id="10" name="Text 8"/>
          <p:cNvSpPr/>
          <p:nvPr/>
        </p:nvSpPr>
        <p:spPr>
          <a:xfrm>
            <a:off x="2834640" y="2194560"/>
            <a:ext cx="1828800" cy="713232"/>
          </a:xfrm>
          <a:prstGeom prst="rect">
            <a:avLst/>
          </a:prstGeom>
          <a:noFill/>
        </p:spPr>
        <p:txBody>
          <a:bodyPr wrap="square" lIns="0" tIns="0" rIns="0" bIns="0" rtlCol="0" anchor="ctr"/>
          <a:lstStyle/>
          <a:p>
            <a:pPr marL="0" indent="0">
              <a:buNone/>
            </a:pPr>
            <a:r>
              <a:rPr lang="en-US" sz="1150" dirty="0">
                <a:solidFill>
                  <a:srgbClr val="5F5F5F"/>
                </a:solidFill>
                <a:latin typeface="Calibri" panose="020F0502020204030204" pitchFamily="34" charset="0"/>
                <a:ea typeface="Calibri" panose="020F0502020204030204" pitchFamily="34" charset="-122"/>
                <a:cs typeface="Calibri" panose="020F0502020204030204" pitchFamily="34" charset="-120"/>
              </a:rPr>
              <a:t>HIDS complets</a:t>
            </a:r>
            <a:endParaRPr lang="en-US" sz="1150" dirty="0"/>
          </a:p>
        </p:txBody>
      </p:sp>
      <p:sp>
        <p:nvSpPr>
          <p:cNvPr id="11" name="Text 9"/>
          <p:cNvSpPr/>
          <p:nvPr/>
        </p:nvSpPr>
        <p:spPr>
          <a:xfrm>
            <a:off x="4709160" y="2194560"/>
            <a:ext cx="2468880" cy="713232"/>
          </a:xfrm>
          <a:prstGeom prst="rect">
            <a:avLst/>
          </a:prstGeom>
          <a:noFill/>
        </p:spPr>
        <p:txBody>
          <a:bodyPr wrap="square" lIns="0" tIns="0" rIns="0" bIns="0" rtlCol="0" anchor="ctr"/>
          <a:lstStyle/>
          <a:p>
            <a:pPr marL="0" indent="0">
              <a:buNone/>
            </a:pPr>
            <a:r>
              <a:rPr lang="en-US" sz="1100" dirty="0">
                <a:solidFill>
                  <a:srgbClr val="5F5F5F"/>
                </a:solidFill>
                <a:latin typeface="Calibri" panose="020F0502020204030204" pitchFamily="34" charset="0"/>
                <a:ea typeface="Calibri" panose="020F0502020204030204" pitchFamily="34" charset="-122"/>
                <a:cs typeface="Calibri" panose="020F0502020204030204" pitchFamily="34" charset="-120"/>
              </a:rPr>
              <a:t>Architecture serveur/agent lourde pour un contexte pédagogique</a:t>
            </a:r>
            <a:endParaRPr lang="en-US" sz="1100" dirty="0"/>
          </a:p>
        </p:txBody>
      </p:sp>
      <p:sp>
        <p:nvSpPr>
          <p:cNvPr id="12" name="Shape 10"/>
          <p:cNvSpPr/>
          <p:nvPr/>
        </p:nvSpPr>
        <p:spPr>
          <a:xfrm>
            <a:off x="548640" y="2907792"/>
            <a:ext cx="6675120" cy="713232"/>
          </a:xfrm>
          <a:prstGeom prst="rect">
            <a:avLst/>
          </a:prstGeom>
          <a:solidFill>
            <a:srgbClr val="FFFFFF"/>
          </a:solidFill>
        </p:spPr>
      </p:sp>
      <p:sp>
        <p:nvSpPr>
          <p:cNvPr id="13" name="Text 11"/>
          <p:cNvSpPr/>
          <p:nvPr/>
        </p:nvSpPr>
        <p:spPr>
          <a:xfrm>
            <a:off x="777240" y="2907792"/>
            <a:ext cx="2011680" cy="713232"/>
          </a:xfrm>
          <a:prstGeom prst="rect">
            <a:avLst/>
          </a:prstGeom>
          <a:noFill/>
        </p:spPr>
        <p:txBody>
          <a:bodyPr wrap="square" lIns="0" tIns="0" rIns="0" bIns="0" rtlCol="0" anchor="ctr"/>
          <a:lstStyle/>
          <a:p>
            <a:pPr marL="0" indent="0">
              <a:buNone/>
            </a:pPr>
            <a:r>
              <a:rPr lang="en-US" sz="1200" b="1" dirty="0">
                <a:solidFill>
                  <a:srgbClr val="1B1B1B"/>
                </a:solidFill>
                <a:latin typeface="Calibri" panose="020F0502020204030204" pitchFamily="34" charset="0"/>
                <a:ea typeface="Calibri" panose="020F0502020204030204" pitchFamily="34" charset="-122"/>
                <a:cs typeface="Calibri" panose="020F0502020204030204" pitchFamily="34" charset="-120"/>
              </a:rPr>
              <a:t>Fail2ban</a:t>
            </a:r>
            <a:endParaRPr lang="en-US" sz="1200" dirty="0"/>
          </a:p>
        </p:txBody>
      </p:sp>
      <p:sp>
        <p:nvSpPr>
          <p:cNvPr id="14" name="Text 12"/>
          <p:cNvSpPr/>
          <p:nvPr/>
        </p:nvSpPr>
        <p:spPr>
          <a:xfrm>
            <a:off x="2834640" y="2907792"/>
            <a:ext cx="1828800" cy="713232"/>
          </a:xfrm>
          <a:prstGeom prst="rect">
            <a:avLst/>
          </a:prstGeom>
          <a:noFill/>
        </p:spPr>
        <p:txBody>
          <a:bodyPr wrap="square" lIns="0" tIns="0" rIns="0" bIns="0" rtlCol="0" anchor="ctr"/>
          <a:lstStyle/>
          <a:p>
            <a:pPr marL="0" indent="0">
              <a:buNone/>
            </a:pPr>
            <a:r>
              <a:rPr lang="en-US" sz="1150" dirty="0">
                <a:solidFill>
                  <a:srgbClr val="5F5F5F"/>
                </a:solidFill>
                <a:latin typeface="Calibri" panose="020F0502020204030204" pitchFamily="34" charset="0"/>
                <a:ea typeface="Calibri" panose="020F0502020204030204" pitchFamily="34" charset="-122"/>
                <a:cs typeface="Calibri" panose="020F0502020204030204" pitchFamily="34" charset="-120"/>
              </a:rPr>
              <a:t>Blocage post-échec</a:t>
            </a:r>
            <a:endParaRPr lang="en-US" sz="1150" dirty="0"/>
          </a:p>
        </p:txBody>
      </p:sp>
      <p:sp>
        <p:nvSpPr>
          <p:cNvPr id="15" name="Text 13"/>
          <p:cNvSpPr/>
          <p:nvPr/>
        </p:nvSpPr>
        <p:spPr>
          <a:xfrm>
            <a:off x="4709160" y="2907792"/>
            <a:ext cx="2468880" cy="713232"/>
          </a:xfrm>
          <a:prstGeom prst="rect">
            <a:avLst/>
          </a:prstGeom>
          <a:noFill/>
        </p:spPr>
        <p:txBody>
          <a:bodyPr wrap="square" lIns="0" tIns="0" rIns="0" bIns="0" rtlCol="0" anchor="ctr"/>
          <a:lstStyle/>
          <a:p>
            <a:pPr marL="0" indent="0">
              <a:buNone/>
            </a:pPr>
            <a:r>
              <a:rPr lang="en-US" sz="1100" dirty="0">
                <a:solidFill>
                  <a:srgbClr val="5F5F5F"/>
                </a:solidFill>
                <a:latin typeface="Calibri" panose="020F0502020204030204" pitchFamily="34" charset="0"/>
                <a:ea typeface="Calibri" panose="020F0502020204030204" pitchFamily="34" charset="-122"/>
                <a:cs typeface="Calibri" panose="020F0502020204030204" pitchFamily="34" charset="-120"/>
              </a:rPr>
              <a:t>Ne couvre pas fichiers sensibles ni exécutions suspectes</a:t>
            </a:r>
            <a:endParaRPr lang="en-US" sz="1100" dirty="0"/>
          </a:p>
        </p:txBody>
      </p:sp>
      <p:sp>
        <p:nvSpPr>
          <p:cNvPr id="16" name="Shape 14"/>
          <p:cNvSpPr/>
          <p:nvPr/>
        </p:nvSpPr>
        <p:spPr>
          <a:xfrm>
            <a:off x="548640" y="3621024"/>
            <a:ext cx="6675120" cy="713232"/>
          </a:xfrm>
          <a:prstGeom prst="rect">
            <a:avLst/>
          </a:prstGeom>
          <a:solidFill>
            <a:srgbClr val="F0F5F1"/>
          </a:solidFill>
        </p:spPr>
      </p:sp>
      <p:sp>
        <p:nvSpPr>
          <p:cNvPr id="17" name="Text 15"/>
          <p:cNvSpPr/>
          <p:nvPr/>
        </p:nvSpPr>
        <p:spPr>
          <a:xfrm>
            <a:off x="777240" y="3621024"/>
            <a:ext cx="2011680" cy="713232"/>
          </a:xfrm>
          <a:prstGeom prst="rect">
            <a:avLst/>
          </a:prstGeom>
          <a:noFill/>
        </p:spPr>
        <p:txBody>
          <a:bodyPr wrap="square" lIns="0" tIns="0" rIns="0" bIns="0" rtlCol="0" anchor="ctr"/>
          <a:lstStyle/>
          <a:p>
            <a:pPr marL="0" indent="0">
              <a:buNone/>
            </a:pPr>
            <a:r>
              <a:rPr lang="en-US" sz="1200" b="1" dirty="0">
                <a:solidFill>
                  <a:srgbClr val="1B1B1B"/>
                </a:solidFill>
                <a:latin typeface="Calibri" panose="020F0502020204030204" pitchFamily="34" charset="0"/>
                <a:ea typeface="Calibri" panose="020F0502020204030204" pitchFamily="34" charset="-122"/>
                <a:cs typeface="Calibri" panose="020F0502020204030204" pitchFamily="34" charset="-120"/>
              </a:rPr>
              <a:t>auditd (natif)</a:t>
            </a:r>
            <a:endParaRPr lang="en-US" sz="1200" dirty="0"/>
          </a:p>
        </p:txBody>
      </p:sp>
      <p:sp>
        <p:nvSpPr>
          <p:cNvPr id="18" name="Text 16"/>
          <p:cNvSpPr/>
          <p:nvPr/>
        </p:nvSpPr>
        <p:spPr>
          <a:xfrm>
            <a:off x="2834640" y="3621024"/>
            <a:ext cx="1828800" cy="713232"/>
          </a:xfrm>
          <a:prstGeom prst="rect">
            <a:avLst/>
          </a:prstGeom>
          <a:noFill/>
        </p:spPr>
        <p:txBody>
          <a:bodyPr wrap="square" lIns="0" tIns="0" rIns="0" bIns="0" rtlCol="0" anchor="ctr"/>
          <a:lstStyle/>
          <a:p>
            <a:pPr marL="0" indent="0">
              <a:buNone/>
            </a:pPr>
            <a:r>
              <a:rPr lang="en-US" sz="1150" dirty="0">
                <a:solidFill>
                  <a:srgbClr val="5F5F5F"/>
                </a:solidFill>
                <a:latin typeface="Calibri" panose="020F0502020204030204" pitchFamily="34" charset="0"/>
                <a:ea typeface="Calibri" panose="020F0502020204030204" pitchFamily="34" charset="-122"/>
                <a:cs typeface="Calibri" panose="020F0502020204030204" pitchFamily="34" charset="-120"/>
              </a:rPr>
              <a:t>Audit noyau fiable</a:t>
            </a:r>
            <a:endParaRPr lang="en-US" sz="1150" dirty="0"/>
          </a:p>
        </p:txBody>
      </p:sp>
      <p:sp>
        <p:nvSpPr>
          <p:cNvPr id="19" name="Text 17"/>
          <p:cNvSpPr/>
          <p:nvPr/>
        </p:nvSpPr>
        <p:spPr>
          <a:xfrm>
            <a:off x="4709160" y="3621024"/>
            <a:ext cx="2468880" cy="713232"/>
          </a:xfrm>
          <a:prstGeom prst="rect">
            <a:avLst/>
          </a:prstGeom>
          <a:noFill/>
        </p:spPr>
        <p:txBody>
          <a:bodyPr wrap="square" lIns="0" tIns="0" rIns="0" bIns="0" rtlCol="0" anchor="ctr"/>
          <a:lstStyle/>
          <a:p>
            <a:pPr marL="0" indent="0">
              <a:buNone/>
            </a:pPr>
            <a:r>
              <a:rPr lang="en-US" sz="1100" dirty="0">
                <a:solidFill>
                  <a:srgbClr val="5F5F5F"/>
                </a:solidFill>
                <a:latin typeface="Calibri" panose="020F0502020204030204" pitchFamily="34" charset="0"/>
                <a:ea typeface="Calibri" panose="020F0502020204030204" pitchFamily="34" charset="-122"/>
                <a:cs typeface="Calibri" panose="020F0502020204030204" pitchFamily="34" charset="-120"/>
              </a:rPr>
              <a:t>Journalise sans corréler ni alerter ni agir</a:t>
            </a:r>
            <a:endParaRPr lang="en-US" sz="1100" dirty="0"/>
          </a:p>
        </p:txBody>
      </p:sp>
      <p:sp>
        <p:nvSpPr>
          <p:cNvPr id="20" name="Shape 18"/>
          <p:cNvSpPr/>
          <p:nvPr/>
        </p:nvSpPr>
        <p:spPr>
          <a:xfrm>
            <a:off x="548640" y="4334256"/>
            <a:ext cx="6675120" cy="713232"/>
          </a:xfrm>
          <a:prstGeom prst="rect">
            <a:avLst/>
          </a:prstGeom>
          <a:solidFill>
            <a:srgbClr val="FFFFFF"/>
          </a:solidFill>
        </p:spPr>
      </p:sp>
      <p:sp>
        <p:nvSpPr>
          <p:cNvPr id="21" name="Text 19"/>
          <p:cNvSpPr/>
          <p:nvPr/>
        </p:nvSpPr>
        <p:spPr>
          <a:xfrm>
            <a:off x="777240" y="4334256"/>
            <a:ext cx="2011680" cy="713232"/>
          </a:xfrm>
          <a:prstGeom prst="rect">
            <a:avLst/>
          </a:prstGeom>
          <a:noFill/>
        </p:spPr>
        <p:txBody>
          <a:bodyPr wrap="square" lIns="0" tIns="0" rIns="0" bIns="0" rtlCol="0" anchor="ctr"/>
          <a:lstStyle/>
          <a:p>
            <a:pPr marL="0" indent="0">
              <a:buNone/>
            </a:pPr>
            <a:r>
              <a:rPr lang="en-US" sz="1200" b="1" dirty="0">
                <a:solidFill>
                  <a:srgbClr val="1B1B1B"/>
                </a:solidFill>
                <a:latin typeface="Calibri" panose="020F0502020204030204" pitchFamily="34" charset="0"/>
                <a:ea typeface="Calibri" panose="020F0502020204030204" pitchFamily="34" charset="-122"/>
                <a:cs typeface="Calibri" panose="020F0502020204030204" pitchFamily="34" charset="-120"/>
              </a:rPr>
              <a:t>Snort / Suricata</a:t>
            </a:r>
            <a:endParaRPr lang="en-US" sz="1200" dirty="0"/>
          </a:p>
        </p:txBody>
      </p:sp>
      <p:sp>
        <p:nvSpPr>
          <p:cNvPr id="22" name="Text 20"/>
          <p:cNvSpPr/>
          <p:nvPr/>
        </p:nvSpPr>
        <p:spPr>
          <a:xfrm>
            <a:off x="2834640" y="4334256"/>
            <a:ext cx="1828800" cy="713232"/>
          </a:xfrm>
          <a:prstGeom prst="rect">
            <a:avLst/>
          </a:prstGeom>
          <a:noFill/>
        </p:spPr>
        <p:txBody>
          <a:bodyPr wrap="square" lIns="0" tIns="0" rIns="0" bIns="0" rtlCol="0" anchor="ctr"/>
          <a:lstStyle/>
          <a:p>
            <a:pPr marL="0" indent="0">
              <a:buNone/>
            </a:pPr>
            <a:r>
              <a:rPr lang="en-US" sz="1150" dirty="0">
                <a:solidFill>
                  <a:srgbClr val="5F5F5F"/>
                </a:solidFill>
                <a:latin typeface="Calibri" panose="020F0502020204030204" pitchFamily="34" charset="0"/>
                <a:ea typeface="Calibri" panose="020F0502020204030204" pitchFamily="34" charset="-122"/>
                <a:cs typeface="Calibri" panose="020F0502020204030204" pitchFamily="34" charset="-120"/>
              </a:rPr>
              <a:t>Détection réseau (NIDS)</a:t>
            </a:r>
            <a:endParaRPr lang="en-US" sz="1150" dirty="0"/>
          </a:p>
        </p:txBody>
      </p:sp>
      <p:sp>
        <p:nvSpPr>
          <p:cNvPr id="23" name="Text 21"/>
          <p:cNvSpPr/>
          <p:nvPr/>
        </p:nvSpPr>
        <p:spPr>
          <a:xfrm>
            <a:off x="4709160" y="4334256"/>
            <a:ext cx="2468880" cy="713232"/>
          </a:xfrm>
          <a:prstGeom prst="rect">
            <a:avLst/>
          </a:prstGeom>
          <a:noFill/>
        </p:spPr>
        <p:txBody>
          <a:bodyPr wrap="square" lIns="0" tIns="0" rIns="0" bIns="0" rtlCol="0" anchor="ctr"/>
          <a:lstStyle/>
          <a:p>
            <a:pPr marL="0" indent="0">
              <a:buNone/>
            </a:pPr>
            <a:r>
              <a:rPr lang="en-US" sz="1100" dirty="0">
                <a:solidFill>
                  <a:srgbClr val="5F5F5F"/>
                </a:solidFill>
                <a:latin typeface="Calibri" panose="020F0502020204030204" pitchFamily="34" charset="0"/>
                <a:ea typeface="Calibri" panose="020F0502020204030204" pitchFamily="34" charset="-122"/>
                <a:cs typeface="Calibri" panose="020F0502020204030204" pitchFamily="34" charset="-120"/>
              </a:rPr>
              <a:t>Pas de détection au niveau hôte</a:t>
            </a:r>
            <a:endParaRPr lang="en-US" sz="1100" dirty="0"/>
          </a:p>
        </p:txBody>
      </p:sp>
      <p:sp>
        <p:nvSpPr>
          <p:cNvPr id="24" name="Shape 22"/>
          <p:cNvSpPr/>
          <p:nvPr/>
        </p:nvSpPr>
        <p:spPr>
          <a:xfrm>
            <a:off x="7543800" y="1691640"/>
            <a:ext cx="4069080" cy="3355848"/>
          </a:xfrm>
          <a:prstGeom prst="roundRect">
            <a:avLst>
              <a:gd name="adj" fmla="val 2180"/>
            </a:avLst>
          </a:prstGeom>
          <a:solidFill>
            <a:srgbClr val="E9F4EC"/>
          </a:solidFill>
          <a:ln w="12700">
            <a:solidFill>
              <a:srgbClr val="2E7D32"/>
            </a:solidFill>
            <a:prstDash val="solid"/>
          </a:ln>
        </p:spPr>
      </p:sp>
      <p:sp>
        <p:nvSpPr>
          <p:cNvPr id="25" name="Text 23"/>
          <p:cNvSpPr/>
          <p:nvPr/>
        </p:nvSpPr>
        <p:spPr>
          <a:xfrm>
            <a:off x="7818120" y="1965960"/>
            <a:ext cx="3566160" cy="365760"/>
          </a:xfrm>
          <a:prstGeom prst="rect">
            <a:avLst/>
          </a:prstGeom>
          <a:noFill/>
        </p:spPr>
        <p:txBody>
          <a:bodyPr wrap="square" lIns="0" tIns="0" rIns="0" bIns="0" rtlCol="0" anchor="ctr"/>
          <a:lstStyle/>
          <a:p>
            <a:pPr marL="0" indent="0">
              <a:buNone/>
            </a:pPr>
            <a:r>
              <a:rPr lang="en-US" sz="1200" b="1" kern="0" spc="150" dirty="0">
                <a:solidFill>
                  <a:srgbClr val="2E7D32"/>
                </a:solidFill>
                <a:latin typeface="Calibri" panose="020F0502020204030204" pitchFamily="34" charset="0"/>
                <a:ea typeface="Calibri" panose="020F0502020204030204" pitchFamily="34" charset="-122"/>
                <a:cs typeface="Calibri" panose="020F0502020204030204" pitchFamily="34" charset="-120"/>
              </a:rPr>
              <a:t>NOTRE POSITIONNEMENT</a:t>
            </a:r>
            <a:endParaRPr lang="en-US" sz="1200" dirty="0"/>
          </a:p>
        </p:txBody>
      </p:sp>
      <p:sp>
        <p:nvSpPr>
          <p:cNvPr id="26" name="Text 24"/>
          <p:cNvSpPr/>
          <p:nvPr/>
        </p:nvSpPr>
        <p:spPr>
          <a:xfrm>
            <a:off x="7818120" y="2423160"/>
            <a:ext cx="3566160" cy="2651760"/>
          </a:xfrm>
          <a:prstGeom prst="rect">
            <a:avLst/>
          </a:prstGeom>
          <a:noFill/>
        </p:spPr>
        <p:txBody>
          <a:bodyPr wrap="square" lIns="0" tIns="0" rIns="0" bIns="0" rtlCol="0" anchor="ctr"/>
          <a:lstStyle/>
          <a:p>
            <a:pPr marL="0" indent="0">
              <a:lnSpc>
                <a:spcPct val="130000"/>
              </a:lnSpc>
              <a:buNone/>
            </a:pPr>
            <a:r>
              <a:rPr lang="en-US" sz="1250" dirty="0">
                <a:solidFill>
                  <a:srgbClr val="1B1B1B"/>
                </a:solidFill>
                <a:latin typeface="Calibri" panose="020F0502020204030204" pitchFamily="34" charset="0"/>
                <a:ea typeface="Calibri" panose="020F0502020204030204" pitchFamily="34" charset="-122"/>
                <a:cs typeface="Calibri" panose="020F0502020204030204" pitchFamily="34" charset="-120"/>
              </a:rPr>
              <a:t>Une solution HIPS légère et développée sur mesure en Python, s'appuyant sur les briques Linux existantes (auditd, auth.log) comme source de données, mais ajoutant la corrélation, le filtrage anti-bruit, la décision et la réaction automatique qui font défaut nativement.</a:t>
            </a:r>
            <a:endParaRPr lang="en-US" sz="1250" dirty="0"/>
          </a:p>
        </p:txBody>
      </p:sp>
      <p:sp>
        <p:nvSpPr>
          <p:cNvPr id="27" name="Text 25"/>
          <p:cNvSpPr/>
          <p:nvPr/>
        </p:nvSpPr>
        <p:spPr>
          <a:xfrm>
            <a:off x="11521440" y="6446520"/>
            <a:ext cx="548640" cy="320040"/>
          </a:xfrm>
          <a:prstGeom prst="rect">
            <a:avLst/>
          </a:prstGeom>
          <a:noFill/>
        </p:spPr>
        <p:txBody>
          <a:bodyPr wrap="square" lIns="0" tIns="0" rIns="0" bIns="0" rtlCol="0" anchor="ctr"/>
          <a:lstStyle/>
          <a:p>
            <a:pPr marL="0" indent="0" algn="r">
              <a:buNone/>
            </a:pPr>
            <a:r>
              <a:rPr lang="en-US" sz="1100" dirty="0">
                <a:solidFill>
                  <a:srgbClr val="B7C2BC"/>
                </a:solidFill>
                <a:latin typeface="Calibri" panose="020F0502020204030204" pitchFamily="34" charset="0"/>
                <a:ea typeface="Calibri" panose="020F0502020204030204" pitchFamily="34" charset="-122"/>
                <a:cs typeface="Calibri" panose="020F0502020204030204" pitchFamily="34" charset="-120"/>
              </a:rPr>
              <a:t>04</a:t>
            </a:r>
            <a:endParaRPr lang="en-US" sz="11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0D1B12"/>
        </a:solidFill>
        <a:effectLst/>
      </p:bgPr>
    </p:bg>
    <p:spTree>
      <p:nvGrpSpPr>
        <p:cNvPr id="1" name=""/>
        <p:cNvGrpSpPr/>
        <p:nvPr/>
      </p:nvGrpSpPr>
      <p:grpSpPr>
        <a:xfrm>
          <a:off x="0" y="0"/>
          <a:ext cx="0" cy="0"/>
          <a:chOff x="0" y="0"/>
          <a:chExt cx="0" cy="0"/>
        </a:xfrm>
      </p:grpSpPr>
      <p:sp>
        <p:nvSpPr>
          <p:cNvPr id="2" name="Text 0"/>
          <p:cNvSpPr/>
          <p:nvPr/>
        </p:nvSpPr>
        <p:spPr>
          <a:xfrm>
            <a:off x="548640" y="365760"/>
            <a:ext cx="7315200" cy="365760"/>
          </a:xfrm>
          <a:prstGeom prst="rect">
            <a:avLst/>
          </a:prstGeom>
          <a:noFill/>
        </p:spPr>
        <p:txBody>
          <a:bodyPr wrap="square" lIns="0" tIns="0" rIns="0" bIns="0" rtlCol="0" anchor="ctr"/>
          <a:lstStyle/>
          <a:p>
            <a:pPr marL="0" indent="0">
              <a:buNone/>
            </a:pPr>
            <a:r>
              <a:rPr lang="en-US" sz="1200" b="1" kern="0" spc="200" dirty="0">
                <a:solidFill>
                  <a:srgbClr val="4CAF50"/>
                </a:solidFill>
                <a:latin typeface="Calibri" panose="020F0502020204030204" pitchFamily="34" charset="0"/>
                <a:ea typeface="Calibri" panose="020F0502020204030204" pitchFamily="34" charset="-122"/>
                <a:cs typeface="Calibri" panose="020F0502020204030204" pitchFamily="34" charset="-120"/>
              </a:rPr>
              <a:t>03 — ARCHITECTURE</a:t>
            </a:r>
            <a:endParaRPr lang="en-US" sz="1200" dirty="0"/>
          </a:p>
        </p:txBody>
      </p:sp>
      <p:sp>
        <p:nvSpPr>
          <p:cNvPr id="3" name="Text 1"/>
          <p:cNvSpPr/>
          <p:nvPr/>
        </p:nvSpPr>
        <p:spPr>
          <a:xfrm>
            <a:off x="548640" y="685800"/>
            <a:ext cx="10515600" cy="731520"/>
          </a:xfrm>
          <a:prstGeom prst="rect">
            <a:avLst/>
          </a:prstGeom>
          <a:noFill/>
        </p:spPr>
        <p:txBody>
          <a:bodyPr wrap="square" lIns="0" tIns="0" rIns="0" bIns="0" rtlCol="0" anchor="ctr"/>
          <a:lstStyle/>
          <a:p>
            <a:pPr marL="0" indent="0">
              <a:buNone/>
            </a:pPr>
            <a:r>
              <a:rPr lang="en-US" sz="3000" b="1" dirty="0">
                <a:solidFill>
                  <a:srgbClr val="FFFFFF"/>
                </a:solidFill>
                <a:latin typeface="Cambria" panose="02040503050406030204" pitchFamily="34" charset="0"/>
                <a:ea typeface="Cambria" panose="02040503050406030204" pitchFamily="34" charset="-122"/>
                <a:cs typeface="Cambria" panose="02040503050406030204" pitchFamily="34" charset="-120"/>
              </a:rPr>
              <a:t>Architecture en quatre couches</a:t>
            </a:r>
            <a:endParaRPr lang="en-US" sz="3000" dirty="0"/>
          </a:p>
        </p:txBody>
      </p:sp>
      <p:sp>
        <p:nvSpPr>
          <p:cNvPr id="4" name="Shape 2"/>
          <p:cNvSpPr/>
          <p:nvPr/>
        </p:nvSpPr>
        <p:spPr>
          <a:xfrm>
            <a:off x="548640" y="1691640"/>
            <a:ext cx="6949440" cy="868680"/>
          </a:xfrm>
          <a:prstGeom prst="roundRect">
            <a:avLst>
              <a:gd name="adj" fmla="val 7368"/>
            </a:avLst>
          </a:prstGeom>
          <a:solidFill>
            <a:srgbClr val="13261A"/>
          </a:solidFill>
          <a:ln w="12700">
            <a:solidFill>
              <a:srgbClr val="1F3D28"/>
            </a:solidFill>
            <a:prstDash val="solid"/>
          </a:ln>
        </p:spPr>
      </p:sp>
      <p:sp>
        <p:nvSpPr>
          <p:cNvPr id="5" name="Shape 3"/>
          <p:cNvSpPr/>
          <p:nvPr/>
        </p:nvSpPr>
        <p:spPr>
          <a:xfrm>
            <a:off x="777240" y="1874520"/>
            <a:ext cx="502920" cy="502920"/>
          </a:xfrm>
          <a:prstGeom prst="ellipse">
            <a:avLst/>
          </a:prstGeom>
          <a:solidFill>
            <a:srgbClr val="2E7D32"/>
          </a:solidFill>
        </p:spPr>
      </p:sp>
      <p:sp>
        <p:nvSpPr>
          <p:cNvPr id="6" name="Text 4"/>
          <p:cNvSpPr/>
          <p:nvPr/>
        </p:nvSpPr>
        <p:spPr>
          <a:xfrm>
            <a:off x="777240" y="1874520"/>
            <a:ext cx="502920" cy="502920"/>
          </a:xfrm>
          <a:prstGeom prst="rect">
            <a:avLst/>
          </a:prstGeom>
          <a:noFill/>
        </p:spPr>
        <p:txBody>
          <a:bodyPr wrap="square" lIns="0" tIns="0" rIns="0" bIns="0" rtlCol="0" anchor="ctr"/>
          <a:lstStyle/>
          <a:p>
            <a:pPr marL="0" indent="0" algn="ctr">
              <a:buNone/>
            </a:pPr>
            <a:r>
              <a:rPr lang="en-US" sz="1600" b="1" dirty="0">
                <a:solidFill>
                  <a:srgbClr val="FFFFFF"/>
                </a:solidFill>
                <a:latin typeface="Calibri" panose="020F0502020204030204" pitchFamily="34" charset="0"/>
                <a:ea typeface="Calibri" panose="020F0502020204030204" pitchFamily="34" charset="-122"/>
                <a:cs typeface="Calibri" panose="020F0502020204030204" pitchFamily="34" charset="-120"/>
              </a:rPr>
              <a:t>1</a:t>
            </a:r>
            <a:endParaRPr lang="en-US" sz="1600" dirty="0"/>
          </a:p>
        </p:txBody>
      </p:sp>
      <p:sp>
        <p:nvSpPr>
          <p:cNvPr id="7" name="Text 5"/>
          <p:cNvSpPr/>
          <p:nvPr/>
        </p:nvSpPr>
        <p:spPr>
          <a:xfrm>
            <a:off x="1463040" y="1764792"/>
            <a:ext cx="5852160" cy="365760"/>
          </a:xfrm>
          <a:prstGeom prst="rect">
            <a:avLst/>
          </a:prstGeom>
          <a:noFill/>
        </p:spPr>
        <p:txBody>
          <a:bodyPr wrap="square" lIns="0" tIns="0" rIns="0" bIns="0" rtlCol="0" anchor="ctr"/>
          <a:lstStyle/>
          <a:p>
            <a:pPr marL="0" indent="0">
              <a:buNone/>
            </a:pPr>
            <a:r>
              <a:rPr lang="en-US" sz="1450" b="1" dirty="0">
                <a:solidFill>
                  <a:srgbClr val="FFFFFF"/>
                </a:solidFill>
                <a:latin typeface="Calibri" panose="020F0502020204030204" pitchFamily="34" charset="0"/>
                <a:ea typeface="Calibri" panose="020F0502020204030204" pitchFamily="34" charset="-122"/>
                <a:cs typeface="Calibri" panose="020F0502020204030204" pitchFamily="34" charset="-120"/>
              </a:rPr>
              <a:t>Système Linux (agent local)</a:t>
            </a:r>
            <a:endParaRPr lang="en-US" sz="1450" dirty="0"/>
          </a:p>
        </p:txBody>
      </p:sp>
      <p:sp>
        <p:nvSpPr>
          <p:cNvPr id="8" name="Text 6"/>
          <p:cNvSpPr/>
          <p:nvPr/>
        </p:nvSpPr>
        <p:spPr>
          <a:xfrm>
            <a:off x="1463040" y="2121408"/>
            <a:ext cx="5943600" cy="365760"/>
          </a:xfrm>
          <a:prstGeom prst="rect">
            <a:avLst/>
          </a:prstGeom>
          <a:noFill/>
        </p:spPr>
        <p:txBody>
          <a:bodyPr wrap="square" lIns="0" tIns="0" rIns="0" bIns="0" rtlCol="0" anchor="ctr"/>
          <a:lstStyle/>
          <a:p>
            <a:pPr marL="0" indent="0">
              <a:buNone/>
            </a:pPr>
            <a:r>
              <a:rPr lang="en-US" sz="1100" dirty="0">
                <a:solidFill>
                  <a:srgbClr val="9FB3A6"/>
                </a:solidFill>
                <a:latin typeface="Calibri" panose="020F0502020204030204" pitchFamily="34" charset="0"/>
                <a:ea typeface="Calibri" panose="020F0502020204030204" pitchFamily="34" charset="-122"/>
                <a:cs typeface="Calibri" panose="020F0502020204030204" pitchFamily="34" charset="-120"/>
              </a:rPr>
              <a:t>auditd  ·  syslog / auth.log — source des événements bruts</a:t>
            </a:r>
            <a:endParaRPr lang="en-US" sz="1100" dirty="0"/>
          </a:p>
        </p:txBody>
      </p:sp>
      <p:sp>
        <p:nvSpPr>
          <p:cNvPr id="9" name="Shape 7"/>
          <p:cNvSpPr/>
          <p:nvPr/>
        </p:nvSpPr>
        <p:spPr>
          <a:xfrm>
            <a:off x="548640" y="2724912"/>
            <a:ext cx="6949440" cy="868680"/>
          </a:xfrm>
          <a:prstGeom prst="roundRect">
            <a:avLst>
              <a:gd name="adj" fmla="val 7368"/>
            </a:avLst>
          </a:prstGeom>
          <a:solidFill>
            <a:srgbClr val="13261A"/>
          </a:solidFill>
          <a:ln w="12700">
            <a:solidFill>
              <a:srgbClr val="1F3D28"/>
            </a:solidFill>
            <a:prstDash val="solid"/>
          </a:ln>
        </p:spPr>
      </p:sp>
      <p:sp>
        <p:nvSpPr>
          <p:cNvPr id="10" name="Shape 8"/>
          <p:cNvSpPr/>
          <p:nvPr/>
        </p:nvSpPr>
        <p:spPr>
          <a:xfrm>
            <a:off x="777240" y="2907792"/>
            <a:ext cx="502920" cy="502920"/>
          </a:xfrm>
          <a:prstGeom prst="ellipse">
            <a:avLst/>
          </a:prstGeom>
          <a:solidFill>
            <a:srgbClr val="2E7D32"/>
          </a:solidFill>
        </p:spPr>
      </p:sp>
      <p:sp>
        <p:nvSpPr>
          <p:cNvPr id="11" name="Text 9"/>
          <p:cNvSpPr/>
          <p:nvPr/>
        </p:nvSpPr>
        <p:spPr>
          <a:xfrm>
            <a:off x="777240" y="2907792"/>
            <a:ext cx="502920" cy="502920"/>
          </a:xfrm>
          <a:prstGeom prst="rect">
            <a:avLst/>
          </a:prstGeom>
          <a:noFill/>
        </p:spPr>
        <p:txBody>
          <a:bodyPr wrap="square" lIns="0" tIns="0" rIns="0" bIns="0" rtlCol="0" anchor="ctr"/>
          <a:lstStyle/>
          <a:p>
            <a:pPr marL="0" indent="0" algn="ctr">
              <a:buNone/>
            </a:pPr>
            <a:r>
              <a:rPr lang="en-US" sz="1600" b="1" dirty="0">
                <a:solidFill>
                  <a:srgbClr val="FFFFFF"/>
                </a:solidFill>
                <a:latin typeface="Calibri" panose="020F0502020204030204" pitchFamily="34" charset="0"/>
                <a:ea typeface="Calibri" panose="020F0502020204030204" pitchFamily="34" charset="-122"/>
                <a:cs typeface="Calibri" panose="020F0502020204030204" pitchFamily="34" charset="-120"/>
              </a:rPr>
              <a:t>2</a:t>
            </a:r>
            <a:endParaRPr lang="en-US" sz="1600" dirty="0"/>
          </a:p>
        </p:txBody>
      </p:sp>
      <p:sp>
        <p:nvSpPr>
          <p:cNvPr id="12" name="Text 10"/>
          <p:cNvSpPr/>
          <p:nvPr/>
        </p:nvSpPr>
        <p:spPr>
          <a:xfrm>
            <a:off x="1463040" y="2798064"/>
            <a:ext cx="5852160" cy="365760"/>
          </a:xfrm>
          <a:prstGeom prst="rect">
            <a:avLst/>
          </a:prstGeom>
          <a:noFill/>
        </p:spPr>
        <p:txBody>
          <a:bodyPr wrap="square" lIns="0" tIns="0" rIns="0" bIns="0" rtlCol="0" anchor="ctr"/>
          <a:lstStyle/>
          <a:p>
            <a:pPr marL="0" indent="0">
              <a:buNone/>
            </a:pPr>
            <a:r>
              <a:rPr lang="en-US" sz="1450" b="1" dirty="0">
                <a:solidFill>
                  <a:srgbClr val="FFFFFF"/>
                </a:solidFill>
                <a:latin typeface="Calibri" panose="020F0502020204030204" pitchFamily="34" charset="0"/>
                <a:ea typeface="Calibri" panose="020F0502020204030204" pitchFamily="34" charset="-122"/>
                <a:cs typeface="Calibri" panose="020F0502020204030204" pitchFamily="34" charset="-120"/>
              </a:rPr>
              <a:t>Moteur de collecte &amp; détection</a:t>
            </a:r>
            <a:endParaRPr lang="en-US" sz="1450" dirty="0"/>
          </a:p>
        </p:txBody>
      </p:sp>
      <p:sp>
        <p:nvSpPr>
          <p:cNvPr id="13" name="Text 11"/>
          <p:cNvSpPr/>
          <p:nvPr/>
        </p:nvSpPr>
        <p:spPr>
          <a:xfrm>
            <a:off x="1463040" y="3154680"/>
            <a:ext cx="5943600" cy="365760"/>
          </a:xfrm>
          <a:prstGeom prst="rect">
            <a:avLst/>
          </a:prstGeom>
          <a:noFill/>
        </p:spPr>
        <p:txBody>
          <a:bodyPr wrap="square" lIns="0" tIns="0" rIns="0" bIns="0" rtlCol="0" anchor="ctr"/>
          <a:lstStyle/>
          <a:p>
            <a:pPr marL="0" indent="0">
              <a:buNone/>
            </a:pPr>
            <a:r>
              <a:rPr lang="en-US" sz="1100" dirty="0">
                <a:solidFill>
                  <a:srgbClr val="9FB3A6"/>
                </a:solidFill>
                <a:latin typeface="Calibri" panose="020F0502020204030204" pitchFamily="34" charset="0"/>
                <a:ea typeface="Calibri" panose="020F0502020204030204" pitchFamily="34" charset="-122"/>
                <a:cs typeface="Calibri" panose="020F0502020204030204" pitchFamily="34" charset="-120"/>
              </a:rPr>
              <a:t>hips.py — lecture continue, corrélation, filtrage, règles de détection</a:t>
            </a:r>
            <a:endParaRPr lang="en-US" sz="1100" dirty="0"/>
          </a:p>
        </p:txBody>
      </p:sp>
      <p:sp>
        <p:nvSpPr>
          <p:cNvPr id="14" name="Shape 12"/>
          <p:cNvSpPr/>
          <p:nvPr/>
        </p:nvSpPr>
        <p:spPr>
          <a:xfrm>
            <a:off x="548640" y="3758184"/>
            <a:ext cx="6949440" cy="868680"/>
          </a:xfrm>
          <a:prstGeom prst="roundRect">
            <a:avLst>
              <a:gd name="adj" fmla="val 7368"/>
            </a:avLst>
          </a:prstGeom>
          <a:solidFill>
            <a:srgbClr val="13261A"/>
          </a:solidFill>
          <a:ln w="12700">
            <a:solidFill>
              <a:srgbClr val="1F3D28"/>
            </a:solidFill>
            <a:prstDash val="solid"/>
          </a:ln>
        </p:spPr>
      </p:sp>
      <p:sp>
        <p:nvSpPr>
          <p:cNvPr id="15" name="Shape 13"/>
          <p:cNvSpPr/>
          <p:nvPr/>
        </p:nvSpPr>
        <p:spPr>
          <a:xfrm>
            <a:off x="777240" y="3941064"/>
            <a:ext cx="502920" cy="502920"/>
          </a:xfrm>
          <a:prstGeom prst="ellipse">
            <a:avLst/>
          </a:prstGeom>
          <a:solidFill>
            <a:srgbClr val="2E7D32"/>
          </a:solidFill>
        </p:spPr>
      </p:sp>
      <p:sp>
        <p:nvSpPr>
          <p:cNvPr id="16" name="Text 14"/>
          <p:cNvSpPr/>
          <p:nvPr/>
        </p:nvSpPr>
        <p:spPr>
          <a:xfrm>
            <a:off x="777240" y="3941064"/>
            <a:ext cx="502920" cy="502920"/>
          </a:xfrm>
          <a:prstGeom prst="rect">
            <a:avLst/>
          </a:prstGeom>
          <a:noFill/>
        </p:spPr>
        <p:txBody>
          <a:bodyPr wrap="square" lIns="0" tIns="0" rIns="0" bIns="0" rtlCol="0" anchor="ctr"/>
          <a:lstStyle/>
          <a:p>
            <a:pPr marL="0" indent="0" algn="ctr">
              <a:buNone/>
            </a:pPr>
            <a:r>
              <a:rPr lang="en-US" sz="1600" b="1" dirty="0">
                <a:solidFill>
                  <a:srgbClr val="FFFFFF"/>
                </a:solidFill>
                <a:latin typeface="Calibri" panose="020F0502020204030204" pitchFamily="34" charset="0"/>
                <a:ea typeface="Calibri" panose="020F0502020204030204" pitchFamily="34" charset="-122"/>
                <a:cs typeface="Calibri" panose="020F0502020204030204" pitchFamily="34" charset="-120"/>
              </a:rPr>
              <a:t>3</a:t>
            </a:r>
            <a:endParaRPr lang="en-US" sz="1600" dirty="0"/>
          </a:p>
        </p:txBody>
      </p:sp>
      <p:sp>
        <p:nvSpPr>
          <p:cNvPr id="17" name="Text 15"/>
          <p:cNvSpPr/>
          <p:nvPr/>
        </p:nvSpPr>
        <p:spPr>
          <a:xfrm>
            <a:off x="1463040" y="3831336"/>
            <a:ext cx="5852160" cy="365760"/>
          </a:xfrm>
          <a:prstGeom prst="rect">
            <a:avLst/>
          </a:prstGeom>
          <a:noFill/>
        </p:spPr>
        <p:txBody>
          <a:bodyPr wrap="square" lIns="0" tIns="0" rIns="0" bIns="0" rtlCol="0" anchor="ctr"/>
          <a:lstStyle/>
          <a:p>
            <a:pPr marL="0" indent="0">
              <a:buNone/>
            </a:pPr>
            <a:r>
              <a:rPr lang="en-US" sz="1450" b="1" dirty="0">
                <a:solidFill>
                  <a:srgbClr val="FFFFFF"/>
                </a:solidFill>
                <a:latin typeface="Calibri" panose="020F0502020204030204" pitchFamily="34" charset="0"/>
                <a:ea typeface="Calibri" panose="020F0502020204030204" pitchFamily="34" charset="-122"/>
                <a:cs typeface="Calibri" panose="020F0502020204030204" pitchFamily="34" charset="-120"/>
              </a:rPr>
              <a:t>Module d'actions automatiques</a:t>
            </a:r>
            <a:endParaRPr lang="en-US" sz="1450" dirty="0"/>
          </a:p>
        </p:txBody>
      </p:sp>
      <p:sp>
        <p:nvSpPr>
          <p:cNvPr id="18" name="Text 16"/>
          <p:cNvSpPr/>
          <p:nvPr/>
        </p:nvSpPr>
        <p:spPr>
          <a:xfrm>
            <a:off x="1463040" y="4187952"/>
            <a:ext cx="5943600" cy="365760"/>
          </a:xfrm>
          <a:prstGeom prst="rect">
            <a:avLst/>
          </a:prstGeom>
          <a:noFill/>
        </p:spPr>
        <p:txBody>
          <a:bodyPr wrap="square" lIns="0" tIns="0" rIns="0" bIns="0" rtlCol="0" anchor="ctr"/>
          <a:lstStyle/>
          <a:p>
            <a:pPr marL="0" indent="0">
              <a:buNone/>
            </a:pPr>
            <a:r>
              <a:rPr lang="en-US" sz="1100" dirty="0">
                <a:solidFill>
                  <a:srgbClr val="9FB3A6"/>
                </a:solidFill>
                <a:latin typeface="Calibri" panose="020F0502020204030204" pitchFamily="34" charset="0"/>
                <a:ea typeface="Calibri" panose="020F0502020204030204" pitchFamily="34" charset="-122"/>
                <a:cs typeface="Calibri" panose="020F0502020204030204" pitchFamily="34" charset="-120"/>
              </a:rPr>
              <a:t>actions.py — blocage réseau (iptables), arrêt de processus (kill)</a:t>
            </a:r>
            <a:endParaRPr lang="en-US" sz="1100" dirty="0"/>
          </a:p>
        </p:txBody>
      </p:sp>
      <p:sp>
        <p:nvSpPr>
          <p:cNvPr id="19" name="Shape 17"/>
          <p:cNvSpPr/>
          <p:nvPr/>
        </p:nvSpPr>
        <p:spPr>
          <a:xfrm>
            <a:off x="548640" y="4791456"/>
            <a:ext cx="6949440" cy="868680"/>
          </a:xfrm>
          <a:prstGeom prst="roundRect">
            <a:avLst>
              <a:gd name="adj" fmla="val 7368"/>
            </a:avLst>
          </a:prstGeom>
          <a:solidFill>
            <a:srgbClr val="13261A"/>
          </a:solidFill>
          <a:ln w="12700">
            <a:solidFill>
              <a:srgbClr val="1F3D28"/>
            </a:solidFill>
            <a:prstDash val="solid"/>
          </a:ln>
        </p:spPr>
      </p:sp>
      <p:sp>
        <p:nvSpPr>
          <p:cNvPr id="20" name="Shape 18"/>
          <p:cNvSpPr/>
          <p:nvPr/>
        </p:nvSpPr>
        <p:spPr>
          <a:xfrm>
            <a:off x="777240" y="4974336"/>
            <a:ext cx="502920" cy="502920"/>
          </a:xfrm>
          <a:prstGeom prst="ellipse">
            <a:avLst/>
          </a:prstGeom>
          <a:solidFill>
            <a:srgbClr val="2E7D32"/>
          </a:solidFill>
        </p:spPr>
      </p:sp>
      <p:sp>
        <p:nvSpPr>
          <p:cNvPr id="21" name="Text 19"/>
          <p:cNvSpPr/>
          <p:nvPr/>
        </p:nvSpPr>
        <p:spPr>
          <a:xfrm>
            <a:off x="777240" y="4974336"/>
            <a:ext cx="502920" cy="502920"/>
          </a:xfrm>
          <a:prstGeom prst="rect">
            <a:avLst/>
          </a:prstGeom>
          <a:noFill/>
        </p:spPr>
        <p:txBody>
          <a:bodyPr wrap="square" lIns="0" tIns="0" rIns="0" bIns="0" rtlCol="0" anchor="ctr"/>
          <a:lstStyle/>
          <a:p>
            <a:pPr marL="0" indent="0" algn="ctr">
              <a:buNone/>
            </a:pPr>
            <a:r>
              <a:rPr lang="en-US" sz="1600" b="1" dirty="0">
                <a:solidFill>
                  <a:srgbClr val="FFFFFF"/>
                </a:solidFill>
                <a:latin typeface="Calibri" panose="020F0502020204030204" pitchFamily="34" charset="0"/>
                <a:ea typeface="Calibri" panose="020F0502020204030204" pitchFamily="34" charset="-122"/>
                <a:cs typeface="Calibri" panose="020F0502020204030204" pitchFamily="34" charset="-120"/>
              </a:rPr>
              <a:t>4</a:t>
            </a:r>
            <a:endParaRPr lang="en-US" sz="1600" dirty="0"/>
          </a:p>
        </p:txBody>
      </p:sp>
      <p:sp>
        <p:nvSpPr>
          <p:cNvPr id="22" name="Text 20"/>
          <p:cNvSpPr/>
          <p:nvPr/>
        </p:nvSpPr>
        <p:spPr>
          <a:xfrm>
            <a:off x="1463040" y="4864608"/>
            <a:ext cx="5852160" cy="365760"/>
          </a:xfrm>
          <a:prstGeom prst="rect">
            <a:avLst/>
          </a:prstGeom>
          <a:noFill/>
        </p:spPr>
        <p:txBody>
          <a:bodyPr wrap="square" lIns="0" tIns="0" rIns="0" bIns="0" rtlCol="0" anchor="ctr"/>
          <a:lstStyle/>
          <a:p>
            <a:pPr marL="0" indent="0">
              <a:buNone/>
            </a:pPr>
            <a:r>
              <a:rPr lang="en-US" sz="1450" b="1" dirty="0">
                <a:solidFill>
                  <a:srgbClr val="FFFFFF"/>
                </a:solidFill>
                <a:latin typeface="Calibri" panose="020F0502020204030204" pitchFamily="34" charset="0"/>
                <a:ea typeface="Calibri" panose="020F0502020204030204" pitchFamily="34" charset="-122"/>
                <a:cs typeface="Calibri" panose="020F0502020204030204" pitchFamily="34" charset="-120"/>
              </a:rPr>
              <a:t>Interface web (dashboard)</a:t>
            </a:r>
            <a:endParaRPr lang="en-US" sz="1450" dirty="0"/>
          </a:p>
        </p:txBody>
      </p:sp>
      <p:sp>
        <p:nvSpPr>
          <p:cNvPr id="23" name="Text 21"/>
          <p:cNvSpPr/>
          <p:nvPr/>
        </p:nvSpPr>
        <p:spPr>
          <a:xfrm>
            <a:off x="1463040" y="5221224"/>
            <a:ext cx="5943600" cy="365760"/>
          </a:xfrm>
          <a:prstGeom prst="rect">
            <a:avLst/>
          </a:prstGeom>
          <a:noFill/>
        </p:spPr>
        <p:txBody>
          <a:bodyPr wrap="square" lIns="0" tIns="0" rIns="0" bIns="0" rtlCol="0" anchor="ctr"/>
          <a:lstStyle/>
          <a:p>
            <a:pPr marL="0" indent="0">
              <a:buNone/>
            </a:pPr>
            <a:r>
              <a:rPr lang="en-US" sz="1100" dirty="0">
                <a:solidFill>
                  <a:srgbClr val="9FB3A6"/>
                </a:solidFill>
                <a:latin typeface="Calibri" panose="020F0502020204030204" pitchFamily="34" charset="0"/>
                <a:ea typeface="Calibri" panose="020F0502020204030204" pitchFamily="34" charset="-122"/>
                <a:cs typeface="Calibri" panose="020F0502020204030204" pitchFamily="34" charset="-120"/>
              </a:rPr>
              <a:t>Flask — alertes en temps réel, historique, détail par alerte</a:t>
            </a:r>
            <a:endParaRPr lang="en-US" sz="1100" dirty="0"/>
          </a:p>
        </p:txBody>
      </p:sp>
      <p:sp>
        <p:nvSpPr>
          <p:cNvPr id="24" name="Shape 22"/>
          <p:cNvSpPr/>
          <p:nvPr/>
        </p:nvSpPr>
        <p:spPr>
          <a:xfrm>
            <a:off x="7818120" y="1691640"/>
            <a:ext cx="3840480" cy="4133088"/>
          </a:xfrm>
          <a:prstGeom prst="roundRect">
            <a:avLst>
              <a:gd name="adj" fmla="val 1905"/>
            </a:avLst>
          </a:prstGeom>
          <a:solidFill>
            <a:srgbClr val="0A1710"/>
          </a:solidFill>
          <a:ln w="12700">
            <a:solidFill>
              <a:srgbClr val="1F3D28"/>
            </a:solidFill>
            <a:prstDash val="solid"/>
          </a:ln>
        </p:spPr>
      </p:sp>
      <p:sp>
        <p:nvSpPr>
          <p:cNvPr id="25" name="Text 23"/>
          <p:cNvSpPr/>
          <p:nvPr/>
        </p:nvSpPr>
        <p:spPr>
          <a:xfrm>
            <a:off x="8092440" y="1920240"/>
            <a:ext cx="3291840" cy="320040"/>
          </a:xfrm>
          <a:prstGeom prst="rect">
            <a:avLst/>
          </a:prstGeom>
          <a:noFill/>
        </p:spPr>
        <p:txBody>
          <a:bodyPr wrap="square" lIns="0" tIns="0" rIns="0" bIns="0" rtlCol="0" anchor="ctr"/>
          <a:lstStyle/>
          <a:p>
            <a:pPr marL="0" indent="0">
              <a:buNone/>
            </a:pPr>
            <a:r>
              <a:rPr lang="en-US" sz="1100" b="1" kern="0" spc="150" dirty="0">
                <a:solidFill>
                  <a:srgbClr val="4CAF50"/>
                </a:solidFill>
                <a:latin typeface="Calibri" panose="020F0502020204030204" pitchFamily="34" charset="0"/>
                <a:ea typeface="Calibri" panose="020F0502020204030204" pitchFamily="34" charset="-122"/>
                <a:cs typeface="Calibri" panose="020F0502020204030204" pitchFamily="34" charset="-120"/>
              </a:rPr>
              <a:t>FLUX DE TRAITEMENT</a:t>
            </a:r>
            <a:endParaRPr lang="en-US" sz="1100" dirty="0"/>
          </a:p>
        </p:txBody>
      </p:sp>
      <p:sp>
        <p:nvSpPr>
          <p:cNvPr id="26" name="Shape 24"/>
          <p:cNvSpPr/>
          <p:nvPr/>
        </p:nvSpPr>
        <p:spPr>
          <a:xfrm>
            <a:off x="8092440" y="2331720"/>
            <a:ext cx="3291840" cy="402336"/>
          </a:xfrm>
          <a:prstGeom prst="roundRect">
            <a:avLst>
              <a:gd name="adj" fmla="val 68182"/>
            </a:avLst>
          </a:prstGeom>
          <a:solidFill>
            <a:srgbClr val="13261A"/>
          </a:solidFill>
        </p:spPr>
      </p:sp>
      <p:sp>
        <p:nvSpPr>
          <p:cNvPr id="27" name="Text 25"/>
          <p:cNvSpPr/>
          <p:nvPr/>
        </p:nvSpPr>
        <p:spPr>
          <a:xfrm>
            <a:off x="8092440" y="2331720"/>
            <a:ext cx="3291840" cy="402336"/>
          </a:xfrm>
          <a:prstGeom prst="rect">
            <a:avLst/>
          </a:prstGeom>
          <a:noFill/>
        </p:spPr>
        <p:txBody>
          <a:bodyPr wrap="square" lIns="0" tIns="0" rIns="0" bIns="0" rtlCol="0" anchor="ctr"/>
          <a:lstStyle/>
          <a:p>
            <a:pPr marL="0" indent="0" algn="ctr">
              <a:buNone/>
            </a:pPr>
            <a:r>
              <a:rPr lang="en-US" sz="1050" dirty="0">
                <a:solidFill>
                  <a:srgbClr val="FFFFFF"/>
                </a:solidFill>
                <a:latin typeface="Calibri" panose="020F0502020204030204" pitchFamily="34" charset="0"/>
                <a:ea typeface="Calibri" panose="020F0502020204030204" pitchFamily="34" charset="-122"/>
                <a:cs typeface="Calibri" panose="020F0502020204030204" pitchFamily="34" charset="-120"/>
              </a:rPr>
              <a:t>Événement système</a:t>
            </a:r>
            <a:endParaRPr lang="en-US" sz="1050" dirty="0"/>
          </a:p>
        </p:txBody>
      </p:sp>
      <p:sp>
        <p:nvSpPr>
          <p:cNvPr id="28" name="Text 26"/>
          <p:cNvSpPr/>
          <p:nvPr/>
        </p:nvSpPr>
        <p:spPr>
          <a:xfrm>
            <a:off x="8092440" y="2734056"/>
            <a:ext cx="3291840" cy="137160"/>
          </a:xfrm>
          <a:prstGeom prst="rect">
            <a:avLst/>
          </a:prstGeom>
          <a:noFill/>
        </p:spPr>
        <p:txBody>
          <a:bodyPr wrap="square" lIns="0" tIns="0" rIns="0" bIns="0" rtlCol="0" anchor="ctr"/>
          <a:lstStyle/>
          <a:p>
            <a:pPr marL="0" indent="0" algn="ctr">
              <a:buNone/>
            </a:pPr>
            <a:r>
              <a:rPr lang="en-US" sz="1100" dirty="0">
                <a:solidFill>
                  <a:srgbClr val="8BC9A0"/>
                </a:solidFill>
                <a:latin typeface="Calibri" panose="020F0502020204030204" pitchFamily="34" charset="0"/>
                <a:ea typeface="Calibri" panose="020F0502020204030204" pitchFamily="34" charset="-122"/>
                <a:cs typeface="Calibri" panose="020F0502020204030204" pitchFamily="34" charset="-120"/>
              </a:rPr>
              <a:t>↓</a:t>
            </a:r>
            <a:endParaRPr lang="en-US" sz="1100" dirty="0"/>
          </a:p>
        </p:txBody>
      </p:sp>
      <p:sp>
        <p:nvSpPr>
          <p:cNvPr id="29" name="Shape 27"/>
          <p:cNvSpPr/>
          <p:nvPr/>
        </p:nvSpPr>
        <p:spPr>
          <a:xfrm>
            <a:off x="8092440" y="2880360"/>
            <a:ext cx="3291840" cy="402336"/>
          </a:xfrm>
          <a:prstGeom prst="roundRect">
            <a:avLst>
              <a:gd name="adj" fmla="val 68182"/>
            </a:avLst>
          </a:prstGeom>
          <a:solidFill>
            <a:srgbClr val="13261A"/>
          </a:solidFill>
        </p:spPr>
      </p:sp>
      <p:sp>
        <p:nvSpPr>
          <p:cNvPr id="30" name="Text 28"/>
          <p:cNvSpPr/>
          <p:nvPr/>
        </p:nvSpPr>
        <p:spPr>
          <a:xfrm>
            <a:off x="8092440" y="2880360"/>
            <a:ext cx="3291840" cy="402336"/>
          </a:xfrm>
          <a:prstGeom prst="rect">
            <a:avLst/>
          </a:prstGeom>
          <a:noFill/>
        </p:spPr>
        <p:txBody>
          <a:bodyPr wrap="square" lIns="0" tIns="0" rIns="0" bIns="0" rtlCol="0" anchor="ctr"/>
          <a:lstStyle/>
          <a:p>
            <a:pPr marL="0" indent="0" algn="ctr">
              <a:buNone/>
            </a:pPr>
            <a:r>
              <a:rPr lang="en-US" sz="1050" dirty="0">
                <a:solidFill>
                  <a:srgbClr val="FFFFFF"/>
                </a:solidFill>
                <a:latin typeface="Calibri" panose="020F0502020204030204" pitchFamily="34" charset="0"/>
                <a:ea typeface="Calibri" panose="020F0502020204030204" pitchFamily="34" charset="-122"/>
                <a:cs typeface="Calibri" panose="020F0502020204030204" pitchFamily="34" charset="-120"/>
              </a:rPr>
              <a:t>Journal (audit.log / auth.log)</a:t>
            </a:r>
            <a:endParaRPr lang="en-US" sz="1050" dirty="0"/>
          </a:p>
        </p:txBody>
      </p:sp>
      <p:sp>
        <p:nvSpPr>
          <p:cNvPr id="31" name="Text 29"/>
          <p:cNvSpPr/>
          <p:nvPr/>
        </p:nvSpPr>
        <p:spPr>
          <a:xfrm>
            <a:off x="8092440" y="3282696"/>
            <a:ext cx="3291840" cy="137160"/>
          </a:xfrm>
          <a:prstGeom prst="rect">
            <a:avLst/>
          </a:prstGeom>
          <a:noFill/>
        </p:spPr>
        <p:txBody>
          <a:bodyPr wrap="square" lIns="0" tIns="0" rIns="0" bIns="0" rtlCol="0" anchor="ctr"/>
          <a:lstStyle/>
          <a:p>
            <a:pPr marL="0" indent="0" algn="ctr">
              <a:buNone/>
            </a:pPr>
            <a:r>
              <a:rPr lang="en-US" sz="1100" dirty="0">
                <a:solidFill>
                  <a:srgbClr val="8BC9A0"/>
                </a:solidFill>
                <a:latin typeface="Calibri" panose="020F0502020204030204" pitchFamily="34" charset="0"/>
                <a:ea typeface="Calibri" panose="020F0502020204030204" pitchFamily="34" charset="-122"/>
                <a:cs typeface="Calibri" panose="020F0502020204030204" pitchFamily="34" charset="-120"/>
              </a:rPr>
              <a:t>↓</a:t>
            </a:r>
            <a:endParaRPr lang="en-US" sz="1100" dirty="0"/>
          </a:p>
        </p:txBody>
      </p:sp>
      <p:sp>
        <p:nvSpPr>
          <p:cNvPr id="32" name="Shape 30"/>
          <p:cNvSpPr/>
          <p:nvPr/>
        </p:nvSpPr>
        <p:spPr>
          <a:xfrm>
            <a:off x="8092440" y="3429000"/>
            <a:ext cx="3291840" cy="402336"/>
          </a:xfrm>
          <a:prstGeom prst="roundRect">
            <a:avLst>
              <a:gd name="adj" fmla="val 68182"/>
            </a:avLst>
          </a:prstGeom>
          <a:solidFill>
            <a:srgbClr val="13261A"/>
          </a:solidFill>
        </p:spPr>
      </p:sp>
      <p:sp>
        <p:nvSpPr>
          <p:cNvPr id="33" name="Text 31"/>
          <p:cNvSpPr/>
          <p:nvPr/>
        </p:nvSpPr>
        <p:spPr>
          <a:xfrm>
            <a:off x="8092440" y="3429000"/>
            <a:ext cx="3291840" cy="402336"/>
          </a:xfrm>
          <a:prstGeom prst="rect">
            <a:avLst/>
          </a:prstGeom>
          <a:noFill/>
        </p:spPr>
        <p:txBody>
          <a:bodyPr wrap="square" lIns="0" tIns="0" rIns="0" bIns="0" rtlCol="0" anchor="ctr"/>
          <a:lstStyle/>
          <a:p>
            <a:pPr marL="0" indent="0" algn="ctr">
              <a:buNone/>
            </a:pPr>
            <a:r>
              <a:rPr lang="en-US" sz="1050" dirty="0">
                <a:solidFill>
                  <a:srgbClr val="FFFFFF"/>
                </a:solidFill>
                <a:latin typeface="Calibri" panose="020F0502020204030204" pitchFamily="34" charset="0"/>
                <a:ea typeface="Calibri" panose="020F0502020204030204" pitchFamily="34" charset="-122"/>
                <a:cs typeface="Calibri" panose="020F0502020204030204" pitchFamily="34" charset="-120"/>
              </a:rPr>
              <a:t>Lecture continue (hips.py)</a:t>
            </a:r>
            <a:endParaRPr lang="en-US" sz="1050" dirty="0"/>
          </a:p>
        </p:txBody>
      </p:sp>
      <p:sp>
        <p:nvSpPr>
          <p:cNvPr id="34" name="Text 32"/>
          <p:cNvSpPr/>
          <p:nvPr/>
        </p:nvSpPr>
        <p:spPr>
          <a:xfrm>
            <a:off x="8092440" y="3831336"/>
            <a:ext cx="3291840" cy="137160"/>
          </a:xfrm>
          <a:prstGeom prst="rect">
            <a:avLst/>
          </a:prstGeom>
          <a:noFill/>
        </p:spPr>
        <p:txBody>
          <a:bodyPr wrap="square" lIns="0" tIns="0" rIns="0" bIns="0" rtlCol="0" anchor="ctr"/>
          <a:lstStyle/>
          <a:p>
            <a:pPr marL="0" indent="0" algn="ctr">
              <a:buNone/>
            </a:pPr>
            <a:r>
              <a:rPr lang="en-US" sz="1100" dirty="0">
                <a:solidFill>
                  <a:srgbClr val="8BC9A0"/>
                </a:solidFill>
                <a:latin typeface="Calibri" panose="020F0502020204030204" pitchFamily="34" charset="0"/>
                <a:ea typeface="Calibri" panose="020F0502020204030204" pitchFamily="34" charset="-122"/>
                <a:cs typeface="Calibri" panose="020F0502020204030204" pitchFamily="34" charset="-120"/>
              </a:rPr>
              <a:t>↓</a:t>
            </a:r>
            <a:endParaRPr lang="en-US" sz="1100" dirty="0"/>
          </a:p>
        </p:txBody>
      </p:sp>
      <p:sp>
        <p:nvSpPr>
          <p:cNvPr id="35" name="Shape 33"/>
          <p:cNvSpPr/>
          <p:nvPr/>
        </p:nvSpPr>
        <p:spPr>
          <a:xfrm>
            <a:off x="8092440" y="3977640"/>
            <a:ext cx="3291840" cy="402336"/>
          </a:xfrm>
          <a:prstGeom prst="roundRect">
            <a:avLst>
              <a:gd name="adj" fmla="val 68182"/>
            </a:avLst>
          </a:prstGeom>
          <a:solidFill>
            <a:srgbClr val="13261A"/>
          </a:solidFill>
        </p:spPr>
      </p:sp>
      <p:sp>
        <p:nvSpPr>
          <p:cNvPr id="36" name="Text 34"/>
          <p:cNvSpPr/>
          <p:nvPr/>
        </p:nvSpPr>
        <p:spPr>
          <a:xfrm>
            <a:off x="8092440" y="3977640"/>
            <a:ext cx="3291840" cy="402336"/>
          </a:xfrm>
          <a:prstGeom prst="rect">
            <a:avLst/>
          </a:prstGeom>
          <a:noFill/>
        </p:spPr>
        <p:txBody>
          <a:bodyPr wrap="square" lIns="0" tIns="0" rIns="0" bIns="0" rtlCol="0" anchor="ctr"/>
          <a:lstStyle/>
          <a:p>
            <a:pPr marL="0" indent="0" algn="ctr">
              <a:buNone/>
            </a:pPr>
            <a:r>
              <a:rPr lang="en-US" sz="1050" dirty="0">
                <a:solidFill>
                  <a:srgbClr val="FFFFFF"/>
                </a:solidFill>
                <a:latin typeface="Calibri" panose="020F0502020204030204" pitchFamily="34" charset="0"/>
                <a:ea typeface="Calibri" panose="020F0502020204030204" pitchFamily="34" charset="-122"/>
                <a:cs typeface="Calibri" panose="020F0502020204030204" pitchFamily="34" charset="-120"/>
              </a:rPr>
              <a:t>Corrélation + filtrage</a:t>
            </a:r>
            <a:endParaRPr lang="en-US" sz="1050" dirty="0"/>
          </a:p>
        </p:txBody>
      </p:sp>
      <p:sp>
        <p:nvSpPr>
          <p:cNvPr id="37" name="Text 35"/>
          <p:cNvSpPr/>
          <p:nvPr/>
        </p:nvSpPr>
        <p:spPr>
          <a:xfrm>
            <a:off x="8092440" y="4379976"/>
            <a:ext cx="3291840" cy="137160"/>
          </a:xfrm>
          <a:prstGeom prst="rect">
            <a:avLst/>
          </a:prstGeom>
          <a:noFill/>
        </p:spPr>
        <p:txBody>
          <a:bodyPr wrap="square" lIns="0" tIns="0" rIns="0" bIns="0" rtlCol="0" anchor="ctr"/>
          <a:lstStyle/>
          <a:p>
            <a:pPr marL="0" indent="0" algn="ctr">
              <a:buNone/>
            </a:pPr>
            <a:r>
              <a:rPr lang="en-US" sz="1100" dirty="0">
                <a:solidFill>
                  <a:srgbClr val="8BC9A0"/>
                </a:solidFill>
                <a:latin typeface="Calibri" panose="020F0502020204030204" pitchFamily="34" charset="0"/>
                <a:ea typeface="Calibri" panose="020F0502020204030204" pitchFamily="34" charset="-122"/>
                <a:cs typeface="Calibri" panose="020F0502020204030204" pitchFamily="34" charset="-120"/>
              </a:rPr>
              <a:t>↓</a:t>
            </a:r>
            <a:endParaRPr lang="en-US" sz="1100" dirty="0"/>
          </a:p>
        </p:txBody>
      </p:sp>
      <p:sp>
        <p:nvSpPr>
          <p:cNvPr id="38" name="Shape 36"/>
          <p:cNvSpPr/>
          <p:nvPr/>
        </p:nvSpPr>
        <p:spPr>
          <a:xfrm>
            <a:off x="8092440" y="4526280"/>
            <a:ext cx="3291840" cy="402336"/>
          </a:xfrm>
          <a:prstGeom prst="roundRect">
            <a:avLst>
              <a:gd name="adj" fmla="val 68182"/>
            </a:avLst>
          </a:prstGeom>
          <a:solidFill>
            <a:srgbClr val="13261A"/>
          </a:solidFill>
        </p:spPr>
      </p:sp>
      <p:sp>
        <p:nvSpPr>
          <p:cNvPr id="39" name="Text 37"/>
          <p:cNvSpPr/>
          <p:nvPr/>
        </p:nvSpPr>
        <p:spPr>
          <a:xfrm>
            <a:off x="8092440" y="4526280"/>
            <a:ext cx="3291840" cy="402336"/>
          </a:xfrm>
          <a:prstGeom prst="rect">
            <a:avLst/>
          </a:prstGeom>
          <a:noFill/>
        </p:spPr>
        <p:txBody>
          <a:bodyPr wrap="square" lIns="0" tIns="0" rIns="0" bIns="0" rtlCol="0" anchor="ctr"/>
          <a:lstStyle/>
          <a:p>
            <a:pPr marL="0" indent="0" algn="ctr">
              <a:buNone/>
            </a:pPr>
            <a:r>
              <a:rPr lang="en-US" sz="1050" dirty="0">
                <a:solidFill>
                  <a:srgbClr val="FFFFFF"/>
                </a:solidFill>
                <a:latin typeface="Calibri" panose="020F0502020204030204" pitchFamily="34" charset="0"/>
                <a:ea typeface="Calibri" panose="020F0502020204030204" pitchFamily="34" charset="-122"/>
                <a:cs typeface="Calibri" panose="020F0502020204030204" pitchFamily="34" charset="-120"/>
              </a:rPr>
              <a:t>Décision : alerte / action</a:t>
            </a:r>
            <a:endParaRPr lang="en-US" sz="1050" dirty="0"/>
          </a:p>
        </p:txBody>
      </p:sp>
      <p:sp>
        <p:nvSpPr>
          <p:cNvPr id="40" name="Text 38"/>
          <p:cNvSpPr/>
          <p:nvPr/>
        </p:nvSpPr>
        <p:spPr>
          <a:xfrm>
            <a:off x="8092440" y="4928616"/>
            <a:ext cx="3291840" cy="137160"/>
          </a:xfrm>
          <a:prstGeom prst="rect">
            <a:avLst/>
          </a:prstGeom>
          <a:noFill/>
        </p:spPr>
        <p:txBody>
          <a:bodyPr wrap="square" lIns="0" tIns="0" rIns="0" bIns="0" rtlCol="0" anchor="ctr"/>
          <a:lstStyle/>
          <a:p>
            <a:pPr marL="0" indent="0" algn="ctr">
              <a:buNone/>
            </a:pPr>
            <a:r>
              <a:rPr lang="en-US" sz="1100" dirty="0">
                <a:solidFill>
                  <a:srgbClr val="8BC9A0"/>
                </a:solidFill>
                <a:latin typeface="Calibri" panose="020F0502020204030204" pitchFamily="34" charset="0"/>
                <a:ea typeface="Calibri" panose="020F0502020204030204" pitchFamily="34" charset="-122"/>
                <a:cs typeface="Calibri" panose="020F0502020204030204" pitchFamily="34" charset="-120"/>
              </a:rPr>
              <a:t>↓</a:t>
            </a:r>
            <a:endParaRPr lang="en-US" sz="1100" dirty="0"/>
          </a:p>
        </p:txBody>
      </p:sp>
      <p:sp>
        <p:nvSpPr>
          <p:cNvPr id="41" name="Shape 39"/>
          <p:cNvSpPr/>
          <p:nvPr/>
        </p:nvSpPr>
        <p:spPr>
          <a:xfrm>
            <a:off x="8092440" y="5074920"/>
            <a:ext cx="3291840" cy="402336"/>
          </a:xfrm>
          <a:prstGeom prst="roundRect">
            <a:avLst>
              <a:gd name="adj" fmla="val 68182"/>
            </a:avLst>
          </a:prstGeom>
          <a:solidFill>
            <a:srgbClr val="13261A"/>
          </a:solidFill>
        </p:spPr>
      </p:sp>
      <p:sp>
        <p:nvSpPr>
          <p:cNvPr id="42" name="Text 40"/>
          <p:cNvSpPr/>
          <p:nvPr/>
        </p:nvSpPr>
        <p:spPr>
          <a:xfrm>
            <a:off x="8092440" y="5074920"/>
            <a:ext cx="3291840" cy="402336"/>
          </a:xfrm>
          <a:prstGeom prst="rect">
            <a:avLst/>
          </a:prstGeom>
          <a:noFill/>
        </p:spPr>
        <p:txBody>
          <a:bodyPr wrap="square" lIns="0" tIns="0" rIns="0" bIns="0" rtlCol="0" anchor="ctr"/>
          <a:lstStyle/>
          <a:p>
            <a:pPr marL="0" indent="0" algn="ctr">
              <a:buNone/>
            </a:pPr>
            <a:r>
              <a:rPr lang="en-US" sz="1050" dirty="0">
                <a:solidFill>
                  <a:srgbClr val="FFFFFF"/>
                </a:solidFill>
                <a:latin typeface="Calibri" panose="020F0502020204030204" pitchFamily="34" charset="0"/>
                <a:ea typeface="Calibri" panose="020F0502020204030204" pitchFamily="34" charset="-122"/>
                <a:cs typeface="Calibri" panose="020F0502020204030204" pitchFamily="34" charset="-120"/>
              </a:rPr>
              <a:t>alerts.jsonl</a:t>
            </a:r>
            <a:endParaRPr lang="en-US" sz="1050" dirty="0"/>
          </a:p>
        </p:txBody>
      </p:sp>
      <p:sp>
        <p:nvSpPr>
          <p:cNvPr id="43" name="Text 41"/>
          <p:cNvSpPr/>
          <p:nvPr/>
        </p:nvSpPr>
        <p:spPr>
          <a:xfrm>
            <a:off x="8092440" y="5477256"/>
            <a:ext cx="3291840" cy="137160"/>
          </a:xfrm>
          <a:prstGeom prst="rect">
            <a:avLst/>
          </a:prstGeom>
          <a:noFill/>
        </p:spPr>
        <p:txBody>
          <a:bodyPr wrap="square" lIns="0" tIns="0" rIns="0" bIns="0" rtlCol="0" anchor="ctr"/>
          <a:lstStyle/>
          <a:p>
            <a:pPr marL="0" indent="0" algn="ctr">
              <a:buNone/>
            </a:pPr>
            <a:r>
              <a:rPr lang="en-US" sz="1100" dirty="0">
                <a:solidFill>
                  <a:srgbClr val="8BC9A0"/>
                </a:solidFill>
                <a:latin typeface="Calibri" panose="020F0502020204030204" pitchFamily="34" charset="0"/>
                <a:ea typeface="Calibri" panose="020F0502020204030204" pitchFamily="34" charset="-122"/>
                <a:cs typeface="Calibri" panose="020F0502020204030204" pitchFamily="34" charset="-120"/>
              </a:rPr>
              <a:t>↓</a:t>
            </a:r>
            <a:endParaRPr lang="en-US" sz="1100" dirty="0"/>
          </a:p>
        </p:txBody>
      </p:sp>
      <p:sp>
        <p:nvSpPr>
          <p:cNvPr id="44" name="Shape 42"/>
          <p:cNvSpPr/>
          <p:nvPr/>
        </p:nvSpPr>
        <p:spPr>
          <a:xfrm>
            <a:off x="8092440" y="5623560"/>
            <a:ext cx="3291840" cy="402336"/>
          </a:xfrm>
          <a:prstGeom prst="roundRect">
            <a:avLst>
              <a:gd name="adj" fmla="val 68182"/>
            </a:avLst>
          </a:prstGeom>
          <a:solidFill>
            <a:srgbClr val="2E7D32"/>
          </a:solidFill>
        </p:spPr>
      </p:sp>
      <p:sp>
        <p:nvSpPr>
          <p:cNvPr id="45" name="Text 43"/>
          <p:cNvSpPr/>
          <p:nvPr/>
        </p:nvSpPr>
        <p:spPr>
          <a:xfrm>
            <a:off x="8092440" y="5623560"/>
            <a:ext cx="3291840" cy="402336"/>
          </a:xfrm>
          <a:prstGeom prst="rect">
            <a:avLst/>
          </a:prstGeom>
          <a:noFill/>
        </p:spPr>
        <p:txBody>
          <a:bodyPr wrap="square" lIns="0" tIns="0" rIns="0" bIns="0" rtlCol="0" anchor="ctr"/>
          <a:lstStyle/>
          <a:p>
            <a:pPr marL="0" indent="0" algn="ctr">
              <a:buNone/>
            </a:pPr>
            <a:r>
              <a:rPr lang="en-US" sz="1050" b="1" dirty="0">
                <a:solidFill>
                  <a:srgbClr val="FFFFFF"/>
                </a:solidFill>
                <a:latin typeface="Calibri" panose="020F0502020204030204" pitchFamily="34" charset="0"/>
                <a:ea typeface="Calibri" panose="020F0502020204030204" pitchFamily="34" charset="-122"/>
                <a:cs typeface="Calibri" panose="020F0502020204030204" pitchFamily="34" charset="-120"/>
              </a:rPr>
              <a:t>Dashboard web</a:t>
            </a:r>
            <a:endParaRPr lang="en-US" sz="1050" dirty="0"/>
          </a:p>
        </p:txBody>
      </p:sp>
      <p:sp>
        <p:nvSpPr>
          <p:cNvPr id="46" name="Text 44"/>
          <p:cNvSpPr/>
          <p:nvPr/>
        </p:nvSpPr>
        <p:spPr>
          <a:xfrm>
            <a:off x="11521440" y="6446520"/>
            <a:ext cx="548640" cy="320040"/>
          </a:xfrm>
          <a:prstGeom prst="rect">
            <a:avLst/>
          </a:prstGeom>
          <a:noFill/>
        </p:spPr>
        <p:txBody>
          <a:bodyPr wrap="square" lIns="0" tIns="0" rIns="0" bIns="0" rtlCol="0" anchor="ctr"/>
          <a:lstStyle/>
          <a:p>
            <a:pPr marL="0" indent="0" algn="r">
              <a:buNone/>
            </a:pPr>
            <a:r>
              <a:rPr lang="en-US" sz="1100" dirty="0">
                <a:solidFill>
                  <a:srgbClr val="5C6B60"/>
                </a:solidFill>
                <a:latin typeface="Calibri" panose="020F0502020204030204" pitchFamily="34" charset="0"/>
                <a:ea typeface="Calibri" panose="020F0502020204030204" pitchFamily="34" charset="-122"/>
                <a:cs typeface="Calibri" panose="020F0502020204030204" pitchFamily="34" charset="-120"/>
              </a:rPr>
              <a:t>05</a:t>
            </a:r>
            <a:endParaRPr lang="en-US" sz="11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65760"/>
            <a:ext cx="7315200" cy="365760"/>
          </a:xfrm>
          <a:prstGeom prst="rect">
            <a:avLst/>
          </a:prstGeom>
          <a:noFill/>
        </p:spPr>
        <p:txBody>
          <a:bodyPr wrap="square" lIns="0" tIns="0" rIns="0" bIns="0" rtlCol="0" anchor="ctr"/>
          <a:lstStyle/>
          <a:p>
            <a:pPr marL="0" indent="0">
              <a:buNone/>
            </a:pPr>
            <a:r>
              <a:rPr lang="en-US" sz="1200" b="1" kern="0" spc="200" dirty="0">
                <a:solidFill>
                  <a:srgbClr val="2E7D32"/>
                </a:solidFill>
                <a:latin typeface="Calibri" panose="020F0502020204030204" pitchFamily="34" charset="0"/>
                <a:ea typeface="Calibri" panose="020F0502020204030204" pitchFamily="34" charset="-122"/>
                <a:cs typeface="Calibri" panose="020F0502020204030204" pitchFamily="34" charset="-120"/>
              </a:rPr>
              <a:t>04 — CHOIX TECHNOLOGIQUES</a:t>
            </a:r>
            <a:endParaRPr lang="en-US" sz="1200" dirty="0"/>
          </a:p>
        </p:txBody>
      </p:sp>
      <p:sp>
        <p:nvSpPr>
          <p:cNvPr id="3" name="Text 1"/>
          <p:cNvSpPr/>
          <p:nvPr/>
        </p:nvSpPr>
        <p:spPr>
          <a:xfrm>
            <a:off x="548640" y="685800"/>
            <a:ext cx="10515600" cy="731520"/>
          </a:xfrm>
          <a:prstGeom prst="rect">
            <a:avLst/>
          </a:prstGeom>
          <a:noFill/>
        </p:spPr>
        <p:txBody>
          <a:bodyPr wrap="square" lIns="0" tIns="0" rIns="0" bIns="0" rtlCol="0" anchor="ctr"/>
          <a:lstStyle/>
          <a:p>
            <a:pPr marL="0" indent="0">
              <a:buNone/>
            </a:pPr>
            <a:r>
              <a:rPr lang="en-US" sz="3000" b="1" dirty="0">
                <a:solidFill>
                  <a:srgbClr val="1B1B1B"/>
                </a:solidFill>
                <a:latin typeface="Cambria" panose="02040503050406030204" pitchFamily="34" charset="0"/>
                <a:ea typeface="Cambria" panose="02040503050406030204" pitchFamily="34" charset="-122"/>
                <a:cs typeface="Cambria" panose="02040503050406030204" pitchFamily="34" charset="-120"/>
              </a:rPr>
              <a:t>Technologies retenues et justification</a:t>
            </a:r>
            <a:endParaRPr lang="en-US" sz="3000" dirty="0"/>
          </a:p>
        </p:txBody>
      </p:sp>
      <p:sp>
        <p:nvSpPr>
          <p:cNvPr id="4" name="Shape 2"/>
          <p:cNvSpPr/>
          <p:nvPr/>
        </p:nvSpPr>
        <p:spPr>
          <a:xfrm>
            <a:off x="548640" y="1691640"/>
            <a:ext cx="2606040" cy="1874520"/>
          </a:xfrm>
          <a:prstGeom prst="roundRect">
            <a:avLst>
              <a:gd name="adj" fmla="val 3415"/>
            </a:avLst>
          </a:prstGeom>
          <a:solidFill>
            <a:srgbClr val="F0F5F1"/>
          </a:solidFill>
        </p:spPr>
      </p:sp>
      <p:sp>
        <p:nvSpPr>
          <p:cNvPr id="5" name="Shape 3"/>
          <p:cNvSpPr/>
          <p:nvPr/>
        </p:nvSpPr>
        <p:spPr>
          <a:xfrm>
            <a:off x="731520" y="1892808"/>
            <a:ext cx="457200" cy="457200"/>
          </a:xfrm>
          <a:prstGeom prst="roundRect">
            <a:avLst>
              <a:gd name="adj" fmla="val 50000"/>
            </a:avLst>
          </a:prstGeom>
          <a:solidFill>
            <a:srgbClr val="2E7D32"/>
          </a:solidFill>
        </p:spPr>
      </p:sp>
      <p:sp>
        <p:nvSpPr>
          <p:cNvPr id="6" name="Text 4"/>
          <p:cNvSpPr/>
          <p:nvPr/>
        </p:nvSpPr>
        <p:spPr>
          <a:xfrm>
            <a:off x="731520" y="1892808"/>
            <a:ext cx="457200" cy="457200"/>
          </a:xfrm>
          <a:prstGeom prst="rect">
            <a:avLst/>
          </a:prstGeom>
          <a:noFill/>
        </p:spPr>
        <p:txBody>
          <a:bodyPr wrap="square" lIns="0" tIns="0" rIns="0" bIns="0" rtlCol="0" anchor="ctr"/>
          <a:lstStyle/>
          <a:p>
            <a:pPr marL="0" indent="0" algn="ctr">
              <a:buNone/>
            </a:pPr>
            <a:r>
              <a:rPr lang="en-US" sz="1400" b="1" dirty="0">
                <a:solidFill>
                  <a:srgbClr val="FFFFFF"/>
                </a:solidFill>
                <a:latin typeface="Calibri" panose="020F0502020204030204" pitchFamily="34" charset="0"/>
                <a:ea typeface="Calibri" panose="020F0502020204030204" pitchFamily="34" charset="-122"/>
                <a:cs typeface="Calibri" panose="020F0502020204030204" pitchFamily="34" charset="-120"/>
              </a:rPr>
              <a:t>1</a:t>
            </a:r>
            <a:endParaRPr lang="en-US" sz="1400" dirty="0"/>
          </a:p>
        </p:txBody>
      </p:sp>
      <p:sp>
        <p:nvSpPr>
          <p:cNvPr id="7" name="Text 5"/>
          <p:cNvSpPr/>
          <p:nvPr/>
        </p:nvSpPr>
        <p:spPr>
          <a:xfrm>
            <a:off x="731520" y="2468880"/>
            <a:ext cx="2240280" cy="320040"/>
          </a:xfrm>
          <a:prstGeom prst="rect">
            <a:avLst/>
          </a:prstGeom>
          <a:noFill/>
        </p:spPr>
        <p:txBody>
          <a:bodyPr wrap="square" lIns="0" tIns="0" rIns="0" bIns="0" rtlCol="0" anchor="ctr"/>
          <a:lstStyle/>
          <a:p>
            <a:pPr marL="0" indent="0">
              <a:buNone/>
            </a:pPr>
            <a:r>
              <a:rPr lang="en-US" sz="1300" b="1" dirty="0">
                <a:solidFill>
                  <a:srgbClr val="1B1B1B"/>
                </a:solidFill>
                <a:latin typeface="Calibri" panose="020F0502020204030204" pitchFamily="34" charset="0"/>
                <a:ea typeface="Calibri" panose="020F0502020204030204" pitchFamily="34" charset="-122"/>
                <a:cs typeface="Calibri" panose="020F0502020204030204" pitchFamily="34" charset="-120"/>
              </a:rPr>
              <a:t>Python 3</a:t>
            </a:r>
            <a:endParaRPr lang="en-US" sz="1300" dirty="0"/>
          </a:p>
        </p:txBody>
      </p:sp>
      <p:sp>
        <p:nvSpPr>
          <p:cNvPr id="8" name="Text 6"/>
          <p:cNvSpPr/>
          <p:nvPr/>
        </p:nvSpPr>
        <p:spPr>
          <a:xfrm>
            <a:off x="731520" y="2788920"/>
            <a:ext cx="2240280" cy="640080"/>
          </a:xfrm>
          <a:prstGeom prst="rect">
            <a:avLst/>
          </a:prstGeom>
          <a:noFill/>
        </p:spPr>
        <p:txBody>
          <a:bodyPr wrap="square" lIns="0" tIns="0" rIns="0" bIns="0" rtlCol="0" anchor="ctr"/>
          <a:lstStyle/>
          <a:p>
            <a:pPr marL="0" indent="0">
              <a:lnSpc>
                <a:spcPct val="115000"/>
              </a:lnSpc>
              <a:buNone/>
            </a:pPr>
            <a:r>
              <a:rPr lang="en-US" sz="950" dirty="0">
                <a:solidFill>
                  <a:srgbClr val="5F5F5F"/>
                </a:solidFill>
                <a:latin typeface="Calibri" panose="020F0502020204030204" pitchFamily="34" charset="0"/>
                <a:ea typeface="Calibri" panose="020F0502020204030204" pitchFamily="34" charset="-122"/>
                <a:cs typeface="Calibri" panose="020F0502020204030204" pitchFamily="34" charset="-120"/>
              </a:rPr>
              <a:t>Moteur HIPS : lisible, riche en bibliothèques système (os, subprocess, threading)</a:t>
            </a:r>
            <a:endParaRPr lang="en-US" sz="950" dirty="0"/>
          </a:p>
        </p:txBody>
      </p:sp>
      <p:sp>
        <p:nvSpPr>
          <p:cNvPr id="9" name="Shape 7"/>
          <p:cNvSpPr/>
          <p:nvPr/>
        </p:nvSpPr>
        <p:spPr>
          <a:xfrm>
            <a:off x="3319272" y="1691640"/>
            <a:ext cx="2606040" cy="1874520"/>
          </a:xfrm>
          <a:prstGeom prst="roundRect">
            <a:avLst>
              <a:gd name="adj" fmla="val 3415"/>
            </a:avLst>
          </a:prstGeom>
          <a:solidFill>
            <a:srgbClr val="F0F5F1"/>
          </a:solidFill>
        </p:spPr>
      </p:sp>
      <p:sp>
        <p:nvSpPr>
          <p:cNvPr id="10" name="Shape 8"/>
          <p:cNvSpPr/>
          <p:nvPr/>
        </p:nvSpPr>
        <p:spPr>
          <a:xfrm>
            <a:off x="3502152" y="1892808"/>
            <a:ext cx="457200" cy="457200"/>
          </a:xfrm>
          <a:prstGeom prst="roundRect">
            <a:avLst>
              <a:gd name="adj" fmla="val 50000"/>
            </a:avLst>
          </a:prstGeom>
          <a:solidFill>
            <a:srgbClr val="2E7D32"/>
          </a:solidFill>
        </p:spPr>
      </p:sp>
      <p:sp>
        <p:nvSpPr>
          <p:cNvPr id="11" name="Text 9"/>
          <p:cNvSpPr/>
          <p:nvPr/>
        </p:nvSpPr>
        <p:spPr>
          <a:xfrm>
            <a:off x="3502152" y="1892808"/>
            <a:ext cx="457200" cy="457200"/>
          </a:xfrm>
          <a:prstGeom prst="rect">
            <a:avLst/>
          </a:prstGeom>
          <a:noFill/>
        </p:spPr>
        <p:txBody>
          <a:bodyPr wrap="square" lIns="0" tIns="0" rIns="0" bIns="0" rtlCol="0" anchor="ctr"/>
          <a:lstStyle/>
          <a:p>
            <a:pPr marL="0" indent="0" algn="ctr">
              <a:buNone/>
            </a:pPr>
            <a:r>
              <a:rPr lang="en-US" sz="1400" b="1" dirty="0">
                <a:solidFill>
                  <a:srgbClr val="FFFFFF"/>
                </a:solidFill>
                <a:latin typeface="Calibri" panose="020F0502020204030204" pitchFamily="34" charset="0"/>
                <a:ea typeface="Calibri" panose="020F0502020204030204" pitchFamily="34" charset="-122"/>
                <a:cs typeface="Calibri" panose="020F0502020204030204" pitchFamily="34" charset="-120"/>
              </a:rPr>
              <a:t>2</a:t>
            </a:r>
            <a:endParaRPr lang="en-US" sz="1400" dirty="0"/>
          </a:p>
        </p:txBody>
      </p:sp>
      <p:sp>
        <p:nvSpPr>
          <p:cNvPr id="12" name="Text 10"/>
          <p:cNvSpPr/>
          <p:nvPr/>
        </p:nvSpPr>
        <p:spPr>
          <a:xfrm>
            <a:off x="3502152" y="2468880"/>
            <a:ext cx="2240280" cy="320040"/>
          </a:xfrm>
          <a:prstGeom prst="rect">
            <a:avLst/>
          </a:prstGeom>
          <a:noFill/>
        </p:spPr>
        <p:txBody>
          <a:bodyPr wrap="square" lIns="0" tIns="0" rIns="0" bIns="0" rtlCol="0" anchor="ctr"/>
          <a:lstStyle/>
          <a:p>
            <a:pPr marL="0" indent="0">
              <a:buNone/>
            </a:pPr>
            <a:r>
              <a:rPr lang="en-US" sz="1300" b="1" dirty="0">
                <a:solidFill>
                  <a:srgbClr val="1B1B1B"/>
                </a:solidFill>
                <a:latin typeface="Calibri" panose="020F0502020204030204" pitchFamily="34" charset="0"/>
                <a:ea typeface="Calibri" panose="020F0502020204030204" pitchFamily="34" charset="-122"/>
                <a:cs typeface="Calibri" panose="020F0502020204030204" pitchFamily="34" charset="-120"/>
              </a:rPr>
              <a:t>auditd</a:t>
            </a:r>
            <a:endParaRPr lang="en-US" sz="1300" dirty="0"/>
          </a:p>
        </p:txBody>
      </p:sp>
      <p:sp>
        <p:nvSpPr>
          <p:cNvPr id="13" name="Text 11"/>
          <p:cNvSpPr/>
          <p:nvPr/>
        </p:nvSpPr>
        <p:spPr>
          <a:xfrm>
            <a:off x="3502152" y="2788920"/>
            <a:ext cx="2240280" cy="640080"/>
          </a:xfrm>
          <a:prstGeom prst="rect">
            <a:avLst/>
          </a:prstGeom>
          <a:noFill/>
        </p:spPr>
        <p:txBody>
          <a:bodyPr wrap="square" lIns="0" tIns="0" rIns="0" bIns="0" rtlCol="0" anchor="ctr"/>
          <a:lstStyle/>
          <a:p>
            <a:pPr marL="0" indent="0">
              <a:lnSpc>
                <a:spcPct val="115000"/>
              </a:lnSpc>
              <a:buNone/>
            </a:pPr>
            <a:r>
              <a:rPr lang="en-US" sz="950" dirty="0">
                <a:solidFill>
                  <a:srgbClr val="5F5F5F"/>
                </a:solidFill>
                <a:latin typeface="Calibri" panose="020F0502020204030204" pitchFamily="34" charset="0"/>
                <a:ea typeface="Calibri" panose="020F0502020204030204" pitchFamily="34" charset="-122"/>
                <a:cs typeface="Calibri" panose="020F0502020204030204" pitchFamily="34" charset="-120"/>
              </a:rPr>
              <a:t>Moteur d'audit noyau natif, fiable, plutôt qu'une surveillance applicative fragile</a:t>
            </a:r>
            <a:endParaRPr lang="en-US" sz="950" dirty="0"/>
          </a:p>
        </p:txBody>
      </p:sp>
      <p:sp>
        <p:nvSpPr>
          <p:cNvPr id="14" name="Shape 12"/>
          <p:cNvSpPr/>
          <p:nvPr/>
        </p:nvSpPr>
        <p:spPr>
          <a:xfrm>
            <a:off x="6089904" y="1691640"/>
            <a:ext cx="2606040" cy="1874520"/>
          </a:xfrm>
          <a:prstGeom prst="roundRect">
            <a:avLst>
              <a:gd name="adj" fmla="val 3415"/>
            </a:avLst>
          </a:prstGeom>
          <a:solidFill>
            <a:srgbClr val="F0F5F1"/>
          </a:solidFill>
        </p:spPr>
      </p:sp>
      <p:sp>
        <p:nvSpPr>
          <p:cNvPr id="15" name="Shape 13"/>
          <p:cNvSpPr/>
          <p:nvPr/>
        </p:nvSpPr>
        <p:spPr>
          <a:xfrm>
            <a:off x="6272784" y="1892808"/>
            <a:ext cx="457200" cy="457200"/>
          </a:xfrm>
          <a:prstGeom prst="roundRect">
            <a:avLst>
              <a:gd name="adj" fmla="val 50000"/>
            </a:avLst>
          </a:prstGeom>
          <a:solidFill>
            <a:srgbClr val="2E7D32"/>
          </a:solidFill>
        </p:spPr>
      </p:sp>
      <p:sp>
        <p:nvSpPr>
          <p:cNvPr id="16" name="Text 14"/>
          <p:cNvSpPr/>
          <p:nvPr/>
        </p:nvSpPr>
        <p:spPr>
          <a:xfrm>
            <a:off x="6272784" y="1892808"/>
            <a:ext cx="457200" cy="457200"/>
          </a:xfrm>
          <a:prstGeom prst="rect">
            <a:avLst/>
          </a:prstGeom>
          <a:noFill/>
        </p:spPr>
        <p:txBody>
          <a:bodyPr wrap="square" lIns="0" tIns="0" rIns="0" bIns="0" rtlCol="0" anchor="ctr"/>
          <a:lstStyle/>
          <a:p>
            <a:pPr marL="0" indent="0" algn="ctr">
              <a:buNone/>
            </a:pPr>
            <a:r>
              <a:rPr lang="en-US" sz="1400" b="1" dirty="0">
                <a:solidFill>
                  <a:srgbClr val="FFFFFF"/>
                </a:solidFill>
                <a:latin typeface="Calibri" panose="020F0502020204030204" pitchFamily="34" charset="0"/>
                <a:ea typeface="Calibri" panose="020F0502020204030204" pitchFamily="34" charset="-122"/>
                <a:cs typeface="Calibri" panose="020F0502020204030204" pitchFamily="34" charset="-120"/>
              </a:rPr>
              <a:t>3</a:t>
            </a:r>
            <a:endParaRPr lang="en-US" sz="1400" dirty="0"/>
          </a:p>
        </p:txBody>
      </p:sp>
      <p:sp>
        <p:nvSpPr>
          <p:cNvPr id="17" name="Text 15"/>
          <p:cNvSpPr/>
          <p:nvPr/>
        </p:nvSpPr>
        <p:spPr>
          <a:xfrm>
            <a:off x="6272784" y="2468880"/>
            <a:ext cx="2240280" cy="320040"/>
          </a:xfrm>
          <a:prstGeom prst="rect">
            <a:avLst/>
          </a:prstGeom>
          <a:noFill/>
        </p:spPr>
        <p:txBody>
          <a:bodyPr wrap="square" lIns="0" tIns="0" rIns="0" bIns="0" rtlCol="0" anchor="ctr"/>
          <a:lstStyle/>
          <a:p>
            <a:pPr marL="0" indent="0">
              <a:buNone/>
            </a:pPr>
            <a:r>
              <a:rPr lang="en-US" sz="1300" b="1" dirty="0">
                <a:solidFill>
                  <a:srgbClr val="1B1B1B"/>
                </a:solidFill>
                <a:latin typeface="Calibri" panose="020F0502020204030204" pitchFamily="34" charset="0"/>
                <a:ea typeface="Calibri" panose="020F0502020204030204" pitchFamily="34" charset="-122"/>
                <a:cs typeface="Calibri" panose="020F0502020204030204" pitchFamily="34" charset="-120"/>
              </a:rPr>
              <a:t>auth.log</a:t>
            </a:r>
            <a:endParaRPr lang="en-US" sz="1300" dirty="0"/>
          </a:p>
        </p:txBody>
      </p:sp>
      <p:sp>
        <p:nvSpPr>
          <p:cNvPr id="18" name="Text 16"/>
          <p:cNvSpPr/>
          <p:nvPr/>
        </p:nvSpPr>
        <p:spPr>
          <a:xfrm>
            <a:off x="6272784" y="2788920"/>
            <a:ext cx="2240280" cy="640080"/>
          </a:xfrm>
          <a:prstGeom prst="rect">
            <a:avLst/>
          </a:prstGeom>
          <a:noFill/>
        </p:spPr>
        <p:txBody>
          <a:bodyPr wrap="square" lIns="0" tIns="0" rIns="0" bIns="0" rtlCol="0" anchor="ctr"/>
          <a:lstStyle/>
          <a:p>
            <a:pPr marL="0" indent="0">
              <a:lnSpc>
                <a:spcPct val="115000"/>
              </a:lnSpc>
              <a:buNone/>
            </a:pPr>
            <a:r>
              <a:rPr lang="en-US" sz="950" dirty="0">
                <a:solidFill>
                  <a:srgbClr val="5F5F5F"/>
                </a:solidFill>
                <a:latin typeface="Calibri" panose="020F0502020204030204" pitchFamily="34" charset="0"/>
                <a:ea typeface="Calibri" panose="020F0502020204030204" pitchFamily="34" charset="-122"/>
                <a:cs typeface="Calibri" panose="020F0502020204030204" pitchFamily="34" charset="-120"/>
              </a:rPr>
              <a:t>Source standard des tentatives SSH, sans dépendance à un outil tiers</a:t>
            </a:r>
            <a:endParaRPr lang="en-US" sz="950" dirty="0"/>
          </a:p>
        </p:txBody>
      </p:sp>
      <p:sp>
        <p:nvSpPr>
          <p:cNvPr id="19" name="Shape 17"/>
          <p:cNvSpPr/>
          <p:nvPr/>
        </p:nvSpPr>
        <p:spPr>
          <a:xfrm>
            <a:off x="8860536" y="1691640"/>
            <a:ext cx="2606040" cy="1874520"/>
          </a:xfrm>
          <a:prstGeom prst="roundRect">
            <a:avLst>
              <a:gd name="adj" fmla="val 3415"/>
            </a:avLst>
          </a:prstGeom>
          <a:solidFill>
            <a:srgbClr val="F0F5F1"/>
          </a:solidFill>
        </p:spPr>
      </p:sp>
      <p:sp>
        <p:nvSpPr>
          <p:cNvPr id="20" name="Shape 18"/>
          <p:cNvSpPr/>
          <p:nvPr/>
        </p:nvSpPr>
        <p:spPr>
          <a:xfrm>
            <a:off x="9043416" y="1892808"/>
            <a:ext cx="457200" cy="457200"/>
          </a:xfrm>
          <a:prstGeom prst="roundRect">
            <a:avLst>
              <a:gd name="adj" fmla="val 50000"/>
            </a:avLst>
          </a:prstGeom>
          <a:solidFill>
            <a:srgbClr val="2E7D32"/>
          </a:solidFill>
        </p:spPr>
      </p:sp>
      <p:sp>
        <p:nvSpPr>
          <p:cNvPr id="21" name="Text 19"/>
          <p:cNvSpPr/>
          <p:nvPr/>
        </p:nvSpPr>
        <p:spPr>
          <a:xfrm>
            <a:off x="9043416" y="1892808"/>
            <a:ext cx="457200" cy="457200"/>
          </a:xfrm>
          <a:prstGeom prst="rect">
            <a:avLst/>
          </a:prstGeom>
          <a:noFill/>
        </p:spPr>
        <p:txBody>
          <a:bodyPr wrap="square" lIns="0" tIns="0" rIns="0" bIns="0" rtlCol="0" anchor="ctr"/>
          <a:lstStyle/>
          <a:p>
            <a:pPr marL="0" indent="0" algn="ctr">
              <a:buNone/>
            </a:pPr>
            <a:r>
              <a:rPr lang="en-US" sz="1400" b="1" dirty="0">
                <a:solidFill>
                  <a:srgbClr val="FFFFFF"/>
                </a:solidFill>
                <a:latin typeface="Calibri" panose="020F0502020204030204" pitchFamily="34" charset="0"/>
                <a:ea typeface="Calibri" panose="020F0502020204030204" pitchFamily="34" charset="-122"/>
                <a:cs typeface="Calibri" panose="020F0502020204030204" pitchFamily="34" charset="-120"/>
              </a:rPr>
              <a:t>4</a:t>
            </a:r>
            <a:endParaRPr lang="en-US" sz="1400" dirty="0"/>
          </a:p>
        </p:txBody>
      </p:sp>
      <p:sp>
        <p:nvSpPr>
          <p:cNvPr id="22" name="Text 20"/>
          <p:cNvSpPr/>
          <p:nvPr/>
        </p:nvSpPr>
        <p:spPr>
          <a:xfrm>
            <a:off x="9043416" y="2468880"/>
            <a:ext cx="2240280" cy="320040"/>
          </a:xfrm>
          <a:prstGeom prst="rect">
            <a:avLst/>
          </a:prstGeom>
          <a:noFill/>
        </p:spPr>
        <p:txBody>
          <a:bodyPr wrap="square" lIns="0" tIns="0" rIns="0" bIns="0" rtlCol="0" anchor="ctr"/>
          <a:lstStyle/>
          <a:p>
            <a:pPr marL="0" indent="0">
              <a:buNone/>
            </a:pPr>
            <a:r>
              <a:rPr lang="en-US" sz="1300" b="1" dirty="0">
                <a:solidFill>
                  <a:srgbClr val="1B1B1B"/>
                </a:solidFill>
                <a:latin typeface="Calibri" panose="020F0502020204030204" pitchFamily="34" charset="0"/>
                <a:ea typeface="Calibri" panose="020F0502020204030204" pitchFamily="34" charset="-122"/>
                <a:cs typeface="Calibri" panose="020F0502020204030204" pitchFamily="34" charset="-120"/>
              </a:rPr>
              <a:t>Threading</a:t>
            </a:r>
            <a:endParaRPr lang="en-US" sz="1300" dirty="0"/>
          </a:p>
        </p:txBody>
      </p:sp>
      <p:sp>
        <p:nvSpPr>
          <p:cNvPr id="23" name="Text 21"/>
          <p:cNvSpPr/>
          <p:nvPr/>
        </p:nvSpPr>
        <p:spPr>
          <a:xfrm>
            <a:off x="9043416" y="2788920"/>
            <a:ext cx="2240280" cy="640080"/>
          </a:xfrm>
          <a:prstGeom prst="rect">
            <a:avLst/>
          </a:prstGeom>
          <a:noFill/>
        </p:spPr>
        <p:txBody>
          <a:bodyPr wrap="square" lIns="0" tIns="0" rIns="0" bIns="0" rtlCol="0" anchor="ctr"/>
          <a:lstStyle/>
          <a:p>
            <a:pPr marL="0" indent="0">
              <a:lnSpc>
                <a:spcPct val="115000"/>
              </a:lnSpc>
              <a:buNone/>
            </a:pPr>
            <a:r>
              <a:rPr lang="en-US" sz="950" dirty="0">
                <a:solidFill>
                  <a:srgbClr val="5F5F5F"/>
                </a:solidFill>
                <a:latin typeface="Calibri" panose="020F0502020204030204" pitchFamily="34" charset="0"/>
                <a:ea typeface="Calibri" panose="020F0502020204030204" pitchFamily="34" charset="-122"/>
                <a:cs typeface="Calibri" panose="020F0502020204030204" pitchFamily="34" charset="-120"/>
              </a:rPr>
              <a:t>Surveillance fichiers + SSH en parallèle, dans un seul processus</a:t>
            </a:r>
            <a:endParaRPr lang="en-US" sz="950" dirty="0"/>
          </a:p>
        </p:txBody>
      </p:sp>
      <p:sp>
        <p:nvSpPr>
          <p:cNvPr id="24" name="Shape 22"/>
          <p:cNvSpPr/>
          <p:nvPr/>
        </p:nvSpPr>
        <p:spPr>
          <a:xfrm>
            <a:off x="548640" y="3749040"/>
            <a:ext cx="2606040" cy="1874520"/>
          </a:xfrm>
          <a:prstGeom prst="roundRect">
            <a:avLst>
              <a:gd name="adj" fmla="val 3415"/>
            </a:avLst>
          </a:prstGeom>
          <a:solidFill>
            <a:srgbClr val="F0F5F1"/>
          </a:solidFill>
        </p:spPr>
      </p:sp>
      <p:sp>
        <p:nvSpPr>
          <p:cNvPr id="25" name="Shape 23"/>
          <p:cNvSpPr/>
          <p:nvPr/>
        </p:nvSpPr>
        <p:spPr>
          <a:xfrm>
            <a:off x="731520" y="3950208"/>
            <a:ext cx="457200" cy="457200"/>
          </a:xfrm>
          <a:prstGeom prst="roundRect">
            <a:avLst>
              <a:gd name="adj" fmla="val 50000"/>
            </a:avLst>
          </a:prstGeom>
          <a:solidFill>
            <a:srgbClr val="2E7D32"/>
          </a:solidFill>
        </p:spPr>
      </p:sp>
      <p:sp>
        <p:nvSpPr>
          <p:cNvPr id="26" name="Text 24"/>
          <p:cNvSpPr/>
          <p:nvPr/>
        </p:nvSpPr>
        <p:spPr>
          <a:xfrm>
            <a:off x="731520" y="3950208"/>
            <a:ext cx="457200" cy="457200"/>
          </a:xfrm>
          <a:prstGeom prst="rect">
            <a:avLst/>
          </a:prstGeom>
          <a:noFill/>
        </p:spPr>
        <p:txBody>
          <a:bodyPr wrap="square" lIns="0" tIns="0" rIns="0" bIns="0" rtlCol="0" anchor="ctr"/>
          <a:lstStyle/>
          <a:p>
            <a:pPr marL="0" indent="0" algn="ctr">
              <a:buNone/>
            </a:pPr>
            <a:r>
              <a:rPr lang="en-US" sz="1400" b="1" dirty="0">
                <a:solidFill>
                  <a:srgbClr val="FFFFFF"/>
                </a:solidFill>
                <a:latin typeface="Calibri" panose="020F0502020204030204" pitchFamily="34" charset="0"/>
                <a:ea typeface="Calibri" panose="020F0502020204030204" pitchFamily="34" charset="-122"/>
                <a:cs typeface="Calibri" panose="020F0502020204030204" pitchFamily="34" charset="-120"/>
              </a:rPr>
              <a:t>5</a:t>
            </a:r>
            <a:endParaRPr lang="en-US" sz="1400" dirty="0"/>
          </a:p>
        </p:txBody>
      </p:sp>
      <p:sp>
        <p:nvSpPr>
          <p:cNvPr id="27" name="Text 25"/>
          <p:cNvSpPr/>
          <p:nvPr/>
        </p:nvSpPr>
        <p:spPr>
          <a:xfrm>
            <a:off x="731520" y="4526280"/>
            <a:ext cx="2240280" cy="320040"/>
          </a:xfrm>
          <a:prstGeom prst="rect">
            <a:avLst/>
          </a:prstGeom>
          <a:noFill/>
        </p:spPr>
        <p:txBody>
          <a:bodyPr wrap="square" lIns="0" tIns="0" rIns="0" bIns="0" rtlCol="0" anchor="ctr"/>
          <a:lstStyle/>
          <a:p>
            <a:pPr marL="0" indent="0">
              <a:buNone/>
            </a:pPr>
            <a:r>
              <a:rPr lang="en-US" sz="1300" b="1" dirty="0">
                <a:solidFill>
                  <a:srgbClr val="1B1B1B"/>
                </a:solidFill>
                <a:latin typeface="Calibri" panose="020F0502020204030204" pitchFamily="34" charset="0"/>
                <a:ea typeface="Calibri" panose="020F0502020204030204" pitchFamily="34" charset="-122"/>
                <a:cs typeface="Calibri" panose="020F0502020204030204" pitchFamily="34" charset="-120"/>
              </a:rPr>
              <a:t>JSON Lines</a:t>
            </a:r>
            <a:endParaRPr lang="en-US" sz="1300" dirty="0"/>
          </a:p>
        </p:txBody>
      </p:sp>
      <p:sp>
        <p:nvSpPr>
          <p:cNvPr id="28" name="Text 26"/>
          <p:cNvSpPr/>
          <p:nvPr/>
        </p:nvSpPr>
        <p:spPr>
          <a:xfrm>
            <a:off x="731520" y="4846320"/>
            <a:ext cx="2240280" cy="640080"/>
          </a:xfrm>
          <a:prstGeom prst="rect">
            <a:avLst/>
          </a:prstGeom>
          <a:noFill/>
        </p:spPr>
        <p:txBody>
          <a:bodyPr wrap="square" lIns="0" tIns="0" rIns="0" bIns="0" rtlCol="0" anchor="ctr"/>
          <a:lstStyle/>
          <a:p>
            <a:pPr marL="0" indent="0">
              <a:lnSpc>
                <a:spcPct val="115000"/>
              </a:lnSpc>
              <a:buNone/>
            </a:pPr>
            <a:r>
              <a:rPr lang="en-US" sz="950" dirty="0">
                <a:solidFill>
                  <a:srgbClr val="5F5F5F"/>
                </a:solidFill>
                <a:latin typeface="Calibri" panose="020F0502020204030204" pitchFamily="34" charset="0"/>
                <a:ea typeface="Calibri" panose="020F0502020204030204" pitchFamily="34" charset="-122"/>
                <a:cs typeface="Calibri" panose="020F0502020204030204" pitchFamily="34" charset="-120"/>
              </a:rPr>
              <a:t>Format simple, append-only, directement exploitable par le dashboard</a:t>
            </a:r>
            <a:endParaRPr lang="en-US" sz="950" dirty="0"/>
          </a:p>
        </p:txBody>
      </p:sp>
      <p:sp>
        <p:nvSpPr>
          <p:cNvPr id="29" name="Shape 27"/>
          <p:cNvSpPr/>
          <p:nvPr/>
        </p:nvSpPr>
        <p:spPr>
          <a:xfrm>
            <a:off x="3319272" y="3749040"/>
            <a:ext cx="2606040" cy="1874520"/>
          </a:xfrm>
          <a:prstGeom prst="roundRect">
            <a:avLst>
              <a:gd name="adj" fmla="val 3415"/>
            </a:avLst>
          </a:prstGeom>
          <a:solidFill>
            <a:srgbClr val="F0F5F1"/>
          </a:solidFill>
        </p:spPr>
      </p:sp>
      <p:sp>
        <p:nvSpPr>
          <p:cNvPr id="30" name="Shape 28"/>
          <p:cNvSpPr/>
          <p:nvPr/>
        </p:nvSpPr>
        <p:spPr>
          <a:xfrm>
            <a:off x="3502152" y="3950208"/>
            <a:ext cx="457200" cy="457200"/>
          </a:xfrm>
          <a:prstGeom prst="roundRect">
            <a:avLst>
              <a:gd name="adj" fmla="val 50000"/>
            </a:avLst>
          </a:prstGeom>
          <a:solidFill>
            <a:srgbClr val="2E7D32"/>
          </a:solidFill>
        </p:spPr>
      </p:sp>
      <p:sp>
        <p:nvSpPr>
          <p:cNvPr id="31" name="Text 29"/>
          <p:cNvSpPr/>
          <p:nvPr/>
        </p:nvSpPr>
        <p:spPr>
          <a:xfrm>
            <a:off x="3502152" y="3950208"/>
            <a:ext cx="457200" cy="457200"/>
          </a:xfrm>
          <a:prstGeom prst="rect">
            <a:avLst/>
          </a:prstGeom>
          <a:noFill/>
        </p:spPr>
        <p:txBody>
          <a:bodyPr wrap="square" lIns="0" tIns="0" rIns="0" bIns="0" rtlCol="0" anchor="ctr"/>
          <a:lstStyle/>
          <a:p>
            <a:pPr marL="0" indent="0" algn="ctr">
              <a:buNone/>
            </a:pPr>
            <a:r>
              <a:rPr lang="en-US" sz="1400" b="1" dirty="0">
                <a:solidFill>
                  <a:srgbClr val="FFFFFF"/>
                </a:solidFill>
                <a:latin typeface="Calibri" panose="020F0502020204030204" pitchFamily="34" charset="0"/>
                <a:ea typeface="Calibri" panose="020F0502020204030204" pitchFamily="34" charset="-122"/>
                <a:cs typeface="Calibri" panose="020F0502020204030204" pitchFamily="34" charset="-120"/>
              </a:rPr>
              <a:t>6</a:t>
            </a:r>
            <a:endParaRPr lang="en-US" sz="1400" dirty="0"/>
          </a:p>
        </p:txBody>
      </p:sp>
      <p:sp>
        <p:nvSpPr>
          <p:cNvPr id="32" name="Text 30"/>
          <p:cNvSpPr/>
          <p:nvPr/>
        </p:nvSpPr>
        <p:spPr>
          <a:xfrm>
            <a:off x="3502152" y="4526280"/>
            <a:ext cx="2240280" cy="320040"/>
          </a:xfrm>
          <a:prstGeom prst="rect">
            <a:avLst/>
          </a:prstGeom>
          <a:noFill/>
        </p:spPr>
        <p:txBody>
          <a:bodyPr wrap="square" lIns="0" tIns="0" rIns="0" bIns="0" rtlCol="0" anchor="ctr"/>
          <a:lstStyle/>
          <a:p>
            <a:pPr marL="0" indent="0">
              <a:buNone/>
            </a:pPr>
            <a:r>
              <a:rPr lang="en-US" sz="1300" b="1" dirty="0">
                <a:solidFill>
                  <a:srgbClr val="1B1B1B"/>
                </a:solidFill>
                <a:latin typeface="Calibri" panose="020F0502020204030204" pitchFamily="34" charset="0"/>
                <a:ea typeface="Calibri" panose="020F0502020204030204" pitchFamily="34" charset="-122"/>
                <a:cs typeface="Calibri" panose="020F0502020204030204" pitchFamily="34" charset="-120"/>
              </a:rPr>
              <a:t>iptables</a:t>
            </a:r>
            <a:endParaRPr lang="en-US" sz="1300" dirty="0"/>
          </a:p>
        </p:txBody>
      </p:sp>
      <p:sp>
        <p:nvSpPr>
          <p:cNvPr id="33" name="Text 31"/>
          <p:cNvSpPr/>
          <p:nvPr/>
        </p:nvSpPr>
        <p:spPr>
          <a:xfrm>
            <a:off x="3502152" y="4846320"/>
            <a:ext cx="2240280" cy="640080"/>
          </a:xfrm>
          <a:prstGeom prst="rect">
            <a:avLst/>
          </a:prstGeom>
          <a:noFill/>
        </p:spPr>
        <p:txBody>
          <a:bodyPr wrap="square" lIns="0" tIns="0" rIns="0" bIns="0" rtlCol="0" anchor="ctr"/>
          <a:lstStyle/>
          <a:p>
            <a:pPr marL="0" indent="0">
              <a:lnSpc>
                <a:spcPct val="115000"/>
              </a:lnSpc>
              <a:buNone/>
            </a:pPr>
            <a:r>
              <a:rPr lang="en-US" sz="950" dirty="0">
                <a:solidFill>
                  <a:srgbClr val="5F5F5F"/>
                </a:solidFill>
                <a:latin typeface="Calibri" panose="020F0502020204030204" pitchFamily="34" charset="0"/>
                <a:ea typeface="Calibri" panose="020F0502020204030204" pitchFamily="34" charset="-122"/>
                <a:cs typeface="Calibri" panose="020F0502020204030204" pitchFamily="34" charset="-120"/>
              </a:rPr>
              <a:t>Blocage réseau réel et vérifiable, déjà présent sur Ubuntu</a:t>
            </a:r>
            <a:endParaRPr lang="en-US" sz="950" dirty="0"/>
          </a:p>
        </p:txBody>
      </p:sp>
      <p:sp>
        <p:nvSpPr>
          <p:cNvPr id="34" name="Shape 32"/>
          <p:cNvSpPr/>
          <p:nvPr/>
        </p:nvSpPr>
        <p:spPr>
          <a:xfrm>
            <a:off x="6089904" y="3749040"/>
            <a:ext cx="2606040" cy="1874520"/>
          </a:xfrm>
          <a:prstGeom prst="roundRect">
            <a:avLst>
              <a:gd name="adj" fmla="val 3415"/>
            </a:avLst>
          </a:prstGeom>
          <a:solidFill>
            <a:srgbClr val="F0F5F1"/>
          </a:solidFill>
        </p:spPr>
      </p:sp>
      <p:sp>
        <p:nvSpPr>
          <p:cNvPr id="35" name="Shape 33"/>
          <p:cNvSpPr/>
          <p:nvPr/>
        </p:nvSpPr>
        <p:spPr>
          <a:xfrm>
            <a:off x="6272784" y="3950208"/>
            <a:ext cx="457200" cy="457200"/>
          </a:xfrm>
          <a:prstGeom prst="roundRect">
            <a:avLst>
              <a:gd name="adj" fmla="val 50000"/>
            </a:avLst>
          </a:prstGeom>
          <a:solidFill>
            <a:srgbClr val="2E7D32"/>
          </a:solidFill>
        </p:spPr>
      </p:sp>
      <p:sp>
        <p:nvSpPr>
          <p:cNvPr id="36" name="Text 34"/>
          <p:cNvSpPr/>
          <p:nvPr/>
        </p:nvSpPr>
        <p:spPr>
          <a:xfrm>
            <a:off x="6272784" y="3950208"/>
            <a:ext cx="457200" cy="457200"/>
          </a:xfrm>
          <a:prstGeom prst="rect">
            <a:avLst/>
          </a:prstGeom>
          <a:noFill/>
        </p:spPr>
        <p:txBody>
          <a:bodyPr wrap="square" lIns="0" tIns="0" rIns="0" bIns="0" rtlCol="0" anchor="ctr"/>
          <a:lstStyle/>
          <a:p>
            <a:pPr marL="0" indent="0" algn="ctr">
              <a:buNone/>
            </a:pPr>
            <a:r>
              <a:rPr lang="en-US" sz="1400" b="1" dirty="0">
                <a:solidFill>
                  <a:srgbClr val="FFFFFF"/>
                </a:solidFill>
                <a:latin typeface="Calibri" panose="020F0502020204030204" pitchFamily="34" charset="0"/>
                <a:ea typeface="Calibri" panose="020F0502020204030204" pitchFamily="34" charset="-122"/>
                <a:cs typeface="Calibri" panose="020F0502020204030204" pitchFamily="34" charset="-120"/>
              </a:rPr>
              <a:t>7</a:t>
            </a:r>
            <a:endParaRPr lang="en-US" sz="1400" dirty="0"/>
          </a:p>
        </p:txBody>
      </p:sp>
      <p:sp>
        <p:nvSpPr>
          <p:cNvPr id="37" name="Text 35"/>
          <p:cNvSpPr/>
          <p:nvPr/>
        </p:nvSpPr>
        <p:spPr>
          <a:xfrm>
            <a:off x="6272784" y="4526280"/>
            <a:ext cx="2240280" cy="320040"/>
          </a:xfrm>
          <a:prstGeom prst="rect">
            <a:avLst/>
          </a:prstGeom>
          <a:noFill/>
        </p:spPr>
        <p:txBody>
          <a:bodyPr wrap="square" lIns="0" tIns="0" rIns="0" bIns="0" rtlCol="0" anchor="ctr"/>
          <a:lstStyle/>
          <a:p>
            <a:pPr marL="0" indent="0">
              <a:buNone/>
            </a:pPr>
            <a:r>
              <a:rPr lang="en-US" sz="1300" b="1" dirty="0">
                <a:solidFill>
                  <a:srgbClr val="1B1B1B"/>
                </a:solidFill>
                <a:latin typeface="Calibri" panose="020F0502020204030204" pitchFamily="34" charset="0"/>
                <a:ea typeface="Calibri" panose="020F0502020204030204" pitchFamily="34" charset="-122"/>
                <a:cs typeface="Calibri" panose="020F0502020204030204" pitchFamily="34" charset="-120"/>
              </a:rPr>
              <a:t>Flask</a:t>
            </a:r>
            <a:endParaRPr lang="en-US" sz="1300" dirty="0"/>
          </a:p>
        </p:txBody>
      </p:sp>
      <p:sp>
        <p:nvSpPr>
          <p:cNvPr id="38" name="Text 36"/>
          <p:cNvSpPr/>
          <p:nvPr/>
        </p:nvSpPr>
        <p:spPr>
          <a:xfrm>
            <a:off x="6272784" y="4846320"/>
            <a:ext cx="2240280" cy="640080"/>
          </a:xfrm>
          <a:prstGeom prst="rect">
            <a:avLst/>
          </a:prstGeom>
          <a:noFill/>
        </p:spPr>
        <p:txBody>
          <a:bodyPr wrap="square" lIns="0" tIns="0" rIns="0" bIns="0" rtlCol="0" anchor="ctr"/>
          <a:lstStyle/>
          <a:p>
            <a:pPr marL="0" indent="0">
              <a:lnSpc>
                <a:spcPct val="115000"/>
              </a:lnSpc>
              <a:buNone/>
            </a:pPr>
            <a:r>
              <a:rPr lang="en-US" sz="950" dirty="0">
                <a:solidFill>
                  <a:srgbClr val="5F5F5F"/>
                </a:solidFill>
                <a:latin typeface="Calibri" panose="020F0502020204030204" pitchFamily="34" charset="0"/>
                <a:ea typeface="Calibri" panose="020F0502020204030204" pitchFamily="34" charset="-122"/>
                <a:cs typeface="Calibri" panose="020F0502020204030204" pitchFamily="34" charset="-120"/>
              </a:rPr>
              <a:t>Micro-framework léger pour l'API et la page du dashboard</a:t>
            </a:r>
            <a:endParaRPr lang="en-US" sz="950" dirty="0"/>
          </a:p>
        </p:txBody>
      </p:sp>
      <p:sp>
        <p:nvSpPr>
          <p:cNvPr id="39" name="Shape 37"/>
          <p:cNvSpPr/>
          <p:nvPr/>
        </p:nvSpPr>
        <p:spPr>
          <a:xfrm>
            <a:off x="8860536" y="3749040"/>
            <a:ext cx="2606040" cy="1874520"/>
          </a:xfrm>
          <a:prstGeom prst="roundRect">
            <a:avLst>
              <a:gd name="adj" fmla="val 3415"/>
            </a:avLst>
          </a:prstGeom>
          <a:solidFill>
            <a:srgbClr val="F0F5F1"/>
          </a:solidFill>
        </p:spPr>
      </p:sp>
      <p:sp>
        <p:nvSpPr>
          <p:cNvPr id="40" name="Shape 38"/>
          <p:cNvSpPr/>
          <p:nvPr/>
        </p:nvSpPr>
        <p:spPr>
          <a:xfrm>
            <a:off x="9043416" y="3950208"/>
            <a:ext cx="457200" cy="457200"/>
          </a:xfrm>
          <a:prstGeom prst="roundRect">
            <a:avLst>
              <a:gd name="adj" fmla="val 50000"/>
            </a:avLst>
          </a:prstGeom>
          <a:solidFill>
            <a:srgbClr val="2E7D32"/>
          </a:solidFill>
        </p:spPr>
      </p:sp>
      <p:sp>
        <p:nvSpPr>
          <p:cNvPr id="41" name="Text 39"/>
          <p:cNvSpPr/>
          <p:nvPr/>
        </p:nvSpPr>
        <p:spPr>
          <a:xfrm>
            <a:off x="9043416" y="3950208"/>
            <a:ext cx="457200" cy="457200"/>
          </a:xfrm>
          <a:prstGeom prst="rect">
            <a:avLst/>
          </a:prstGeom>
          <a:noFill/>
        </p:spPr>
        <p:txBody>
          <a:bodyPr wrap="square" lIns="0" tIns="0" rIns="0" bIns="0" rtlCol="0" anchor="ctr"/>
          <a:lstStyle/>
          <a:p>
            <a:pPr marL="0" indent="0" algn="ctr">
              <a:buNone/>
            </a:pPr>
            <a:r>
              <a:rPr lang="en-US" sz="1400" b="1" dirty="0">
                <a:solidFill>
                  <a:srgbClr val="FFFFFF"/>
                </a:solidFill>
                <a:latin typeface="Calibri" panose="020F0502020204030204" pitchFamily="34" charset="0"/>
                <a:ea typeface="Calibri" panose="020F0502020204030204" pitchFamily="34" charset="-122"/>
                <a:cs typeface="Calibri" panose="020F0502020204030204" pitchFamily="34" charset="-120"/>
              </a:rPr>
              <a:t>8</a:t>
            </a:r>
            <a:endParaRPr lang="en-US" sz="1400" dirty="0"/>
          </a:p>
        </p:txBody>
      </p:sp>
      <p:sp>
        <p:nvSpPr>
          <p:cNvPr id="42" name="Text 40"/>
          <p:cNvSpPr/>
          <p:nvPr/>
        </p:nvSpPr>
        <p:spPr>
          <a:xfrm>
            <a:off x="9043416" y="4526280"/>
            <a:ext cx="2240280" cy="320040"/>
          </a:xfrm>
          <a:prstGeom prst="rect">
            <a:avLst/>
          </a:prstGeom>
          <a:noFill/>
        </p:spPr>
        <p:txBody>
          <a:bodyPr wrap="square" lIns="0" tIns="0" rIns="0" bIns="0" rtlCol="0" anchor="ctr"/>
          <a:lstStyle/>
          <a:p>
            <a:pPr marL="0" indent="0">
              <a:buNone/>
            </a:pPr>
            <a:r>
              <a:rPr lang="en-US" sz="1300" b="1" dirty="0">
                <a:solidFill>
                  <a:srgbClr val="1B1B1B"/>
                </a:solidFill>
                <a:latin typeface="Calibri" panose="020F0502020204030204" pitchFamily="34" charset="0"/>
                <a:ea typeface="Calibri" panose="020F0502020204030204" pitchFamily="34" charset="-122"/>
                <a:cs typeface="Calibri" panose="020F0502020204030204" pitchFamily="34" charset="-120"/>
              </a:rPr>
              <a:t>VMware + Kali/Ubuntu</a:t>
            </a:r>
            <a:endParaRPr lang="en-US" sz="1300" dirty="0"/>
          </a:p>
        </p:txBody>
      </p:sp>
      <p:sp>
        <p:nvSpPr>
          <p:cNvPr id="43" name="Text 41"/>
          <p:cNvSpPr/>
          <p:nvPr/>
        </p:nvSpPr>
        <p:spPr>
          <a:xfrm>
            <a:off x="9043416" y="4846320"/>
            <a:ext cx="2240280" cy="640080"/>
          </a:xfrm>
          <a:prstGeom prst="rect">
            <a:avLst/>
          </a:prstGeom>
          <a:noFill/>
        </p:spPr>
        <p:txBody>
          <a:bodyPr wrap="square" lIns="0" tIns="0" rIns="0" bIns="0" rtlCol="0" anchor="ctr"/>
          <a:lstStyle/>
          <a:p>
            <a:pPr marL="0" indent="0">
              <a:lnSpc>
                <a:spcPct val="115000"/>
              </a:lnSpc>
              <a:buNone/>
            </a:pPr>
            <a:r>
              <a:rPr lang="en-US" sz="950" dirty="0">
                <a:solidFill>
                  <a:srgbClr val="5F5F5F"/>
                </a:solidFill>
                <a:latin typeface="Calibri" panose="020F0502020204030204" pitchFamily="34" charset="0"/>
                <a:ea typeface="Calibri" panose="020F0502020204030204" pitchFamily="34" charset="-122"/>
                <a:cs typeface="Calibri" panose="020F0502020204030204" pitchFamily="34" charset="-120"/>
              </a:rPr>
              <a:t>Réseau isolé host-only pour tester de vraies attaques sans risque</a:t>
            </a:r>
            <a:endParaRPr lang="en-US" sz="950" dirty="0"/>
          </a:p>
        </p:txBody>
      </p:sp>
      <p:sp>
        <p:nvSpPr>
          <p:cNvPr id="44" name="Text 42"/>
          <p:cNvSpPr/>
          <p:nvPr/>
        </p:nvSpPr>
        <p:spPr>
          <a:xfrm>
            <a:off x="11521440" y="6446520"/>
            <a:ext cx="548640" cy="320040"/>
          </a:xfrm>
          <a:prstGeom prst="rect">
            <a:avLst/>
          </a:prstGeom>
          <a:noFill/>
        </p:spPr>
        <p:txBody>
          <a:bodyPr wrap="square" lIns="0" tIns="0" rIns="0" bIns="0" rtlCol="0" anchor="ctr"/>
          <a:lstStyle/>
          <a:p>
            <a:pPr marL="0" indent="0" algn="r">
              <a:buNone/>
            </a:pPr>
            <a:r>
              <a:rPr lang="en-US" sz="1100" dirty="0">
                <a:solidFill>
                  <a:srgbClr val="B7C2BC"/>
                </a:solidFill>
                <a:latin typeface="Calibri" panose="020F0502020204030204" pitchFamily="34" charset="0"/>
                <a:ea typeface="Calibri" panose="020F0502020204030204" pitchFamily="34" charset="-122"/>
                <a:cs typeface="Calibri" panose="020F0502020204030204" pitchFamily="34" charset="-120"/>
              </a:rPr>
              <a:t>06</a:t>
            </a:r>
            <a:endParaRPr lang="en-US" sz="11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65760"/>
            <a:ext cx="7315200" cy="365760"/>
          </a:xfrm>
          <a:prstGeom prst="rect">
            <a:avLst/>
          </a:prstGeom>
          <a:noFill/>
        </p:spPr>
        <p:txBody>
          <a:bodyPr wrap="square" lIns="0" tIns="0" rIns="0" bIns="0" rtlCol="0" anchor="ctr"/>
          <a:lstStyle/>
          <a:p>
            <a:pPr marL="0" indent="0">
              <a:buNone/>
            </a:pPr>
            <a:r>
              <a:rPr lang="en-US" sz="1200" b="1" kern="0" spc="200" dirty="0">
                <a:solidFill>
                  <a:srgbClr val="2E7D32"/>
                </a:solidFill>
                <a:latin typeface="Calibri" panose="020F0502020204030204" pitchFamily="34" charset="0"/>
                <a:ea typeface="Calibri" panose="020F0502020204030204" pitchFamily="34" charset="-122"/>
                <a:cs typeface="Calibri" panose="020F0502020204030204" pitchFamily="34" charset="-120"/>
              </a:rPr>
              <a:t>05 — ENVIRONNEMENT DE DÉVELOPPEMENT</a:t>
            </a:r>
            <a:endParaRPr lang="en-US" sz="1200" dirty="0"/>
          </a:p>
        </p:txBody>
      </p:sp>
      <p:sp>
        <p:nvSpPr>
          <p:cNvPr id="3" name="Text 1"/>
          <p:cNvSpPr/>
          <p:nvPr/>
        </p:nvSpPr>
        <p:spPr>
          <a:xfrm>
            <a:off x="548640" y="685800"/>
            <a:ext cx="10515600" cy="731520"/>
          </a:xfrm>
          <a:prstGeom prst="rect">
            <a:avLst/>
          </a:prstGeom>
          <a:noFill/>
        </p:spPr>
        <p:txBody>
          <a:bodyPr wrap="square" lIns="0" tIns="0" rIns="0" bIns="0" rtlCol="0" anchor="ctr"/>
          <a:lstStyle/>
          <a:p>
            <a:pPr marL="0" indent="0">
              <a:buNone/>
            </a:pPr>
            <a:r>
              <a:rPr lang="en-US" sz="3000" b="1" dirty="0">
                <a:solidFill>
                  <a:srgbClr val="1B1B1B"/>
                </a:solidFill>
                <a:latin typeface="Cambria" panose="02040503050406030204" pitchFamily="34" charset="0"/>
                <a:ea typeface="Cambria" panose="02040503050406030204" pitchFamily="34" charset="-122"/>
                <a:cs typeface="Cambria" panose="02040503050406030204" pitchFamily="34" charset="-120"/>
              </a:rPr>
              <a:t>Infrastructure de test</a:t>
            </a:r>
            <a:endParaRPr lang="en-US" sz="3000" dirty="0"/>
          </a:p>
        </p:txBody>
      </p:sp>
      <p:sp>
        <p:nvSpPr>
          <p:cNvPr id="4" name="Shape 2"/>
          <p:cNvSpPr/>
          <p:nvPr/>
        </p:nvSpPr>
        <p:spPr>
          <a:xfrm>
            <a:off x="548640" y="1691640"/>
            <a:ext cx="3246120" cy="1965960"/>
          </a:xfrm>
          <a:prstGeom prst="roundRect">
            <a:avLst>
              <a:gd name="adj" fmla="val 3721"/>
            </a:avLst>
          </a:prstGeom>
          <a:solidFill>
            <a:srgbClr val="2E7D32"/>
          </a:solidFill>
        </p:spPr>
      </p:sp>
      <p:sp>
        <p:nvSpPr>
          <p:cNvPr id="5" name="Text 3"/>
          <p:cNvSpPr/>
          <p:nvPr/>
        </p:nvSpPr>
        <p:spPr>
          <a:xfrm>
            <a:off x="822960" y="1874520"/>
            <a:ext cx="2743200" cy="365760"/>
          </a:xfrm>
          <a:prstGeom prst="rect">
            <a:avLst/>
          </a:prstGeom>
          <a:noFill/>
        </p:spPr>
        <p:txBody>
          <a:bodyPr wrap="square" lIns="0" tIns="0" rIns="0" bIns="0" rtlCol="0" anchor="ctr"/>
          <a:lstStyle/>
          <a:p>
            <a:pPr marL="0" indent="0">
              <a:buNone/>
            </a:pPr>
            <a:r>
              <a:rPr lang="en-US" sz="1600" b="1" dirty="0">
                <a:solidFill>
                  <a:srgbClr val="FFFFFF"/>
                </a:solidFill>
                <a:latin typeface="Calibri" panose="020F0502020204030204" pitchFamily="34" charset="0"/>
                <a:ea typeface="Calibri" panose="020F0502020204030204" pitchFamily="34" charset="-122"/>
                <a:cs typeface="Calibri" panose="020F0502020204030204" pitchFamily="34" charset="-120"/>
              </a:rPr>
              <a:t>Kali Linux</a:t>
            </a:r>
            <a:endParaRPr lang="en-US" sz="1600" dirty="0"/>
          </a:p>
        </p:txBody>
      </p:sp>
      <p:sp>
        <p:nvSpPr>
          <p:cNvPr id="6" name="Text 4"/>
          <p:cNvSpPr/>
          <p:nvPr/>
        </p:nvSpPr>
        <p:spPr>
          <a:xfrm>
            <a:off x="822960" y="2240280"/>
            <a:ext cx="2743200" cy="320040"/>
          </a:xfrm>
          <a:prstGeom prst="rect">
            <a:avLst/>
          </a:prstGeom>
          <a:noFill/>
        </p:spPr>
        <p:txBody>
          <a:bodyPr wrap="square" lIns="0" tIns="0" rIns="0" bIns="0" rtlCol="0" anchor="ctr"/>
          <a:lstStyle/>
          <a:p>
            <a:pPr marL="0" indent="0">
              <a:buNone/>
            </a:pPr>
            <a:r>
              <a:rPr lang="en-US" sz="1150" i="1" dirty="0">
                <a:solidFill>
                  <a:srgbClr val="8BC9A0"/>
                </a:solidFill>
                <a:latin typeface="Calibri" panose="020F0502020204030204" pitchFamily="34" charset="0"/>
                <a:ea typeface="Calibri" panose="020F0502020204030204" pitchFamily="34" charset="-122"/>
                <a:cs typeface="Calibri" panose="020F0502020204030204" pitchFamily="34" charset="-120"/>
              </a:rPr>
              <a:t>Machine attaquante</a:t>
            </a:r>
            <a:endParaRPr lang="en-US" sz="1150" dirty="0"/>
          </a:p>
        </p:txBody>
      </p:sp>
      <p:sp>
        <p:nvSpPr>
          <p:cNvPr id="7" name="Shape 5"/>
          <p:cNvSpPr/>
          <p:nvPr/>
        </p:nvSpPr>
        <p:spPr>
          <a:xfrm>
            <a:off x="822960" y="2788920"/>
            <a:ext cx="2697480" cy="502920"/>
          </a:xfrm>
          <a:prstGeom prst="roundRect">
            <a:avLst>
              <a:gd name="adj" fmla="val 50909"/>
            </a:avLst>
          </a:prstGeom>
          <a:solidFill>
            <a:srgbClr val="1F3D28"/>
          </a:solidFill>
        </p:spPr>
      </p:sp>
      <p:sp>
        <p:nvSpPr>
          <p:cNvPr id="8" name="Text 6"/>
          <p:cNvSpPr/>
          <p:nvPr/>
        </p:nvSpPr>
        <p:spPr>
          <a:xfrm>
            <a:off x="822960" y="2788920"/>
            <a:ext cx="2697480" cy="502920"/>
          </a:xfrm>
          <a:prstGeom prst="rect">
            <a:avLst/>
          </a:prstGeom>
          <a:noFill/>
        </p:spPr>
        <p:txBody>
          <a:bodyPr wrap="square" lIns="0" tIns="0" rIns="0" bIns="0" rtlCol="0" anchor="ctr"/>
          <a:lstStyle/>
          <a:p>
            <a:pPr marL="0" indent="0" algn="ctr">
              <a:buNone/>
            </a:pPr>
            <a:r>
              <a:rPr lang="en-US" sz="1200" b="1" dirty="0">
                <a:solidFill>
                  <a:srgbClr val="4CAF50"/>
                </a:solidFill>
                <a:latin typeface="Consolas" panose="020B0609020204030204" pitchFamily="34" charset="0"/>
                <a:ea typeface="Consolas" panose="020B0609020204030204" pitchFamily="34" charset="-122"/>
                <a:cs typeface="Consolas" panose="020B0609020204030204" pitchFamily="34" charset="-120"/>
              </a:rPr>
              <a:t>192.168.174.130 / .131</a:t>
            </a:r>
            <a:endParaRPr lang="en-US" sz="1200" dirty="0"/>
          </a:p>
        </p:txBody>
      </p:sp>
      <p:sp>
        <p:nvSpPr>
          <p:cNvPr id="9" name="Shape 7"/>
          <p:cNvSpPr/>
          <p:nvPr/>
        </p:nvSpPr>
        <p:spPr>
          <a:xfrm>
            <a:off x="4069080" y="1691640"/>
            <a:ext cx="3246120" cy="1965960"/>
          </a:xfrm>
          <a:prstGeom prst="roundRect">
            <a:avLst>
              <a:gd name="adj" fmla="val 3721"/>
            </a:avLst>
          </a:prstGeom>
          <a:solidFill>
            <a:srgbClr val="0D1B12"/>
          </a:solidFill>
        </p:spPr>
      </p:sp>
      <p:sp>
        <p:nvSpPr>
          <p:cNvPr id="10" name="Text 8"/>
          <p:cNvSpPr/>
          <p:nvPr/>
        </p:nvSpPr>
        <p:spPr>
          <a:xfrm>
            <a:off x="4343400" y="1874520"/>
            <a:ext cx="2743200" cy="365760"/>
          </a:xfrm>
          <a:prstGeom prst="rect">
            <a:avLst/>
          </a:prstGeom>
          <a:noFill/>
        </p:spPr>
        <p:txBody>
          <a:bodyPr wrap="square" lIns="0" tIns="0" rIns="0" bIns="0" rtlCol="0" anchor="ctr"/>
          <a:lstStyle/>
          <a:p>
            <a:pPr marL="0" indent="0">
              <a:buNone/>
            </a:pPr>
            <a:r>
              <a:rPr lang="en-US" sz="1600" b="1" dirty="0">
                <a:solidFill>
                  <a:srgbClr val="FFFFFF"/>
                </a:solidFill>
                <a:latin typeface="Calibri" panose="020F0502020204030204" pitchFamily="34" charset="0"/>
                <a:ea typeface="Calibri" panose="020F0502020204030204" pitchFamily="34" charset="-122"/>
                <a:cs typeface="Calibri" panose="020F0502020204030204" pitchFamily="34" charset="-120"/>
              </a:rPr>
              <a:t>Ubuntu Desktop</a:t>
            </a:r>
            <a:endParaRPr lang="en-US" sz="1600" dirty="0"/>
          </a:p>
        </p:txBody>
      </p:sp>
      <p:sp>
        <p:nvSpPr>
          <p:cNvPr id="11" name="Text 9"/>
          <p:cNvSpPr/>
          <p:nvPr/>
        </p:nvSpPr>
        <p:spPr>
          <a:xfrm>
            <a:off x="4343400" y="2240280"/>
            <a:ext cx="2743200" cy="320040"/>
          </a:xfrm>
          <a:prstGeom prst="rect">
            <a:avLst/>
          </a:prstGeom>
          <a:noFill/>
        </p:spPr>
        <p:txBody>
          <a:bodyPr wrap="square" lIns="0" tIns="0" rIns="0" bIns="0" rtlCol="0" anchor="ctr"/>
          <a:lstStyle/>
          <a:p>
            <a:pPr marL="0" indent="0">
              <a:buNone/>
            </a:pPr>
            <a:r>
              <a:rPr lang="en-US" sz="1150" i="1" dirty="0">
                <a:solidFill>
                  <a:srgbClr val="8BC9A0"/>
                </a:solidFill>
                <a:latin typeface="Calibri" panose="020F0502020204030204" pitchFamily="34" charset="0"/>
                <a:ea typeface="Calibri" panose="020F0502020204030204" pitchFamily="34" charset="-122"/>
                <a:cs typeface="Calibri" panose="020F0502020204030204" pitchFamily="34" charset="-120"/>
              </a:rPr>
              <a:t>Victime + HIPS</a:t>
            </a:r>
            <a:endParaRPr lang="en-US" sz="1150" dirty="0"/>
          </a:p>
        </p:txBody>
      </p:sp>
      <p:sp>
        <p:nvSpPr>
          <p:cNvPr id="12" name="Shape 10"/>
          <p:cNvSpPr/>
          <p:nvPr/>
        </p:nvSpPr>
        <p:spPr>
          <a:xfrm>
            <a:off x="4343400" y="2788920"/>
            <a:ext cx="2697480" cy="502920"/>
          </a:xfrm>
          <a:prstGeom prst="roundRect">
            <a:avLst>
              <a:gd name="adj" fmla="val 50909"/>
            </a:avLst>
          </a:prstGeom>
          <a:solidFill>
            <a:srgbClr val="1F3D28"/>
          </a:solidFill>
        </p:spPr>
      </p:sp>
      <p:sp>
        <p:nvSpPr>
          <p:cNvPr id="13" name="Text 11"/>
          <p:cNvSpPr/>
          <p:nvPr/>
        </p:nvSpPr>
        <p:spPr>
          <a:xfrm>
            <a:off x="4343400" y="2788920"/>
            <a:ext cx="2697480" cy="502920"/>
          </a:xfrm>
          <a:prstGeom prst="rect">
            <a:avLst/>
          </a:prstGeom>
          <a:noFill/>
        </p:spPr>
        <p:txBody>
          <a:bodyPr wrap="square" lIns="0" tIns="0" rIns="0" bIns="0" rtlCol="0" anchor="ctr"/>
          <a:lstStyle/>
          <a:p>
            <a:pPr marL="0" indent="0" algn="ctr">
              <a:buNone/>
            </a:pPr>
            <a:r>
              <a:rPr lang="en-US" sz="1200" b="1" dirty="0">
                <a:solidFill>
                  <a:srgbClr val="4CAF50"/>
                </a:solidFill>
                <a:latin typeface="Consolas" panose="020B0609020204030204" pitchFamily="34" charset="0"/>
                <a:ea typeface="Consolas" panose="020B0609020204030204" pitchFamily="34" charset="-122"/>
                <a:cs typeface="Consolas" panose="020B0609020204030204" pitchFamily="34" charset="-120"/>
              </a:rPr>
              <a:t>192.168.174.129</a:t>
            </a:r>
            <a:endParaRPr lang="en-US" sz="1200" dirty="0"/>
          </a:p>
        </p:txBody>
      </p:sp>
      <p:sp>
        <p:nvSpPr>
          <p:cNvPr id="14" name="Shape 12"/>
          <p:cNvSpPr/>
          <p:nvPr/>
        </p:nvSpPr>
        <p:spPr>
          <a:xfrm>
            <a:off x="7589520" y="1691640"/>
            <a:ext cx="4023360" cy="1965960"/>
          </a:xfrm>
          <a:prstGeom prst="roundRect">
            <a:avLst>
              <a:gd name="adj" fmla="val 3721"/>
            </a:avLst>
          </a:prstGeom>
          <a:solidFill>
            <a:srgbClr val="F0F5F1"/>
          </a:solidFill>
        </p:spPr>
      </p:sp>
      <p:sp>
        <p:nvSpPr>
          <p:cNvPr id="15" name="Text 13"/>
          <p:cNvSpPr/>
          <p:nvPr/>
        </p:nvSpPr>
        <p:spPr>
          <a:xfrm>
            <a:off x="7863840" y="1874520"/>
            <a:ext cx="3474720" cy="320040"/>
          </a:xfrm>
          <a:prstGeom prst="rect">
            <a:avLst/>
          </a:prstGeom>
          <a:noFill/>
        </p:spPr>
        <p:txBody>
          <a:bodyPr wrap="square" lIns="0" tIns="0" rIns="0" bIns="0" rtlCol="0" anchor="ctr"/>
          <a:lstStyle/>
          <a:p>
            <a:pPr marL="0" indent="0">
              <a:buNone/>
            </a:pPr>
            <a:r>
              <a:rPr lang="en-US" sz="1300" b="1" dirty="0">
                <a:solidFill>
                  <a:srgbClr val="1B1B1B"/>
                </a:solidFill>
                <a:latin typeface="Calibri" panose="020F0502020204030204" pitchFamily="34" charset="0"/>
                <a:ea typeface="Calibri" panose="020F0502020204030204" pitchFamily="34" charset="-122"/>
                <a:cs typeface="Calibri" panose="020F0502020204030204" pitchFamily="34" charset="-120"/>
              </a:rPr>
              <a:t>Connectivité</a:t>
            </a:r>
            <a:endParaRPr lang="en-US" sz="1300" dirty="0"/>
          </a:p>
        </p:txBody>
      </p:sp>
      <p:sp>
        <p:nvSpPr>
          <p:cNvPr id="16" name="Text 14"/>
          <p:cNvSpPr/>
          <p:nvPr/>
        </p:nvSpPr>
        <p:spPr>
          <a:xfrm>
            <a:off x="7863840" y="2240280"/>
            <a:ext cx="3474720" cy="1280160"/>
          </a:xfrm>
          <a:prstGeom prst="rect">
            <a:avLst/>
          </a:prstGeom>
          <a:noFill/>
        </p:spPr>
        <p:txBody>
          <a:bodyPr wrap="square" lIns="0" tIns="0" rIns="0" bIns="0" rtlCol="0" anchor="ctr"/>
          <a:lstStyle/>
          <a:p>
            <a:pPr marL="0" indent="0">
              <a:lnSpc>
                <a:spcPct val="125000"/>
              </a:lnSpc>
              <a:buNone/>
            </a:pPr>
            <a:r>
              <a:rPr lang="en-US" sz="1150" dirty="0">
                <a:solidFill>
                  <a:srgbClr val="5F5F5F"/>
                </a:solidFill>
                <a:latin typeface="Calibri" panose="020F0502020204030204" pitchFamily="34" charset="0"/>
                <a:ea typeface="Calibri" panose="020F0502020204030204" pitchFamily="34" charset="-122"/>
                <a:cs typeface="Calibri" panose="020F0502020204030204" pitchFamily="34" charset="-120"/>
              </a:rPr>
              <a:t>Réseau isolé host-only (192.168.174.0/24), validé par ping bidirectionnel entre les deux VMs — aucune exposition externe pendant les tests d'attaque.</a:t>
            </a:r>
            <a:endParaRPr lang="en-US" sz="1150" dirty="0"/>
          </a:p>
        </p:txBody>
      </p:sp>
      <p:sp>
        <p:nvSpPr>
          <p:cNvPr id="17" name="Text 15"/>
          <p:cNvSpPr/>
          <p:nvPr/>
        </p:nvSpPr>
        <p:spPr>
          <a:xfrm>
            <a:off x="548640" y="3977640"/>
            <a:ext cx="7315200" cy="320040"/>
          </a:xfrm>
          <a:prstGeom prst="rect">
            <a:avLst/>
          </a:prstGeom>
          <a:noFill/>
        </p:spPr>
        <p:txBody>
          <a:bodyPr wrap="square" lIns="0" tIns="0" rIns="0" bIns="0" rtlCol="0" anchor="ctr"/>
          <a:lstStyle/>
          <a:p>
            <a:pPr marL="0" indent="0">
              <a:buNone/>
            </a:pPr>
            <a:r>
              <a:rPr lang="en-US" sz="1150" b="1" kern="0" spc="150" dirty="0">
                <a:solidFill>
                  <a:srgbClr val="2E7D32"/>
                </a:solidFill>
                <a:latin typeface="Calibri" panose="020F0502020204030204" pitchFamily="34" charset="0"/>
                <a:ea typeface="Calibri" panose="020F0502020204030204" pitchFamily="34" charset="-122"/>
                <a:cs typeface="Calibri" panose="020F0502020204030204" pitchFamily="34" charset="-120"/>
              </a:rPr>
              <a:t>SERVICES ET PAQUETS INSTALLÉS (VICTIME)</a:t>
            </a:r>
            <a:endParaRPr lang="en-US" sz="1150" dirty="0"/>
          </a:p>
        </p:txBody>
      </p:sp>
      <p:sp>
        <p:nvSpPr>
          <p:cNvPr id="18" name="Shape 16"/>
          <p:cNvSpPr/>
          <p:nvPr/>
        </p:nvSpPr>
        <p:spPr>
          <a:xfrm>
            <a:off x="548640" y="4389120"/>
            <a:ext cx="1801368" cy="457200"/>
          </a:xfrm>
          <a:prstGeom prst="roundRect">
            <a:avLst>
              <a:gd name="adj" fmla="val 50000"/>
            </a:avLst>
          </a:prstGeom>
          <a:solidFill>
            <a:srgbClr val="0D1B12"/>
          </a:solidFill>
        </p:spPr>
      </p:sp>
      <p:sp>
        <p:nvSpPr>
          <p:cNvPr id="19" name="Text 17"/>
          <p:cNvSpPr/>
          <p:nvPr/>
        </p:nvSpPr>
        <p:spPr>
          <a:xfrm>
            <a:off x="548640" y="4389120"/>
            <a:ext cx="1801368" cy="457200"/>
          </a:xfrm>
          <a:prstGeom prst="rect">
            <a:avLst/>
          </a:prstGeom>
          <a:noFill/>
        </p:spPr>
        <p:txBody>
          <a:bodyPr wrap="square" lIns="0" tIns="0" rIns="0" bIns="0" rtlCol="0" anchor="ctr"/>
          <a:lstStyle/>
          <a:p>
            <a:pPr marL="0" indent="0" algn="ctr">
              <a:buNone/>
            </a:pPr>
            <a:r>
              <a:rPr lang="en-US" sz="1050" dirty="0">
                <a:solidFill>
                  <a:srgbClr val="4CAF50"/>
                </a:solidFill>
                <a:latin typeface="Consolas" panose="020B0609020204030204" pitchFamily="34" charset="0"/>
                <a:ea typeface="Consolas" panose="020B0609020204030204" pitchFamily="34" charset="-122"/>
                <a:cs typeface="Consolas" panose="020B0609020204030204" pitchFamily="34" charset="-120"/>
              </a:rPr>
              <a:t>openssh-server</a:t>
            </a:r>
            <a:endParaRPr lang="en-US" sz="1050" dirty="0"/>
          </a:p>
        </p:txBody>
      </p:sp>
      <p:sp>
        <p:nvSpPr>
          <p:cNvPr id="20" name="Shape 18"/>
          <p:cNvSpPr/>
          <p:nvPr/>
        </p:nvSpPr>
        <p:spPr>
          <a:xfrm>
            <a:off x="2532888" y="4389120"/>
            <a:ext cx="2761488" cy="457200"/>
          </a:xfrm>
          <a:prstGeom prst="roundRect">
            <a:avLst>
              <a:gd name="adj" fmla="val 50000"/>
            </a:avLst>
          </a:prstGeom>
          <a:solidFill>
            <a:srgbClr val="0D1B12"/>
          </a:solidFill>
        </p:spPr>
      </p:sp>
      <p:sp>
        <p:nvSpPr>
          <p:cNvPr id="21" name="Text 19"/>
          <p:cNvSpPr/>
          <p:nvPr/>
        </p:nvSpPr>
        <p:spPr>
          <a:xfrm>
            <a:off x="2532888" y="4389120"/>
            <a:ext cx="2761488" cy="457200"/>
          </a:xfrm>
          <a:prstGeom prst="rect">
            <a:avLst/>
          </a:prstGeom>
          <a:noFill/>
        </p:spPr>
        <p:txBody>
          <a:bodyPr wrap="square" lIns="0" tIns="0" rIns="0" bIns="0" rtlCol="0" anchor="ctr"/>
          <a:lstStyle/>
          <a:p>
            <a:pPr marL="0" indent="0" algn="ctr">
              <a:buNone/>
            </a:pPr>
            <a:r>
              <a:rPr lang="en-US" sz="1050" dirty="0">
                <a:solidFill>
                  <a:srgbClr val="4CAF50"/>
                </a:solidFill>
                <a:latin typeface="Consolas" panose="020B0609020204030204" pitchFamily="34" charset="0"/>
                <a:ea typeface="Consolas" panose="020B0609020204030204" pitchFamily="34" charset="-122"/>
                <a:cs typeface="Consolas" panose="020B0609020204030204" pitchFamily="34" charset="-120"/>
              </a:rPr>
              <a:t>auditd + audispd-plugins</a:t>
            </a:r>
            <a:endParaRPr lang="en-US" sz="1050" dirty="0"/>
          </a:p>
        </p:txBody>
      </p:sp>
      <p:sp>
        <p:nvSpPr>
          <p:cNvPr id="22" name="Shape 20"/>
          <p:cNvSpPr/>
          <p:nvPr/>
        </p:nvSpPr>
        <p:spPr>
          <a:xfrm>
            <a:off x="5477256" y="4389120"/>
            <a:ext cx="1705356" cy="457200"/>
          </a:xfrm>
          <a:prstGeom prst="roundRect">
            <a:avLst>
              <a:gd name="adj" fmla="val 50000"/>
            </a:avLst>
          </a:prstGeom>
          <a:solidFill>
            <a:srgbClr val="0D1B12"/>
          </a:solidFill>
        </p:spPr>
      </p:sp>
      <p:sp>
        <p:nvSpPr>
          <p:cNvPr id="23" name="Text 21"/>
          <p:cNvSpPr/>
          <p:nvPr/>
        </p:nvSpPr>
        <p:spPr>
          <a:xfrm>
            <a:off x="5477256" y="4389120"/>
            <a:ext cx="1705356" cy="457200"/>
          </a:xfrm>
          <a:prstGeom prst="rect">
            <a:avLst/>
          </a:prstGeom>
          <a:noFill/>
        </p:spPr>
        <p:txBody>
          <a:bodyPr wrap="square" lIns="0" tIns="0" rIns="0" bIns="0" rtlCol="0" anchor="ctr"/>
          <a:lstStyle/>
          <a:p>
            <a:pPr marL="0" indent="0" algn="ctr">
              <a:buNone/>
            </a:pPr>
            <a:r>
              <a:rPr lang="en-US" sz="1050" dirty="0">
                <a:solidFill>
                  <a:srgbClr val="4CAF50"/>
                </a:solidFill>
                <a:latin typeface="Consolas" panose="020B0609020204030204" pitchFamily="34" charset="0"/>
                <a:ea typeface="Consolas" panose="020B0609020204030204" pitchFamily="34" charset="-122"/>
                <a:cs typeface="Consolas" panose="020B0609020204030204" pitchFamily="34" charset="-120"/>
              </a:rPr>
              <a:t>python3 + pip</a:t>
            </a:r>
            <a:endParaRPr lang="en-US" sz="1050" dirty="0"/>
          </a:p>
        </p:txBody>
      </p:sp>
      <p:sp>
        <p:nvSpPr>
          <p:cNvPr id="24" name="Shape 22"/>
          <p:cNvSpPr/>
          <p:nvPr/>
        </p:nvSpPr>
        <p:spPr>
          <a:xfrm>
            <a:off x="7365492" y="4389120"/>
            <a:ext cx="937260" cy="457200"/>
          </a:xfrm>
          <a:prstGeom prst="roundRect">
            <a:avLst>
              <a:gd name="adj" fmla="val 50000"/>
            </a:avLst>
          </a:prstGeom>
          <a:solidFill>
            <a:srgbClr val="0D1B12"/>
          </a:solidFill>
        </p:spPr>
      </p:sp>
      <p:sp>
        <p:nvSpPr>
          <p:cNvPr id="25" name="Text 23"/>
          <p:cNvSpPr/>
          <p:nvPr/>
        </p:nvSpPr>
        <p:spPr>
          <a:xfrm>
            <a:off x="7365492" y="4389120"/>
            <a:ext cx="937260" cy="457200"/>
          </a:xfrm>
          <a:prstGeom prst="rect">
            <a:avLst/>
          </a:prstGeom>
          <a:noFill/>
        </p:spPr>
        <p:txBody>
          <a:bodyPr wrap="square" lIns="0" tIns="0" rIns="0" bIns="0" rtlCol="0" anchor="ctr"/>
          <a:lstStyle/>
          <a:p>
            <a:pPr marL="0" indent="0" algn="ctr">
              <a:buNone/>
            </a:pPr>
            <a:r>
              <a:rPr lang="en-US" sz="1050" dirty="0">
                <a:solidFill>
                  <a:srgbClr val="4CAF50"/>
                </a:solidFill>
                <a:latin typeface="Consolas" panose="020B0609020204030204" pitchFamily="34" charset="0"/>
                <a:ea typeface="Consolas" panose="020B0609020204030204" pitchFamily="34" charset="-122"/>
                <a:cs typeface="Consolas" panose="020B0609020204030204" pitchFamily="34" charset="-120"/>
              </a:rPr>
              <a:t>Flask</a:t>
            </a:r>
            <a:endParaRPr lang="en-US" sz="1050" dirty="0"/>
          </a:p>
        </p:txBody>
      </p:sp>
      <p:sp>
        <p:nvSpPr>
          <p:cNvPr id="26" name="Shape 24"/>
          <p:cNvSpPr/>
          <p:nvPr/>
        </p:nvSpPr>
        <p:spPr>
          <a:xfrm>
            <a:off x="8485632" y="4389120"/>
            <a:ext cx="1225296" cy="457200"/>
          </a:xfrm>
          <a:prstGeom prst="roundRect">
            <a:avLst>
              <a:gd name="adj" fmla="val 50000"/>
            </a:avLst>
          </a:prstGeom>
          <a:solidFill>
            <a:srgbClr val="0D1B12"/>
          </a:solidFill>
        </p:spPr>
      </p:sp>
      <p:sp>
        <p:nvSpPr>
          <p:cNvPr id="27" name="Text 25"/>
          <p:cNvSpPr/>
          <p:nvPr/>
        </p:nvSpPr>
        <p:spPr>
          <a:xfrm>
            <a:off x="8485632" y="4389120"/>
            <a:ext cx="1225296" cy="457200"/>
          </a:xfrm>
          <a:prstGeom prst="rect">
            <a:avLst/>
          </a:prstGeom>
          <a:noFill/>
        </p:spPr>
        <p:txBody>
          <a:bodyPr wrap="square" lIns="0" tIns="0" rIns="0" bIns="0" rtlCol="0" anchor="ctr"/>
          <a:lstStyle/>
          <a:p>
            <a:pPr marL="0" indent="0" algn="ctr">
              <a:buNone/>
            </a:pPr>
            <a:r>
              <a:rPr lang="en-US" sz="1050" dirty="0">
                <a:solidFill>
                  <a:srgbClr val="4CAF50"/>
                </a:solidFill>
                <a:latin typeface="Consolas" panose="020B0609020204030204" pitchFamily="34" charset="0"/>
                <a:ea typeface="Consolas" panose="020B0609020204030204" pitchFamily="34" charset="-122"/>
                <a:cs typeface="Consolas" panose="020B0609020204030204" pitchFamily="34" charset="-120"/>
              </a:rPr>
              <a:t>iptables</a:t>
            </a:r>
            <a:endParaRPr lang="en-US" sz="1050" dirty="0"/>
          </a:p>
        </p:txBody>
      </p:sp>
      <p:sp>
        <p:nvSpPr>
          <p:cNvPr id="28" name="Text 26"/>
          <p:cNvSpPr/>
          <p:nvPr/>
        </p:nvSpPr>
        <p:spPr>
          <a:xfrm>
            <a:off x="548640" y="5120640"/>
            <a:ext cx="7315200" cy="320040"/>
          </a:xfrm>
          <a:prstGeom prst="rect">
            <a:avLst/>
          </a:prstGeom>
          <a:noFill/>
        </p:spPr>
        <p:txBody>
          <a:bodyPr wrap="square" lIns="0" tIns="0" rIns="0" bIns="0" rtlCol="0" anchor="ctr"/>
          <a:lstStyle/>
          <a:p>
            <a:pPr marL="0" indent="0">
              <a:buNone/>
            </a:pPr>
            <a:r>
              <a:rPr lang="en-US" sz="1150" b="1" kern="0" spc="150" dirty="0">
                <a:solidFill>
                  <a:srgbClr val="2E7D32"/>
                </a:solidFill>
                <a:latin typeface="Calibri" panose="020F0502020204030204" pitchFamily="34" charset="0"/>
                <a:ea typeface="Calibri" panose="020F0502020204030204" pitchFamily="34" charset="-122"/>
                <a:cs typeface="Calibri" panose="020F0502020204030204" pitchFamily="34" charset="-120"/>
              </a:rPr>
              <a:t>ORGANISATION DU PROJET</a:t>
            </a:r>
            <a:endParaRPr lang="en-US" sz="1150" dirty="0"/>
          </a:p>
        </p:txBody>
      </p:sp>
      <p:sp>
        <p:nvSpPr>
          <p:cNvPr id="29" name="Shape 27"/>
          <p:cNvSpPr/>
          <p:nvPr/>
        </p:nvSpPr>
        <p:spPr>
          <a:xfrm>
            <a:off x="548640" y="5486400"/>
            <a:ext cx="11064240" cy="960120"/>
          </a:xfrm>
          <a:prstGeom prst="roundRect">
            <a:avLst>
              <a:gd name="adj" fmla="val 5714"/>
            </a:avLst>
          </a:prstGeom>
          <a:solidFill>
            <a:srgbClr val="0D1B12"/>
          </a:solidFill>
        </p:spPr>
      </p:sp>
      <p:sp>
        <p:nvSpPr>
          <p:cNvPr id="30" name="Text 28"/>
          <p:cNvSpPr/>
          <p:nvPr/>
        </p:nvSpPr>
        <p:spPr>
          <a:xfrm>
            <a:off x="822960" y="5486400"/>
            <a:ext cx="10515600" cy="960120"/>
          </a:xfrm>
          <a:prstGeom prst="rect">
            <a:avLst/>
          </a:prstGeom>
          <a:noFill/>
        </p:spPr>
        <p:txBody>
          <a:bodyPr wrap="square" lIns="0" tIns="0" rIns="0" bIns="0" rtlCol="0" anchor="ctr"/>
          <a:lstStyle/>
          <a:p>
            <a:pPr marL="0" indent="0">
              <a:buNone/>
            </a:pPr>
            <a:r>
              <a:rPr lang="en-US" sz="1200" dirty="0">
                <a:solidFill>
                  <a:srgbClr val="4CAF50"/>
                </a:solidFill>
                <a:latin typeface="Consolas" panose="020B0609020204030204" pitchFamily="34" charset="0"/>
                <a:ea typeface="Consolas" panose="020B0609020204030204" pitchFamily="34" charset="-122"/>
                <a:cs typeface="Consolas" panose="020B0609020204030204" pitchFamily="34" charset="-120"/>
              </a:rPr>
              <a:t>~/hips-project/  →  hips.py · actions.py · alert_store.py · alerts.jsonl · actions.log · dashboard/(app.py, static/script.js, static/style.css)</a:t>
            </a:r>
            <a:endParaRPr lang="en-US" sz="1200" dirty="0"/>
          </a:p>
        </p:txBody>
      </p:sp>
      <p:sp>
        <p:nvSpPr>
          <p:cNvPr id="31" name="Text 29"/>
          <p:cNvSpPr/>
          <p:nvPr/>
        </p:nvSpPr>
        <p:spPr>
          <a:xfrm>
            <a:off x="11521440" y="6446520"/>
            <a:ext cx="548640" cy="320040"/>
          </a:xfrm>
          <a:prstGeom prst="rect">
            <a:avLst/>
          </a:prstGeom>
          <a:noFill/>
        </p:spPr>
        <p:txBody>
          <a:bodyPr wrap="square" lIns="0" tIns="0" rIns="0" bIns="0" rtlCol="0" anchor="ctr"/>
          <a:lstStyle/>
          <a:p>
            <a:pPr marL="0" indent="0" algn="r">
              <a:buNone/>
            </a:pPr>
            <a:r>
              <a:rPr lang="en-US" sz="1100" dirty="0">
                <a:solidFill>
                  <a:srgbClr val="B7C2BC"/>
                </a:solidFill>
                <a:latin typeface="Calibri" panose="020F0502020204030204" pitchFamily="34" charset="0"/>
                <a:ea typeface="Calibri" panose="020F0502020204030204" pitchFamily="34" charset="-122"/>
                <a:cs typeface="Calibri" panose="020F0502020204030204" pitchFamily="34" charset="-120"/>
              </a:rPr>
              <a:t>07</a:t>
            </a:r>
            <a:endParaRPr lang="en-US" sz="11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65760"/>
            <a:ext cx="7315200" cy="365760"/>
          </a:xfrm>
          <a:prstGeom prst="rect">
            <a:avLst/>
          </a:prstGeom>
          <a:noFill/>
        </p:spPr>
        <p:txBody>
          <a:bodyPr wrap="square" lIns="0" tIns="0" rIns="0" bIns="0" rtlCol="0" anchor="ctr"/>
          <a:lstStyle/>
          <a:p>
            <a:pPr marL="0" indent="0">
              <a:buNone/>
            </a:pPr>
            <a:r>
              <a:rPr lang="en-US" sz="1200" b="1" kern="0" spc="200" dirty="0">
                <a:solidFill>
                  <a:srgbClr val="2E7D32"/>
                </a:solidFill>
                <a:latin typeface="Calibri" panose="020F0502020204030204" pitchFamily="34" charset="0"/>
                <a:ea typeface="Calibri" panose="020F0502020204030204" pitchFamily="34" charset="-122"/>
                <a:cs typeface="Calibri" panose="020F0502020204030204" pitchFamily="34" charset="-120"/>
              </a:rPr>
              <a:t>06 — IMPLÉMENTATION TECHNIQUE</a:t>
            </a:r>
            <a:endParaRPr lang="en-US" sz="1200" dirty="0"/>
          </a:p>
        </p:txBody>
      </p:sp>
      <p:sp>
        <p:nvSpPr>
          <p:cNvPr id="3" name="Text 1"/>
          <p:cNvSpPr/>
          <p:nvPr/>
        </p:nvSpPr>
        <p:spPr>
          <a:xfrm>
            <a:off x="548640" y="685800"/>
            <a:ext cx="10515600" cy="731520"/>
          </a:xfrm>
          <a:prstGeom prst="rect">
            <a:avLst/>
          </a:prstGeom>
          <a:noFill/>
        </p:spPr>
        <p:txBody>
          <a:bodyPr wrap="square" lIns="0" tIns="0" rIns="0" bIns="0" rtlCol="0" anchor="ctr"/>
          <a:lstStyle/>
          <a:p>
            <a:pPr marL="0" indent="0">
              <a:buNone/>
            </a:pPr>
            <a:r>
              <a:rPr lang="en-US" sz="3000" b="1" dirty="0">
                <a:solidFill>
                  <a:srgbClr val="1B1B1B"/>
                </a:solidFill>
                <a:latin typeface="Cambria" panose="02040503050406030204" pitchFamily="34" charset="0"/>
                <a:ea typeface="Cambria" panose="02040503050406030204" pitchFamily="34" charset="-122"/>
                <a:cs typeface="Cambria" panose="02040503050406030204" pitchFamily="34" charset="-120"/>
              </a:rPr>
              <a:t>Collecte des événements &amp; moteur de détection</a:t>
            </a:r>
            <a:endParaRPr lang="en-US" sz="3000" dirty="0"/>
          </a:p>
        </p:txBody>
      </p:sp>
      <p:sp>
        <p:nvSpPr>
          <p:cNvPr id="4" name="Text 2"/>
          <p:cNvSpPr/>
          <p:nvPr/>
        </p:nvSpPr>
        <p:spPr>
          <a:xfrm>
            <a:off x="548640" y="1600200"/>
            <a:ext cx="5486400" cy="365760"/>
          </a:xfrm>
          <a:prstGeom prst="rect">
            <a:avLst/>
          </a:prstGeom>
          <a:noFill/>
        </p:spPr>
        <p:txBody>
          <a:bodyPr wrap="square" lIns="0" tIns="0" rIns="0" bIns="0" rtlCol="0" anchor="ctr"/>
          <a:lstStyle/>
          <a:p>
            <a:pPr marL="0" indent="0">
              <a:buNone/>
            </a:pPr>
            <a:r>
              <a:rPr lang="en-US" sz="1500" b="1" dirty="0">
                <a:solidFill>
                  <a:srgbClr val="1B1B1B"/>
                </a:solidFill>
                <a:latin typeface="Calibri" panose="020F0502020204030204" pitchFamily="34" charset="0"/>
                <a:ea typeface="Calibri" panose="020F0502020204030204" pitchFamily="34" charset="-122"/>
                <a:cs typeface="Calibri" panose="020F0502020204030204" pitchFamily="34" charset="-120"/>
              </a:rPr>
              <a:t>Règles auditd ciblées</a:t>
            </a:r>
            <a:endParaRPr lang="en-US" sz="1500" dirty="0"/>
          </a:p>
        </p:txBody>
      </p:sp>
      <p:sp>
        <p:nvSpPr>
          <p:cNvPr id="5" name="Shape 3"/>
          <p:cNvSpPr/>
          <p:nvPr/>
        </p:nvSpPr>
        <p:spPr>
          <a:xfrm>
            <a:off x="548640" y="1965960"/>
            <a:ext cx="5669280" cy="1965960"/>
          </a:xfrm>
          <a:prstGeom prst="roundRect">
            <a:avLst>
              <a:gd name="adj" fmla="val 2791"/>
            </a:avLst>
          </a:prstGeom>
          <a:solidFill>
            <a:srgbClr val="0D1B12"/>
          </a:solidFill>
        </p:spPr>
      </p:sp>
      <p:sp>
        <p:nvSpPr>
          <p:cNvPr id="6" name="Text 4"/>
          <p:cNvSpPr/>
          <p:nvPr/>
        </p:nvSpPr>
        <p:spPr>
          <a:xfrm>
            <a:off x="777240" y="2148840"/>
            <a:ext cx="5212080" cy="1691640"/>
          </a:xfrm>
          <a:prstGeom prst="rect">
            <a:avLst/>
          </a:prstGeom>
          <a:noFill/>
        </p:spPr>
        <p:txBody>
          <a:bodyPr wrap="square" lIns="0" tIns="0" rIns="0" bIns="0" rtlCol="0" anchor="ctr"/>
          <a:lstStyle/>
          <a:p>
            <a:pPr marL="0" indent="0">
              <a:lnSpc>
                <a:spcPct val="130000"/>
              </a:lnSpc>
              <a:buNone/>
            </a:pPr>
            <a:r>
              <a:rPr lang="en-US" sz="1100" dirty="0">
                <a:solidFill>
                  <a:srgbClr val="4CAF50"/>
                </a:solidFill>
                <a:latin typeface="Consolas" panose="020B0609020204030204" pitchFamily="34" charset="0"/>
                <a:ea typeface="Consolas" panose="020B0609020204030204" pitchFamily="34" charset="-122"/>
                <a:cs typeface="Consolas" panose="020B0609020204030204" pitchFamily="34" charset="-120"/>
              </a:rPr>
              <a:t>-w /etc/shadow  -p rwa -k access_shadow
</a:t>
            </a:r>
            <a:r>
              <a:rPr lang="en-US" sz="1100" dirty="0">
                <a:solidFill>
                  <a:srgbClr val="4CAF50"/>
                </a:solidFill>
                <a:latin typeface="Consolas" panose="020B0609020204030204" pitchFamily="34" charset="0"/>
                <a:ea typeface="Consolas" panose="020B0609020204030204" pitchFamily="34" charset="-122"/>
                <a:cs typeface="Consolas" panose="020B0609020204030204" pitchFamily="34" charset="-120"/>
              </a:rPr>
              <a:t>-w /etc/passwd  -p rwa -k access_passwd
</a:t>
            </a:r>
            <a:r>
              <a:rPr lang="en-US" sz="1100" dirty="0">
                <a:solidFill>
                  <a:srgbClr val="4CAF50"/>
                </a:solidFill>
                <a:latin typeface="Consolas" panose="020B0609020204030204" pitchFamily="34" charset="0"/>
                <a:ea typeface="Consolas" panose="020B0609020204030204" pitchFamily="34" charset="-122"/>
                <a:cs typeface="Consolas" panose="020B0609020204030204" pitchFamily="34" charset="-120"/>
              </a:rPr>
              <a:t>-w /etc/sudoers -p rwa -k access_sudoers
</a:t>
            </a:r>
            <a:r>
              <a:rPr lang="en-US" sz="1100" dirty="0">
                <a:solidFill>
                  <a:srgbClr val="8BC9A0"/>
                </a:solidFill>
                <a:latin typeface="Consolas" panose="020B0609020204030204" pitchFamily="34" charset="0"/>
                <a:ea typeface="Consolas" panose="020B0609020204030204" pitchFamily="34" charset="-122"/>
                <a:cs typeface="Consolas" panose="020B0609020204030204" pitchFamily="34" charset="-120"/>
              </a:rPr>
              <a:t>-w /usr/bin/wget -p x -k exec_suspicious
</a:t>
            </a:r>
            <a:r>
              <a:rPr lang="en-US" sz="1100" dirty="0">
                <a:solidFill>
                  <a:srgbClr val="8BC9A0"/>
                </a:solidFill>
                <a:latin typeface="Consolas" panose="020B0609020204030204" pitchFamily="34" charset="0"/>
                <a:ea typeface="Consolas" panose="020B0609020204030204" pitchFamily="34" charset="-122"/>
                <a:cs typeface="Consolas" panose="020B0609020204030204" pitchFamily="34" charset="-120"/>
              </a:rPr>
              <a:t>-w /usr/bin/ncat -p x -k exec_suspicious
</a:t>
            </a:r>
            <a:r>
              <a:rPr lang="en-US" sz="1100" dirty="0">
                <a:solidFill>
                  <a:srgbClr val="8BC9A0"/>
                </a:solidFill>
                <a:latin typeface="Consolas" panose="020B0609020204030204" pitchFamily="34" charset="0"/>
                <a:ea typeface="Consolas" panose="020B0609020204030204" pitchFamily="34" charset="-122"/>
                <a:cs typeface="Consolas" panose="020B0609020204030204" pitchFamily="34" charset="-120"/>
              </a:rPr>
              <a:t>-w /bin/nc.openbsd -p x -k exec_suspicious</a:t>
            </a:r>
            <a:endParaRPr lang="en-US" sz="1100" dirty="0"/>
          </a:p>
        </p:txBody>
      </p:sp>
      <p:sp>
        <p:nvSpPr>
          <p:cNvPr id="7" name="Text 5"/>
          <p:cNvSpPr/>
          <p:nvPr/>
        </p:nvSpPr>
        <p:spPr>
          <a:xfrm>
            <a:off x="548640" y="4160520"/>
            <a:ext cx="5486400" cy="365760"/>
          </a:xfrm>
          <a:prstGeom prst="rect">
            <a:avLst/>
          </a:prstGeom>
          <a:noFill/>
        </p:spPr>
        <p:txBody>
          <a:bodyPr wrap="square" lIns="0" tIns="0" rIns="0" bIns="0" rtlCol="0" anchor="ctr"/>
          <a:lstStyle/>
          <a:p>
            <a:pPr marL="0" indent="0">
              <a:buNone/>
            </a:pPr>
            <a:r>
              <a:rPr lang="en-US" sz="1500" b="1" dirty="0">
                <a:solidFill>
                  <a:srgbClr val="1B1B1B"/>
                </a:solidFill>
                <a:latin typeface="Calibri" panose="020F0502020204030204" pitchFamily="34" charset="0"/>
                <a:ea typeface="Calibri" panose="020F0502020204030204" pitchFamily="34" charset="-122"/>
                <a:cs typeface="Calibri" panose="020F0502020204030204" pitchFamily="34" charset="-120"/>
              </a:rPr>
              <a:t>Deux modules en parallèle (threads)</a:t>
            </a:r>
            <a:endParaRPr lang="en-US" sz="1500" dirty="0"/>
          </a:p>
        </p:txBody>
      </p:sp>
      <p:sp>
        <p:nvSpPr>
          <p:cNvPr id="8" name="Shape 6"/>
          <p:cNvSpPr/>
          <p:nvPr/>
        </p:nvSpPr>
        <p:spPr>
          <a:xfrm>
            <a:off x="548640" y="4572000"/>
            <a:ext cx="5669280" cy="685800"/>
          </a:xfrm>
          <a:prstGeom prst="roundRect">
            <a:avLst>
              <a:gd name="adj" fmla="val 8000"/>
            </a:avLst>
          </a:prstGeom>
          <a:solidFill>
            <a:srgbClr val="F0F5F1"/>
          </a:solidFill>
        </p:spPr>
      </p:sp>
      <p:sp>
        <p:nvSpPr>
          <p:cNvPr id="9" name="Text 7"/>
          <p:cNvSpPr/>
          <p:nvPr/>
        </p:nvSpPr>
        <p:spPr>
          <a:xfrm>
            <a:off x="777240" y="4626864"/>
            <a:ext cx="5212080" cy="292608"/>
          </a:xfrm>
          <a:prstGeom prst="rect">
            <a:avLst/>
          </a:prstGeom>
          <a:noFill/>
        </p:spPr>
        <p:txBody>
          <a:bodyPr wrap="square" lIns="0" tIns="0" rIns="0" bIns="0" rtlCol="0" anchor="ctr"/>
          <a:lstStyle/>
          <a:p>
            <a:pPr marL="0" indent="0">
              <a:buNone/>
            </a:pPr>
            <a:r>
              <a:rPr lang="en-US" sz="1250" b="1" dirty="0">
                <a:solidFill>
                  <a:srgbClr val="1B1B1B"/>
                </a:solidFill>
                <a:latin typeface="Calibri" panose="020F0502020204030204" pitchFamily="34" charset="0"/>
                <a:ea typeface="Calibri" panose="020F0502020204030204" pitchFamily="34" charset="-122"/>
                <a:cs typeface="Calibri" panose="020F0502020204030204" pitchFamily="34" charset="-120"/>
              </a:rPr>
              <a:t>Fichiers &amp; exécutions</a:t>
            </a:r>
            <a:endParaRPr lang="en-US" sz="1250" dirty="0"/>
          </a:p>
        </p:txBody>
      </p:sp>
      <p:sp>
        <p:nvSpPr>
          <p:cNvPr id="10" name="Text 8"/>
          <p:cNvSpPr/>
          <p:nvPr/>
        </p:nvSpPr>
        <p:spPr>
          <a:xfrm>
            <a:off x="777240" y="4919472"/>
            <a:ext cx="5212080" cy="292608"/>
          </a:xfrm>
          <a:prstGeom prst="rect">
            <a:avLst/>
          </a:prstGeom>
          <a:noFill/>
        </p:spPr>
        <p:txBody>
          <a:bodyPr wrap="square" lIns="0" tIns="0" rIns="0" bIns="0" rtlCol="0" anchor="ctr"/>
          <a:lstStyle/>
          <a:p>
            <a:pPr marL="0" indent="0">
              <a:buNone/>
            </a:pPr>
            <a:r>
              <a:rPr lang="en-US" sz="1000" dirty="0">
                <a:solidFill>
                  <a:srgbClr val="5F5F5F"/>
                </a:solidFill>
                <a:latin typeface="Calibri" panose="020F0502020204030204" pitchFamily="34" charset="0"/>
                <a:ea typeface="Calibri" panose="020F0502020204030204" pitchFamily="34" charset="-122"/>
                <a:cs typeface="Calibri" panose="020F0502020204030204" pitchFamily="34" charset="-120"/>
              </a:rPr>
              <a:t>Corrélation d'événements auditd + filtre anti-bruit (liste blanche de processus système)</a:t>
            </a:r>
            <a:endParaRPr lang="en-US" sz="1000" dirty="0"/>
          </a:p>
        </p:txBody>
      </p:sp>
      <p:sp>
        <p:nvSpPr>
          <p:cNvPr id="11" name="Shape 9"/>
          <p:cNvSpPr/>
          <p:nvPr/>
        </p:nvSpPr>
        <p:spPr>
          <a:xfrm>
            <a:off x="548640" y="5394960"/>
            <a:ext cx="5669280" cy="685800"/>
          </a:xfrm>
          <a:prstGeom prst="roundRect">
            <a:avLst>
              <a:gd name="adj" fmla="val 8000"/>
            </a:avLst>
          </a:prstGeom>
          <a:solidFill>
            <a:srgbClr val="F0F5F1"/>
          </a:solidFill>
        </p:spPr>
      </p:sp>
      <p:sp>
        <p:nvSpPr>
          <p:cNvPr id="12" name="Text 10"/>
          <p:cNvSpPr/>
          <p:nvPr/>
        </p:nvSpPr>
        <p:spPr>
          <a:xfrm>
            <a:off x="777240" y="5449824"/>
            <a:ext cx="5212080" cy="292608"/>
          </a:xfrm>
          <a:prstGeom prst="rect">
            <a:avLst/>
          </a:prstGeom>
          <a:noFill/>
        </p:spPr>
        <p:txBody>
          <a:bodyPr wrap="square" lIns="0" tIns="0" rIns="0" bIns="0" rtlCol="0" anchor="ctr"/>
          <a:lstStyle/>
          <a:p>
            <a:pPr marL="0" indent="0">
              <a:buNone/>
            </a:pPr>
            <a:r>
              <a:rPr lang="en-US" sz="1250" b="1" dirty="0">
                <a:solidFill>
                  <a:srgbClr val="1B1B1B"/>
                </a:solidFill>
                <a:latin typeface="Calibri" panose="020F0502020204030204" pitchFamily="34" charset="0"/>
                <a:ea typeface="Calibri" panose="020F0502020204030204" pitchFamily="34" charset="-122"/>
                <a:cs typeface="Calibri" panose="020F0502020204030204" pitchFamily="34" charset="-120"/>
              </a:rPr>
              <a:t>Brute force SSH</a:t>
            </a:r>
            <a:endParaRPr lang="en-US" sz="1250" dirty="0"/>
          </a:p>
        </p:txBody>
      </p:sp>
      <p:sp>
        <p:nvSpPr>
          <p:cNvPr id="13" name="Text 11"/>
          <p:cNvSpPr/>
          <p:nvPr/>
        </p:nvSpPr>
        <p:spPr>
          <a:xfrm>
            <a:off x="777240" y="5742432"/>
            <a:ext cx="5212080" cy="292608"/>
          </a:xfrm>
          <a:prstGeom prst="rect">
            <a:avLst/>
          </a:prstGeom>
          <a:noFill/>
        </p:spPr>
        <p:txBody>
          <a:bodyPr wrap="square" lIns="0" tIns="0" rIns="0" bIns="0" rtlCol="0" anchor="ctr"/>
          <a:lstStyle/>
          <a:p>
            <a:pPr marL="0" indent="0">
              <a:buNone/>
            </a:pPr>
            <a:r>
              <a:rPr lang="en-US" sz="1000" dirty="0">
                <a:solidFill>
                  <a:srgbClr val="5F5F5F"/>
                </a:solidFill>
                <a:latin typeface="Calibri" panose="020F0502020204030204" pitchFamily="34" charset="0"/>
                <a:ea typeface="Calibri" panose="020F0502020204030204" pitchFamily="34" charset="-122"/>
                <a:cs typeface="Calibri" panose="020F0502020204030204" pitchFamily="34" charset="-120"/>
              </a:rPr>
              <a:t>Comptage des échecs par IP, fenêtre glissante 60s, seuil = 5 tentatives</a:t>
            </a:r>
            <a:endParaRPr lang="en-US" sz="1000" dirty="0"/>
          </a:p>
        </p:txBody>
      </p:sp>
      <p:sp>
        <p:nvSpPr>
          <p:cNvPr id="14" name="Text 12"/>
          <p:cNvSpPr/>
          <p:nvPr/>
        </p:nvSpPr>
        <p:spPr>
          <a:xfrm>
            <a:off x="6537960" y="1600200"/>
            <a:ext cx="5120640" cy="365760"/>
          </a:xfrm>
          <a:prstGeom prst="rect">
            <a:avLst/>
          </a:prstGeom>
          <a:noFill/>
        </p:spPr>
        <p:txBody>
          <a:bodyPr wrap="square" lIns="0" tIns="0" rIns="0" bIns="0" rtlCol="0" anchor="ctr"/>
          <a:lstStyle/>
          <a:p>
            <a:pPr marL="0" indent="0">
              <a:buNone/>
            </a:pPr>
            <a:r>
              <a:rPr lang="en-US" sz="1500" b="1" dirty="0">
                <a:solidFill>
                  <a:srgbClr val="1B1B1B"/>
                </a:solidFill>
                <a:latin typeface="Calibri" panose="020F0502020204030204" pitchFamily="34" charset="0"/>
                <a:ea typeface="Calibri" panose="020F0502020204030204" pitchFamily="34" charset="-122"/>
                <a:cs typeface="Calibri" panose="020F0502020204030204" pitchFamily="34" charset="-120"/>
              </a:rPr>
              <a:t>Alerte structurée (alerts.jsonl)</a:t>
            </a:r>
            <a:endParaRPr lang="en-US" sz="1500" dirty="0"/>
          </a:p>
        </p:txBody>
      </p:sp>
      <p:sp>
        <p:nvSpPr>
          <p:cNvPr id="15" name="Shape 13"/>
          <p:cNvSpPr/>
          <p:nvPr/>
        </p:nvSpPr>
        <p:spPr>
          <a:xfrm>
            <a:off x="6537960" y="1965960"/>
            <a:ext cx="5120640" cy="2377440"/>
          </a:xfrm>
          <a:prstGeom prst="roundRect">
            <a:avLst>
              <a:gd name="adj" fmla="val 2308"/>
            </a:avLst>
          </a:prstGeom>
          <a:solidFill>
            <a:srgbClr val="0D1B12"/>
          </a:solidFill>
        </p:spPr>
      </p:sp>
      <p:sp>
        <p:nvSpPr>
          <p:cNvPr id="16" name="Text 14"/>
          <p:cNvSpPr/>
          <p:nvPr/>
        </p:nvSpPr>
        <p:spPr>
          <a:xfrm>
            <a:off x="6812280" y="2148840"/>
            <a:ext cx="4572000" cy="2103120"/>
          </a:xfrm>
          <a:prstGeom prst="rect">
            <a:avLst/>
          </a:prstGeom>
          <a:noFill/>
        </p:spPr>
        <p:txBody>
          <a:bodyPr wrap="square" lIns="0" tIns="0" rIns="0" bIns="0" rtlCol="0" anchor="ctr"/>
          <a:lstStyle/>
          <a:p>
            <a:pPr marL="0" indent="0">
              <a:lnSpc>
                <a:spcPct val="125000"/>
              </a:lnSpc>
              <a:buNone/>
            </a:pPr>
            <a:r>
              <a:rPr lang="en-US" sz="1050" dirty="0">
                <a:solidFill>
                  <a:srgbClr val="9FB3A6"/>
                </a:solidFill>
                <a:latin typeface="Consolas" panose="020B0609020204030204" pitchFamily="34" charset="0"/>
                <a:ea typeface="Consolas" panose="020B0609020204030204" pitchFamily="34" charset="-122"/>
                <a:cs typeface="Consolas" panose="020B0609020204030204" pitchFamily="34" charset="-120"/>
              </a:rPr>
              <a:t>{
</a:t>
            </a:r>
            <a:r>
              <a:rPr lang="en-US" sz="1050" dirty="0">
                <a:solidFill>
                  <a:srgbClr val="8BC9A0"/>
                </a:solidFill>
                <a:latin typeface="Consolas" panose="020B0609020204030204" pitchFamily="34" charset="0"/>
                <a:ea typeface="Consolas" panose="020B0609020204030204" pitchFamily="34" charset="-122"/>
                <a:cs typeface="Consolas" panose="020B0609020204030204" pitchFamily="34" charset="-120"/>
              </a:rPr>
              <a:t>  "timestamp": </a:t>
            </a:r>
            <a:r>
              <a:rPr lang="en-US" sz="1050" dirty="0">
                <a:solidFill>
                  <a:srgbClr val="4CAF50"/>
                </a:solidFill>
                <a:latin typeface="Consolas" panose="020B0609020204030204" pitchFamily="34" charset="0"/>
                <a:ea typeface="Consolas" panose="020B0609020204030204" pitchFamily="34" charset="-122"/>
                <a:cs typeface="Consolas" panose="020B0609020204030204" pitchFamily="34" charset="-120"/>
              </a:rPr>
              <a:t>"2026-07-11T11:21:46",
</a:t>
            </a:r>
            <a:r>
              <a:rPr lang="en-US" sz="1050" dirty="0">
                <a:solidFill>
                  <a:srgbClr val="8BC9A0"/>
                </a:solidFill>
                <a:latin typeface="Consolas" panose="020B0609020204030204" pitchFamily="34" charset="0"/>
                <a:ea typeface="Consolas" panose="020B0609020204030204" pitchFamily="34" charset="-122"/>
                <a:cs typeface="Consolas" panose="020B0609020204030204" pitchFamily="34" charset="-120"/>
              </a:rPr>
              <a:t>  "type": </a:t>
            </a:r>
            <a:r>
              <a:rPr lang="en-US" sz="1050" dirty="0">
                <a:solidFill>
                  <a:srgbClr val="4CAF50"/>
                </a:solidFill>
                <a:latin typeface="Consolas" panose="020B0609020204030204" pitchFamily="34" charset="0"/>
                <a:ea typeface="Consolas" panose="020B0609020204030204" pitchFamily="34" charset="-122"/>
                <a:cs typeface="Consolas" panose="020B0609020204030204" pitchFamily="34" charset="-120"/>
              </a:rPr>
              <a:t>"ssh_bruteforce",
</a:t>
            </a:r>
            <a:r>
              <a:rPr lang="en-US" sz="1050" dirty="0">
                <a:solidFill>
                  <a:srgbClr val="8BC9A0"/>
                </a:solidFill>
                <a:latin typeface="Consolas" panose="020B0609020204030204" pitchFamily="34" charset="0"/>
                <a:ea typeface="Consolas" panose="020B0609020204030204" pitchFamily="34" charset="-122"/>
                <a:cs typeface="Consolas" panose="020B0609020204030204" pitchFamily="34" charset="-120"/>
              </a:rPr>
              <a:t>  "severity": </a:t>
            </a:r>
            <a:r>
              <a:rPr lang="en-US" sz="1050" dirty="0">
                <a:solidFill>
                  <a:srgbClr val="E0685A"/>
                </a:solidFill>
                <a:latin typeface="Consolas" panose="020B0609020204030204" pitchFamily="34" charset="0"/>
                <a:ea typeface="Consolas" panose="020B0609020204030204" pitchFamily="34" charset="-122"/>
                <a:cs typeface="Consolas" panose="020B0609020204030204" pitchFamily="34" charset="-120"/>
              </a:rPr>
              <a:t>"high",
</a:t>
            </a:r>
            <a:r>
              <a:rPr lang="en-US" sz="1050" dirty="0">
                <a:solidFill>
                  <a:srgbClr val="8BC9A0"/>
                </a:solidFill>
                <a:latin typeface="Consolas" panose="020B0609020204030204" pitchFamily="34" charset="0"/>
                <a:ea typeface="Consolas" panose="020B0609020204030204" pitchFamily="34" charset="-122"/>
                <a:cs typeface="Consolas" panose="020B0609020204030204" pitchFamily="34" charset="-120"/>
              </a:rPr>
              <a:t>  "details": {
</a:t>
            </a:r>
            <a:r>
              <a:rPr lang="en-US" sz="1050" dirty="0">
                <a:solidFill>
                  <a:srgbClr val="8BC9A0"/>
                </a:solidFill>
                <a:latin typeface="Consolas" panose="020B0609020204030204" pitchFamily="34" charset="0"/>
                <a:ea typeface="Consolas" panose="020B0609020204030204" pitchFamily="34" charset="-122"/>
                <a:cs typeface="Consolas" panose="020B0609020204030204" pitchFamily="34" charset="-120"/>
              </a:rPr>
              <a:t>    "ip": </a:t>
            </a:r>
            <a:r>
              <a:rPr lang="en-US" sz="1050" dirty="0">
                <a:solidFill>
                  <a:srgbClr val="4CAF50"/>
                </a:solidFill>
                <a:latin typeface="Consolas" panose="020B0609020204030204" pitchFamily="34" charset="0"/>
                <a:ea typeface="Consolas" panose="020B0609020204030204" pitchFamily="34" charset="-122"/>
                <a:cs typeface="Consolas" panose="020B0609020204030204" pitchFamily="34" charset="-120"/>
              </a:rPr>
              <a:t>"192.168.174.131",
</a:t>
            </a:r>
            <a:r>
              <a:rPr lang="en-US" sz="1050" dirty="0">
                <a:solidFill>
                  <a:srgbClr val="8BC9A0"/>
                </a:solidFill>
                <a:latin typeface="Consolas" panose="020B0609020204030204" pitchFamily="34" charset="0"/>
                <a:ea typeface="Consolas" panose="020B0609020204030204" pitchFamily="34" charset="-122"/>
                <a:cs typeface="Consolas" panose="020B0609020204030204" pitchFamily="34" charset="-120"/>
              </a:rPr>
              <a:t>    "attempts": </a:t>
            </a:r>
            <a:r>
              <a:rPr lang="en-US" sz="1050" dirty="0">
                <a:solidFill>
                  <a:srgbClr val="4CAF50"/>
                </a:solidFill>
                <a:latin typeface="Consolas" panose="020B0609020204030204" pitchFamily="34" charset="0"/>
                <a:ea typeface="Consolas" panose="020B0609020204030204" pitchFamily="34" charset="-122"/>
                <a:cs typeface="Consolas" panose="020B0609020204030204" pitchFamily="34" charset="-120"/>
              </a:rPr>
              <a:t>5,
</a:t>
            </a:r>
            <a:r>
              <a:rPr lang="en-US" sz="1050" dirty="0">
                <a:solidFill>
                  <a:srgbClr val="8BC9A0"/>
                </a:solidFill>
                <a:latin typeface="Consolas" panose="020B0609020204030204" pitchFamily="34" charset="0"/>
                <a:ea typeface="Consolas" panose="020B0609020204030204" pitchFamily="34" charset="-122"/>
                <a:cs typeface="Consolas" panose="020B0609020204030204" pitchFamily="34" charset="-120"/>
              </a:rPr>
              <a:t>    "pid": </a:t>
            </a:r>
            <a:r>
              <a:rPr lang="en-US" sz="1050" dirty="0">
                <a:solidFill>
                  <a:srgbClr val="4CAF50"/>
                </a:solidFill>
                <a:latin typeface="Consolas" panose="020B0609020204030204" pitchFamily="34" charset="0"/>
                <a:ea typeface="Consolas" panose="020B0609020204030204" pitchFamily="34" charset="-122"/>
                <a:cs typeface="Consolas" panose="020B0609020204030204" pitchFamily="34" charset="-120"/>
              </a:rPr>
              <a:t>"24704"
</a:t>
            </a:r>
            <a:r>
              <a:rPr lang="en-US" sz="1050" dirty="0">
                <a:solidFill>
                  <a:srgbClr val="9FB3A6"/>
                </a:solidFill>
                <a:latin typeface="Consolas" panose="020B0609020204030204" pitchFamily="34" charset="0"/>
                <a:ea typeface="Consolas" panose="020B0609020204030204" pitchFamily="34" charset="-122"/>
                <a:cs typeface="Consolas" panose="020B0609020204030204" pitchFamily="34" charset="-120"/>
              </a:rPr>
              <a:t>  }</a:t>
            </a:r>
            <a:endParaRPr lang="en-US" sz="1050" dirty="0"/>
          </a:p>
          <a:p>
            <a:pPr marL="0" indent="0">
              <a:lnSpc>
                <a:spcPct val="125000"/>
              </a:lnSpc>
              <a:buNone/>
            </a:pPr>
            <a:r>
              <a:rPr lang="en-US" sz="1050" dirty="0">
                <a:solidFill>
                  <a:srgbClr val="9FB3A6"/>
                </a:solidFill>
                <a:latin typeface="Consolas" panose="020B0609020204030204" pitchFamily="34" charset="0"/>
                <a:ea typeface="Consolas" panose="020B0609020204030204" pitchFamily="34" charset="-122"/>
                <a:cs typeface="Consolas" panose="020B0609020204030204" pitchFamily="34" charset="-120"/>
              </a:rPr>
              <a:t>}</a:t>
            </a:r>
            <a:endParaRPr lang="en-US" sz="1050" dirty="0"/>
          </a:p>
        </p:txBody>
      </p:sp>
      <p:sp>
        <p:nvSpPr>
          <p:cNvPr id="17" name="Text 15"/>
          <p:cNvSpPr/>
          <p:nvPr/>
        </p:nvSpPr>
        <p:spPr>
          <a:xfrm>
            <a:off x="6537960" y="4572000"/>
            <a:ext cx="5120640" cy="365760"/>
          </a:xfrm>
          <a:prstGeom prst="rect">
            <a:avLst/>
          </a:prstGeom>
          <a:noFill/>
        </p:spPr>
        <p:txBody>
          <a:bodyPr wrap="square" lIns="0" tIns="0" rIns="0" bIns="0" rtlCol="0" anchor="ctr"/>
          <a:lstStyle/>
          <a:p>
            <a:pPr marL="0" indent="0">
              <a:buNone/>
            </a:pPr>
            <a:r>
              <a:rPr lang="en-US" sz="1500" b="1" dirty="0">
                <a:solidFill>
                  <a:srgbClr val="1B1B1B"/>
                </a:solidFill>
                <a:latin typeface="Calibri" panose="020F0502020204030204" pitchFamily="34" charset="0"/>
                <a:ea typeface="Calibri" panose="020F0502020204030204" pitchFamily="34" charset="-122"/>
                <a:cs typeface="Calibri" panose="020F0502020204030204" pitchFamily="34" charset="-120"/>
              </a:rPr>
              <a:t>Actions automatiques (actions.py)</a:t>
            </a:r>
            <a:endParaRPr lang="en-US" sz="1500" dirty="0"/>
          </a:p>
        </p:txBody>
      </p:sp>
      <p:sp>
        <p:nvSpPr>
          <p:cNvPr id="18" name="Shape 16"/>
          <p:cNvSpPr/>
          <p:nvPr/>
        </p:nvSpPr>
        <p:spPr>
          <a:xfrm>
            <a:off x="6537960" y="4956048"/>
            <a:ext cx="411480" cy="411480"/>
          </a:xfrm>
          <a:prstGeom prst="ellipse">
            <a:avLst/>
          </a:prstGeom>
          <a:solidFill>
            <a:srgbClr val="2E7D32"/>
          </a:solidFill>
        </p:spPr>
      </p:sp>
      <p:sp>
        <p:nvSpPr>
          <p:cNvPr id="19" name="Text 17"/>
          <p:cNvSpPr/>
          <p:nvPr/>
        </p:nvSpPr>
        <p:spPr>
          <a:xfrm>
            <a:off x="6537960" y="4956048"/>
            <a:ext cx="411480" cy="411480"/>
          </a:xfrm>
          <a:prstGeom prst="rect">
            <a:avLst/>
          </a:prstGeom>
          <a:noFill/>
        </p:spPr>
        <p:txBody>
          <a:bodyPr wrap="square" lIns="0" tIns="0" rIns="0" bIns="0" rtlCol="0" anchor="ctr"/>
          <a:lstStyle/>
          <a:p>
            <a:pPr marL="0" indent="0" algn="ctr">
              <a:buNone/>
            </a:pPr>
            <a:r>
              <a:rPr lang="en-US" sz="1400" b="1" dirty="0">
                <a:solidFill>
                  <a:srgbClr val="FFFFFF"/>
                </a:solidFill>
                <a:latin typeface="Calibri" panose="020F0502020204030204" pitchFamily="34" charset="0"/>
                <a:ea typeface="Calibri" panose="020F0502020204030204" pitchFamily="34" charset="-122"/>
                <a:cs typeface="Calibri" panose="020F0502020204030204" pitchFamily="34" charset="-120"/>
              </a:rPr>
              <a:t>🚫</a:t>
            </a:r>
            <a:endParaRPr lang="en-US" sz="1400" dirty="0"/>
          </a:p>
        </p:txBody>
      </p:sp>
      <p:sp>
        <p:nvSpPr>
          <p:cNvPr id="20" name="Text 18"/>
          <p:cNvSpPr/>
          <p:nvPr/>
        </p:nvSpPr>
        <p:spPr>
          <a:xfrm>
            <a:off x="7086600" y="4928616"/>
            <a:ext cx="1828800" cy="274320"/>
          </a:xfrm>
          <a:prstGeom prst="rect">
            <a:avLst/>
          </a:prstGeom>
          <a:noFill/>
        </p:spPr>
        <p:txBody>
          <a:bodyPr wrap="square" lIns="0" tIns="0" rIns="0" bIns="0" rtlCol="0" anchor="ctr"/>
          <a:lstStyle/>
          <a:p>
            <a:pPr marL="0" indent="0">
              <a:buNone/>
            </a:pPr>
            <a:r>
              <a:rPr lang="en-US" sz="1150" b="1" dirty="0">
                <a:solidFill>
                  <a:srgbClr val="1B1B1B"/>
                </a:solidFill>
                <a:latin typeface="Consolas" panose="020B0609020204030204" pitchFamily="34" charset="0"/>
                <a:ea typeface="Consolas" panose="020B0609020204030204" pitchFamily="34" charset="-122"/>
                <a:cs typeface="Consolas" panose="020B0609020204030204" pitchFamily="34" charset="-120"/>
              </a:rPr>
              <a:t>block_ip()</a:t>
            </a:r>
            <a:endParaRPr lang="en-US" sz="1150" dirty="0"/>
          </a:p>
        </p:txBody>
      </p:sp>
      <p:sp>
        <p:nvSpPr>
          <p:cNvPr id="21" name="Text 19"/>
          <p:cNvSpPr/>
          <p:nvPr/>
        </p:nvSpPr>
        <p:spPr>
          <a:xfrm>
            <a:off x="7086600" y="5184648"/>
            <a:ext cx="4572000" cy="365760"/>
          </a:xfrm>
          <a:prstGeom prst="rect">
            <a:avLst/>
          </a:prstGeom>
          <a:noFill/>
        </p:spPr>
        <p:txBody>
          <a:bodyPr wrap="square" lIns="0" tIns="0" rIns="0" bIns="0" rtlCol="0" anchor="ctr"/>
          <a:lstStyle/>
          <a:p>
            <a:pPr marL="0" indent="0">
              <a:buNone/>
            </a:pPr>
            <a:r>
              <a:rPr lang="en-US" sz="1000" dirty="0">
                <a:solidFill>
                  <a:srgbClr val="5F5F5F"/>
                </a:solidFill>
                <a:latin typeface="Calibri" panose="020F0502020204030204" pitchFamily="34" charset="0"/>
                <a:ea typeface="Calibri" panose="020F0502020204030204" pitchFamily="34" charset="-122"/>
                <a:cs typeface="Calibri" panose="020F0502020204030204" pitchFamily="34" charset="-120"/>
              </a:rPr>
              <a:t>iptables DROP réel + anti-doublon + protection auto-DoS</a:t>
            </a:r>
            <a:endParaRPr lang="en-US" sz="1000" dirty="0"/>
          </a:p>
        </p:txBody>
      </p:sp>
      <p:sp>
        <p:nvSpPr>
          <p:cNvPr id="22" name="Shape 20"/>
          <p:cNvSpPr/>
          <p:nvPr/>
        </p:nvSpPr>
        <p:spPr>
          <a:xfrm>
            <a:off x="6537960" y="5550408"/>
            <a:ext cx="411480" cy="411480"/>
          </a:xfrm>
          <a:prstGeom prst="ellipse">
            <a:avLst/>
          </a:prstGeom>
          <a:solidFill>
            <a:srgbClr val="2E7D32"/>
          </a:solidFill>
        </p:spPr>
      </p:sp>
      <p:sp>
        <p:nvSpPr>
          <p:cNvPr id="23" name="Text 21"/>
          <p:cNvSpPr/>
          <p:nvPr/>
        </p:nvSpPr>
        <p:spPr>
          <a:xfrm>
            <a:off x="6537960" y="5550408"/>
            <a:ext cx="411480" cy="411480"/>
          </a:xfrm>
          <a:prstGeom prst="rect">
            <a:avLst/>
          </a:prstGeom>
          <a:noFill/>
        </p:spPr>
        <p:txBody>
          <a:bodyPr wrap="square" lIns="0" tIns="0" rIns="0" bIns="0" rtlCol="0" anchor="ctr"/>
          <a:lstStyle/>
          <a:p>
            <a:pPr marL="0" indent="0" algn="ctr">
              <a:buNone/>
            </a:pPr>
            <a:r>
              <a:rPr lang="en-US" sz="1400" b="1" dirty="0">
                <a:solidFill>
                  <a:srgbClr val="FFFFFF"/>
                </a:solidFill>
                <a:latin typeface="Calibri" panose="020F0502020204030204" pitchFamily="34" charset="0"/>
                <a:ea typeface="Calibri" panose="020F0502020204030204" pitchFamily="34" charset="-122"/>
                <a:cs typeface="Calibri" panose="020F0502020204030204" pitchFamily="34" charset="-120"/>
              </a:rPr>
              <a:t>💀</a:t>
            </a:r>
            <a:endParaRPr lang="en-US" sz="1400" dirty="0"/>
          </a:p>
        </p:txBody>
      </p:sp>
      <p:sp>
        <p:nvSpPr>
          <p:cNvPr id="24" name="Text 22"/>
          <p:cNvSpPr/>
          <p:nvPr/>
        </p:nvSpPr>
        <p:spPr>
          <a:xfrm>
            <a:off x="7086600" y="5522976"/>
            <a:ext cx="1828800" cy="274320"/>
          </a:xfrm>
          <a:prstGeom prst="rect">
            <a:avLst/>
          </a:prstGeom>
          <a:noFill/>
        </p:spPr>
        <p:txBody>
          <a:bodyPr wrap="square" lIns="0" tIns="0" rIns="0" bIns="0" rtlCol="0" anchor="ctr"/>
          <a:lstStyle/>
          <a:p>
            <a:pPr marL="0" indent="0">
              <a:buNone/>
            </a:pPr>
            <a:r>
              <a:rPr lang="en-US" sz="1150" b="1" dirty="0">
                <a:solidFill>
                  <a:srgbClr val="1B1B1B"/>
                </a:solidFill>
                <a:latin typeface="Consolas" panose="020B0609020204030204" pitchFamily="34" charset="0"/>
                <a:ea typeface="Consolas" panose="020B0609020204030204" pitchFamily="34" charset="-122"/>
                <a:cs typeface="Consolas" panose="020B0609020204030204" pitchFamily="34" charset="-120"/>
              </a:rPr>
              <a:t>kill_process()</a:t>
            </a:r>
            <a:endParaRPr lang="en-US" sz="1150" dirty="0"/>
          </a:p>
        </p:txBody>
      </p:sp>
      <p:sp>
        <p:nvSpPr>
          <p:cNvPr id="25" name="Text 23"/>
          <p:cNvSpPr/>
          <p:nvPr/>
        </p:nvSpPr>
        <p:spPr>
          <a:xfrm>
            <a:off x="7086600" y="5779008"/>
            <a:ext cx="4572000" cy="365760"/>
          </a:xfrm>
          <a:prstGeom prst="rect">
            <a:avLst/>
          </a:prstGeom>
          <a:noFill/>
        </p:spPr>
        <p:txBody>
          <a:bodyPr wrap="square" lIns="0" tIns="0" rIns="0" bIns="0" rtlCol="0" anchor="ctr"/>
          <a:lstStyle/>
          <a:p>
            <a:pPr marL="0" indent="0">
              <a:buNone/>
            </a:pPr>
            <a:r>
              <a:rPr lang="en-US" sz="1000" dirty="0">
                <a:solidFill>
                  <a:srgbClr val="5F5F5F"/>
                </a:solidFill>
                <a:latin typeface="Calibri" panose="020F0502020204030204" pitchFamily="34" charset="0"/>
                <a:ea typeface="Calibri" panose="020F0502020204030204" pitchFamily="34" charset="-122"/>
                <a:cs typeface="Calibri" panose="020F0502020204030204" pitchFamily="34" charset="-120"/>
              </a:rPr>
              <a:t>Arrêt réel (SIGKILL) du processus incriminé</a:t>
            </a:r>
            <a:endParaRPr lang="en-US" sz="1000" dirty="0"/>
          </a:p>
        </p:txBody>
      </p:sp>
      <p:sp>
        <p:nvSpPr>
          <p:cNvPr id="26" name="Text 24"/>
          <p:cNvSpPr/>
          <p:nvPr/>
        </p:nvSpPr>
        <p:spPr>
          <a:xfrm>
            <a:off x="11521440" y="6446520"/>
            <a:ext cx="548640" cy="320040"/>
          </a:xfrm>
          <a:prstGeom prst="rect">
            <a:avLst/>
          </a:prstGeom>
          <a:noFill/>
        </p:spPr>
        <p:txBody>
          <a:bodyPr wrap="square" lIns="0" tIns="0" rIns="0" bIns="0" rtlCol="0" anchor="ctr"/>
          <a:lstStyle/>
          <a:p>
            <a:pPr marL="0" indent="0" algn="r">
              <a:buNone/>
            </a:pPr>
            <a:r>
              <a:rPr lang="en-US" sz="1100" dirty="0">
                <a:solidFill>
                  <a:srgbClr val="B7C2BC"/>
                </a:solidFill>
                <a:latin typeface="Calibri" panose="020F0502020204030204" pitchFamily="34" charset="0"/>
                <a:ea typeface="Calibri" panose="020F0502020204030204" pitchFamily="34" charset="-122"/>
                <a:cs typeface="Calibri" panose="020F0502020204030204" pitchFamily="34" charset="-120"/>
              </a:rPr>
              <a:t>08</a:t>
            </a:r>
            <a:endParaRPr lang="en-US" sz="11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65760"/>
            <a:ext cx="7315200" cy="365760"/>
          </a:xfrm>
          <a:prstGeom prst="rect">
            <a:avLst/>
          </a:prstGeom>
          <a:noFill/>
        </p:spPr>
        <p:txBody>
          <a:bodyPr wrap="square" lIns="0" tIns="0" rIns="0" bIns="0" rtlCol="0" anchor="ctr"/>
          <a:lstStyle/>
          <a:p>
            <a:pPr marL="0" indent="0">
              <a:buNone/>
            </a:pPr>
            <a:r>
              <a:rPr lang="en-US" sz="1200" b="1" kern="0" spc="200" dirty="0">
                <a:solidFill>
                  <a:srgbClr val="2E7D32"/>
                </a:solidFill>
                <a:latin typeface="Calibri" panose="020F0502020204030204" pitchFamily="34" charset="0"/>
                <a:ea typeface="Calibri" panose="020F0502020204030204" pitchFamily="34" charset="-122"/>
                <a:cs typeface="Calibri" panose="020F0502020204030204" pitchFamily="34" charset="-120"/>
              </a:rPr>
              <a:t>06 — IMPLÉMENTATION TECHNIQUE</a:t>
            </a:r>
            <a:endParaRPr lang="en-US" sz="1200" dirty="0"/>
          </a:p>
        </p:txBody>
      </p:sp>
      <p:sp>
        <p:nvSpPr>
          <p:cNvPr id="3" name="Text 1"/>
          <p:cNvSpPr/>
          <p:nvPr/>
        </p:nvSpPr>
        <p:spPr>
          <a:xfrm>
            <a:off x="548640" y="685800"/>
            <a:ext cx="10515600" cy="731520"/>
          </a:xfrm>
          <a:prstGeom prst="rect">
            <a:avLst/>
          </a:prstGeom>
          <a:noFill/>
        </p:spPr>
        <p:txBody>
          <a:bodyPr wrap="square" lIns="0" tIns="0" rIns="0" bIns="0" rtlCol="0" anchor="ctr"/>
          <a:lstStyle/>
          <a:p>
            <a:pPr marL="0" indent="0">
              <a:buNone/>
            </a:pPr>
            <a:r>
              <a:rPr lang="en-US" sz="3000" b="1" dirty="0">
                <a:solidFill>
                  <a:srgbClr val="1B1B1B"/>
                </a:solidFill>
                <a:latin typeface="Cambria" panose="02040503050406030204" pitchFamily="34" charset="0"/>
                <a:ea typeface="Cambria" panose="02040503050406030204" pitchFamily="34" charset="-122"/>
                <a:cs typeface="Cambria" panose="02040503050406030204" pitchFamily="34" charset="-120"/>
              </a:rPr>
              <a:t>Tableau de bord &amp; difficultés résolues</a:t>
            </a:r>
            <a:endParaRPr lang="en-US" sz="3000" dirty="0"/>
          </a:p>
        </p:txBody>
      </p:sp>
      <p:sp>
        <p:nvSpPr>
          <p:cNvPr id="4" name="Text 2"/>
          <p:cNvSpPr/>
          <p:nvPr/>
        </p:nvSpPr>
        <p:spPr>
          <a:xfrm>
            <a:off x="548640" y="1600200"/>
            <a:ext cx="5120640" cy="365760"/>
          </a:xfrm>
          <a:prstGeom prst="rect">
            <a:avLst/>
          </a:prstGeom>
          <a:noFill/>
        </p:spPr>
        <p:txBody>
          <a:bodyPr wrap="square" lIns="0" tIns="0" rIns="0" bIns="0" rtlCol="0" anchor="ctr"/>
          <a:lstStyle/>
          <a:p>
            <a:pPr marL="0" indent="0">
              <a:buNone/>
            </a:pPr>
            <a:r>
              <a:rPr lang="en-US" sz="1500" b="1" dirty="0">
                <a:solidFill>
                  <a:srgbClr val="1B1B1B"/>
                </a:solidFill>
                <a:latin typeface="Calibri" panose="020F0502020204030204" pitchFamily="34" charset="0"/>
                <a:ea typeface="Calibri" panose="020F0502020204030204" pitchFamily="34" charset="-122"/>
                <a:cs typeface="Calibri" panose="020F0502020204030204" pitchFamily="34" charset="-120"/>
              </a:rPr>
              <a:t>Dashboard web (Flask)</a:t>
            </a:r>
            <a:endParaRPr lang="en-US" sz="1500" dirty="0"/>
          </a:p>
        </p:txBody>
      </p:sp>
      <p:sp>
        <p:nvSpPr>
          <p:cNvPr id="5" name="Shape 3"/>
          <p:cNvSpPr/>
          <p:nvPr/>
        </p:nvSpPr>
        <p:spPr>
          <a:xfrm>
            <a:off x="548640" y="1965960"/>
            <a:ext cx="5120640" cy="2377440"/>
          </a:xfrm>
          <a:prstGeom prst="roundRect">
            <a:avLst>
              <a:gd name="adj" fmla="val 2692"/>
            </a:avLst>
          </a:prstGeom>
          <a:solidFill>
            <a:srgbClr val="0D1B12"/>
          </a:solidFill>
        </p:spPr>
      </p:sp>
      <p:sp>
        <p:nvSpPr>
          <p:cNvPr id="6" name="Shape 4"/>
          <p:cNvSpPr/>
          <p:nvPr/>
        </p:nvSpPr>
        <p:spPr>
          <a:xfrm>
            <a:off x="548640" y="1965960"/>
            <a:ext cx="5120640" cy="365760"/>
          </a:xfrm>
          <a:prstGeom prst="roundRect">
            <a:avLst>
              <a:gd name="adj" fmla="val 17500"/>
            </a:avLst>
          </a:prstGeom>
          <a:solidFill>
            <a:srgbClr val="16301F"/>
          </a:solidFill>
        </p:spPr>
      </p:sp>
      <p:sp>
        <p:nvSpPr>
          <p:cNvPr id="7" name="Text 5"/>
          <p:cNvSpPr/>
          <p:nvPr/>
        </p:nvSpPr>
        <p:spPr>
          <a:xfrm>
            <a:off x="777240" y="1965960"/>
            <a:ext cx="2743200" cy="365760"/>
          </a:xfrm>
          <a:prstGeom prst="rect">
            <a:avLst/>
          </a:prstGeom>
          <a:noFill/>
        </p:spPr>
        <p:txBody>
          <a:bodyPr wrap="square" lIns="0" tIns="0" rIns="0" bIns="0" rtlCol="0" anchor="ctr"/>
          <a:lstStyle/>
          <a:p>
            <a:pPr marL="0" indent="0">
              <a:buNone/>
            </a:pPr>
            <a:r>
              <a:rPr lang="en-US" sz="1050" b="1" dirty="0">
                <a:solidFill>
                  <a:srgbClr val="4CAF50"/>
                </a:solidFill>
                <a:latin typeface="Calibri" panose="020F0502020204030204" pitchFamily="34" charset="0"/>
                <a:ea typeface="Calibri" panose="020F0502020204030204" pitchFamily="34" charset="-122"/>
                <a:cs typeface="Calibri" panose="020F0502020204030204" pitchFamily="34" charset="-120"/>
              </a:rPr>
              <a:t>HIPS — Dashboard</a:t>
            </a:r>
            <a:endParaRPr lang="en-US" sz="1050" dirty="0"/>
          </a:p>
        </p:txBody>
      </p:sp>
      <p:sp>
        <p:nvSpPr>
          <p:cNvPr id="8" name="Shape 6"/>
          <p:cNvSpPr/>
          <p:nvPr/>
        </p:nvSpPr>
        <p:spPr>
          <a:xfrm>
            <a:off x="777240" y="2468880"/>
            <a:ext cx="4663440" cy="502920"/>
          </a:xfrm>
          <a:prstGeom prst="rect">
            <a:avLst/>
          </a:prstGeom>
          <a:solidFill>
            <a:srgbClr val="13261A"/>
          </a:solidFill>
          <a:ln w="6350">
            <a:solidFill>
              <a:srgbClr val="1F3D28"/>
            </a:solidFill>
            <a:prstDash val="solid"/>
          </a:ln>
        </p:spPr>
      </p:sp>
      <p:sp>
        <p:nvSpPr>
          <p:cNvPr id="9" name="Text 7"/>
          <p:cNvSpPr/>
          <p:nvPr/>
        </p:nvSpPr>
        <p:spPr>
          <a:xfrm>
            <a:off x="960120" y="2468880"/>
            <a:ext cx="2743200" cy="502920"/>
          </a:xfrm>
          <a:prstGeom prst="rect">
            <a:avLst/>
          </a:prstGeom>
          <a:noFill/>
        </p:spPr>
        <p:txBody>
          <a:bodyPr wrap="square" lIns="0" tIns="0" rIns="0" bIns="0" rtlCol="0" anchor="ctr"/>
          <a:lstStyle/>
          <a:p>
            <a:pPr marL="0" indent="0">
              <a:buNone/>
            </a:pPr>
            <a:r>
              <a:rPr lang="en-US" sz="1100" dirty="0">
                <a:solidFill>
                  <a:srgbClr val="F5F7F5"/>
                </a:solidFill>
                <a:latin typeface="Consolas" panose="020B0609020204030204" pitchFamily="34" charset="0"/>
                <a:ea typeface="Consolas" panose="020B0609020204030204" pitchFamily="34" charset="-122"/>
                <a:cs typeface="Consolas" panose="020B0609020204030204" pitchFamily="34" charset="-120"/>
              </a:rPr>
              <a:t>ssh_bruteforce</a:t>
            </a:r>
            <a:endParaRPr lang="en-US" sz="1100" dirty="0"/>
          </a:p>
        </p:txBody>
      </p:sp>
      <p:sp>
        <p:nvSpPr>
          <p:cNvPr id="10" name="Shape 8"/>
          <p:cNvSpPr/>
          <p:nvPr/>
        </p:nvSpPr>
        <p:spPr>
          <a:xfrm>
            <a:off x="4343400" y="2587752"/>
            <a:ext cx="914400" cy="274320"/>
          </a:xfrm>
          <a:prstGeom prst="roundRect">
            <a:avLst>
              <a:gd name="adj" fmla="val 50000"/>
            </a:avLst>
          </a:prstGeom>
          <a:solidFill>
            <a:srgbClr val="E0685A"/>
          </a:solidFill>
        </p:spPr>
      </p:sp>
      <p:sp>
        <p:nvSpPr>
          <p:cNvPr id="11" name="Text 9"/>
          <p:cNvSpPr/>
          <p:nvPr/>
        </p:nvSpPr>
        <p:spPr>
          <a:xfrm>
            <a:off x="4343400" y="2587752"/>
            <a:ext cx="914400" cy="274320"/>
          </a:xfrm>
          <a:prstGeom prst="rect">
            <a:avLst/>
          </a:prstGeom>
          <a:noFill/>
        </p:spPr>
        <p:txBody>
          <a:bodyPr wrap="square" lIns="0" tIns="0" rIns="0" bIns="0" rtlCol="0" anchor="ctr"/>
          <a:lstStyle/>
          <a:p>
            <a:pPr marL="0" indent="0" algn="ctr">
              <a:buNone/>
            </a:pPr>
            <a:r>
              <a:rPr lang="en-US" sz="950" b="1" dirty="0">
                <a:solidFill>
                  <a:srgbClr val="FFFFFF"/>
                </a:solidFill>
                <a:latin typeface="Calibri" panose="020F0502020204030204" pitchFamily="34" charset="0"/>
                <a:ea typeface="Calibri" panose="020F0502020204030204" pitchFamily="34" charset="-122"/>
                <a:cs typeface="Calibri" panose="020F0502020204030204" pitchFamily="34" charset="-120"/>
              </a:rPr>
              <a:t>HIGH</a:t>
            </a:r>
            <a:endParaRPr lang="en-US" sz="950" dirty="0"/>
          </a:p>
        </p:txBody>
      </p:sp>
      <p:sp>
        <p:nvSpPr>
          <p:cNvPr id="12" name="Shape 10"/>
          <p:cNvSpPr/>
          <p:nvPr/>
        </p:nvSpPr>
        <p:spPr>
          <a:xfrm>
            <a:off x="777240" y="3063240"/>
            <a:ext cx="4663440" cy="502920"/>
          </a:xfrm>
          <a:prstGeom prst="rect">
            <a:avLst/>
          </a:prstGeom>
          <a:solidFill>
            <a:srgbClr val="13261A"/>
          </a:solidFill>
          <a:ln w="6350">
            <a:solidFill>
              <a:srgbClr val="1F3D28"/>
            </a:solidFill>
            <a:prstDash val="solid"/>
          </a:ln>
        </p:spPr>
      </p:sp>
      <p:sp>
        <p:nvSpPr>
          <p:cNvPr id="13" name="Text 11"/>
          <p:cNvSpPr/>
          <p:nvPr/>
        </p:nvSpPr>
        <p:spPr>
          <a:xfrm>
            <a:off x="960120" y="3063240"/>
            <a:ext cx="2743200" cy="502920"/>
          </a:xfrm>
          <a:prstGeom prst="rect">
            <a:avLst/>
          </a:prstGeom>
          <a:noFill/>
        </p:spPr>
        <p:txBody>
          <a:bodyPr wrap="square" lIns="0" tIns="0" rIns="0" bIns="0" rtlCol="0" anchor="ctr"/>
          <a:lstStyle/>
          <a:p>
            <a:pPr marL="0" indent="0">
              <a:buNone/>
            </a:pPr>
            <a:r>
              <a:rPr lang="en-US" sz="1100" dirty="0">
                <a:solidFill>
                  <a:srgbClr val="F5F7F5"/>
                </a:solidFill>
                <a:latin typeface="Consolas" panose="020B0609020204030204" pitchFamily="34" charset="0"/>
                <a:ea typeface="Consolas" panose="020B0609020204030204" pitchFamily="34" charset="-122"/>
                <a:cs typeface="Consolas" panose="020B0609020204030204" pitchFamily="34" charset="-120"/>
              </a:rPr>
              <a:t>exec_suspicious</a:t>
            </a:r>
            <a:endParaRPr lang="en-US" sz="1100" dirty="0"/>
          </a:p>
        </p:txBody>
      </p:sp>
      <p:sp>
        <p:nvSpPr>
          <p:cNvPr id="14" name="Shape 12"/>
          <p:cNvSpPr/>
          <p:nvPr/>
        </p:nvSpPr>
        <p:spPr>
          <a:xfrm>
            <a:off x="4343400" y="3182112"/>
            <a:ext cx="914400" cy="274320"/>
          </a:xfrm>
          <a:prstGeom prst="roundRect">
            <a:avLst>
              <a:gd name="adj" fmla="val 50000"/>
            </a:avLst>
          </a:prstGeom>
          <a:solidFill>
            <a:srgbClr val="E0B547"/>
          </a:solidFill>
        </p:spPr>
      </p:sp>
      <p:sp>
        <p:nvSpPr>
          <p:cNvPr id="15" name="Text 13"/>
          <p:cNvSpPr/>
          <p:nvPr/>
        </p:nvSpPr>
        <p:spPr>
          <a:xfrm>
            <a:off x="4343400" y="3182112"/>
            <a:ext cx="914400" cy="274320"/>
          </a:xfrm>
          <a:prstGeom prst="rect">
            <a:avLst/>
          </a:prstGeom>
          <a:noFill/>
        </p:spPr>
        <p:txBody>
          <a:bodyPr wrap="square" lIns="0" tIns="0" rIns="0" bIns="0" rtlCol="0" anchor="ctr"/>
          <a:lstStyle/>
          <a:p>
            <a:pPr marL="0" indent="0" algn="ctr">
              <a:buNone/>
            </a:pPr>
            <a:r>
              <a:rPr lang="en-US" sz="950" b="1" dirty="0">
                <a:solidFill>
                  <a:srgbClr val="FFFFFF"/>
                </a:solidFill>
                <a:latin typeface="Calibri" panose="020F0502020204030204" pitchFamily="34" charset="0"/>
                <a:ea typeface="Calibri" panose="020F0502020204030204" pitchFamily="34" charset="-122"/>
                <a:cs typeface="Calibri" panose="020F0502020204030204" pitchFamily="34" charset="-120"/>
              </a:rPr>
              <a:t>MED</a:t>
            </a:r>
            <a:endParaRPr lang="en-US" sz="950" dirty="0"/>
          </a:p>
        </p:txBody>
      </p:sp>
      <p:sp>
        <p:nvSpPr>
          <p:cNvPr id="16" name="Shape 14"/>
          <p:cNvSpPr/>
          <p:nvPr/>
        </p:nvSpPr>
        <p:spPr>
          <a:xfrm>
            <a:off x="777240" y="3657600"/>
            <a:ext cx="4663440" cy="502920"/>
          </a:xfrm>
          <a:prstGeom prst="rect">
            <a:avLst/>
          </a:prstGeom>
          <a:solidFill>
            <a:srgbClr val="13261A"/>
          </a:solidFill>
          <a:ln w="6350">
            <a:solidFill>
              <a:srgbClr val="1F3D28"/>
            </a:solidFill>
            <a:prstDash val="solid"/>
          </a:ln>
        </p:spPr>
      </p:sp>
      <p:sp>
        <p:nvSpPr>
          <p:cNvPr id="17" name="Text 15"/>
          <p:cNvSpPr/>
          <p:nvPr/>
        </p:nvSpPr>
        <p:spPr>
          <a:xfrm>
            <a:off x="960120" y="3657600"/>
            <a:ext cx="2743200" cy="502920"/>
          </a:xfrm>
          <a:prstGeom prst="rect">
            <a:avLst/>
          </a:prstGeom>
          <a:noFill/>
        </p:spPr>
        <p:txBody>
          <a:bodyPr wrap="square" lIns="0" tIns="0" rIns="0" bIns="0" rtlCol="0" anchor="ctr"/>
          <a:lstStyle/>
          <a:p>
            <a:pPr marL="0" indent="0">
              <a:buNone/>
            </a:pPr>
            <a:r>
              <a:rPr lang="en-US" sz="1100" dirty="0">
                <a:solidFill>
                  <a:srgbClr val="F5F7F5"/>
                </a:solidFill>
                <a:latin typeface="Consolas" panose="020B0609020204030204" pitchFamily="34" charset="0"/>
                <a:ea typeface="Consolas" panose="020B0609020204030204" pitchFamily="34" charset="-122"/>
                <a:cs typeface="Consolas" panose="020B0609020204030204" pitchFamily="34" charset="-120"/>
              </a:rPr>
              <a:t>access_shadow</a:t>
            </a:r>
            <a:endParaRPr lang="en-US" sz="1100" dirty="0"/>
          </a:p>
        </p:txBody>
      </p:sp>
      <p:sp>
        <p:nvSpPr>
          <p:cNvPr id="18" name="Shape 16"/>
          <p:cNvSpPr/>
          <p:nvPr/>
        </p:nvSpPr>
        <p:spPr>
          <a:xfrm>
            <a:off x="4343400" y="3776472"/>
            <a:ext cx="914400" cy="274320"/>
          </a:xfrm>
          <a:prstGeom prst="roundRect">
            <a:avLst>
              <a:gd name="adj" fmla="val 50000"/>
            </a:avLst>
          </a:prstGeom>
          <a:solidFill>
            <a:srgbClr val="E0685A"/>
          </a:solidFill>
        </p:spPr>
      </p:sp>
      <p:sp>
        <p:nvSpPr>
          <p:cNvPr id="19" name="Text 17"/>
          <p:cNvSpPr/>
          <p:nvPr/>
        </p:nvSpPr>
        <p:spPr>
          <a:xfrm>
            <a:off x="4343400" y="3776472"/>
            <a:ext cx="914400" cy="274320"/>
          </a:xfrm>
          <a:prstGeom prst="rect">
            <a:avLst/>
          </a:prstGeom>
          <a:noFill/>
        </p:spPr>
        <p:txBody>
          <a:bodyPr wrap="square" lIns="0" tIns="0" rIns="0" bIns="0" rtlCol="0" anchor="ctr"/>
          <a:lstStyle/>
          <a:p>
            <a:pPr marL="0" indent="0" algn="ctr">
              <a:buNone/>
            </a:pPr>
            <a:r>
              <a:rPr lang="en-US" sz="950" b="1" dirty="0">
                <a:solidFill>
                  <a:srgbClr val="FFFFFF"/>
                </a:solidFill>
                <a:latin typeface="Calibri" panose="020F0502020204030204" pitchFamily="34" charset="0"/>
                <a:ea typeface="Calibri" panose="020F0502020204030204" pitchFamily="34" charset="-122"/>
                <a:cs typeface="Calibri" panose="020F0502020204030204" pitchFamily="34" charset="-120"/>
              </a:rPr>
              <a:t>HIGH</a:t>
            </a:r>
            <a:endParaRPr lang="en-US" sz="950" dirty="0"/>
          </a:p>
        </p:txBody>
      </p:sp>
      <p:sp>
        <p:nvSpPr>
          <p:cNvPr id="20" name="Text 18"/>
          <p:cNvSpPr/>
          <p:nvPr/>
        </p:nvSpPr>
        <p:spPr>
          <a:xfrm>
            <a:off x="777240" y="4069080"/>
            <a:ext cx="4663440" cy="228600"/>
          </a:xfrm>
          <a:prstGeom prst="rect">
            <a:avLst/>
          </a:prstGeom>
          <a:noFill/>
        </p:spPr>
        <p:txBody>
          <a:bodyPr wrap="square" lIns="0" tIns="0" rIns="0" bIns="0" rtlCol="0" anchor="ctr"/>
          <a:lstStyle/>
          <a:p>
            <a:pPr marL="0" indent="0">
              <a:buNone/>
            </a:pPr>
            <a:r>
              <a:rPr lang="en-US" sz="950" i="1" dirty="0">
                <a:solidFill>
                  <a:srgbClr val="9FB3A6"/>
                </a:solidFill>
                <a:latin typeface="Calibri" panose="020F0502020204030204" pitchFamily="34" charset="0"/>
                <a:ea typeface="Calibri" panose="020F0502020204030204" pitchFamily="34" charset="-122"/>
                <a:cs typeface="Calibri" panose="020F0502020204030204" pitchFamily="34" charset="-120"/>
              </a:rPr>
              <a:t>Liste temps réel · sévérité colorée · détail au clic</a:t>
            </a:r>
            <a:endParaRPr lang="en-US" sz="950" dirty="0"/>
          </a:p>
        </p:txBody>
      </p:sp>
      <p:sp>
        <p:nvSpPr>
          <p:cNvPr id="21" name="Text 19"/>
          <p:cNvSpPr/>
          <p:nvPr/>
        </p:nvSpPr>
        <p:spPr>
          <a:xfrm>
            <a:off x="6035040" y="1600200"/>
            <a:ext cx="5577840" cy="365760"/>
          </a:xfrm>
          <a:prstGeom prst="rect">
            <a:avLst/>
          </a:prstGeom>
          <a:noFill/>
        </p:spPr>
        <p:txBody>
          <a:bodyPr wrap="square" lIns="0" tIns="0" rIns="0" bIns="0" rtlCol="0" anchor="ctr"/>
          <a:lstStyle/>
          <a:p>
            <a:pPr marL="0" indent="0">
              <a:buNone/>
            </a:pPr>
            <a:r>
              <a:rPr lang="en-US" sz="1500" b="1" dirty="0">
                <a:solidFill>
                  <a:srgbClr val="1B1B1B"/>
                </a:solidFill>
                <a:latin typeface="Calibri" panose="020F0502020204030204" pitchFamily="34" charset="0"/>
                <a:ea typeface="Calibri" panose="020F0502020204030204" pitchFamily="34" charset="-122"/>
                <a:cs typeface="Calibri" panose="020F0502020204030204" pitchFamily="34" charset="-120"/>
              </a:rPr>
              <a:t>Difficultés rencontrées et résolutions</a:t>
            </a:r>
            <a:endParaRPr lang="en-US" sz="1500" dirty="0"/>
          </a:p>
        </p:txBody>
      </p:sp>
      <p:sp>
        <p:nvSpPr>
          <p:cNvPr id="22" name="Shape 20"/>
          <p:cNvSpPr/>
          <p:nvPr/>
        </p:nvSpPr>
        <p:spPr>
          <a:xfrm>
            <a:off x="6035040" y="2011680"/>
            <a:ext cx="5577840" cy="749808"/>
          </a:xfrm>
          <a:prstGeom prst="roundRect">
            <a:avLst>
              <a:gd name="adj" fmla="val 7317"/>
            </a:avLst>
          </a:prstGeom>
          <a:solidFill>
            <a:srgbClr val="F0F5F1"/>
          </a:solidFill>
        </p:spPr>
      </p:sp>
      <p:sp>
        <p:nvSpPr>
          <p:cNvPr id="23" name="Shape 21"/>
          <p:cNvSpPr/>
          <p:nvPr/>
        </p:nvSpPr>
        <p:spPr>
          <a:xfrm>
            <a:off x="6172200" y="2157984"/>
            <a:ext cx="82296" cy="457200"/>
          </a:xfrm>
          <a:prstGeom prst="roundRect">
            <a:avLst/>
          </a:prstGeom>
          <a:solidFill>
            <a:srgbClr val="E0685A"/>
          </a:solidFill>
        </p:spPr>
      </p:sp>
      <p:sp>
        <p:nvSpPr>
          <p:cNvPr id="24" name="Text 22"/>
          <p:cNvSpPr/>
          <p:nvPr/>
        </p:nvSpPr>
        <p:spPr>
          <a:xfrm>
            <a:off x="6400800" y="2084832"/>
            <a:ext cx="5029200" cy="292608"/>
          </a:xfrm>
          <a:prstGeom prst="rect">
            <a:avLst/>
          </a:prstGeom>
          <a:noFill/>
        </p:spPr>
        <p:txBody>
          <a:bodyPr wrap="square" lIns="0" tIns="0" rIns="0" bIns="0" rtlCol="0" anchor="ctr"/>
          <a:lstStyle/>
          <a:p>
            <a:pPr marL="0" indent="0">
              <a:buNone/>
            </a:pPr>
            <a:r>
              <a:rPr lang="en-US" sz="1200" b="1" dirty="0">
                <a:solidFill>
                  <a:srgbClr val="1B1B1B"/>
                </a:solidFill>
                <a:latin typeface="Calibri" panose="020F0502020204030204" pitchFamily="34" charset="0"/>
                <a:ea typeface="Calibri" panose="020F0502020204030204" pitchFamily="34" charset="-122"/>
                <a:cs typeface="Calibri" panose="020F0502020204030204" pitchFamily="34" charset="-120"/>
              </a:rPr>
              <a:t>Fatigue d'alerte</a:t>
            </a:r>
            <a:endParaRPr lang="en-US" sz="1200" dirty="0"/>
          </a:p>
        </p:txBody>
      </p:sp>
      <p:sp>
        <p:nvSpPr>
          <p:cNvPr id="25" name="Text 23"/>
          <p:cNvSpPr/>
          <p:nvPr/>
        </p:nvSpPr>
        <p:spPr>
          <a:xfrm>
            <a:off x="6400800" y="2377440"/>
            <a:ext cx="5029200" cy="320040"/>
          </a:xfrm>
          <a:prstGeom prst="rect">
            <a:avLst/>
          </a:prstGeom>
          <a:noFill/>
        </p:spPr>
        <p:txBody>
          <a:bodyPr wrap="square" lIns="0" tIns="0" rIns="0" bIns="0" rtlCol="0" anchor="ctr"/>
          <a:lstStyle/>
          <a:p>
            <a:pPr marL="0" indent="0">
              <a:buNone/>
            </a:pPr>
            <a:r>
              <a:rPr lang="en-US" sz="1000" dirty="0">
                <a:solidFill>
                  <a:srgbClr val="2E7D32"/>
                </a:solidFill>
                <a:latin typeface="Calibri" panose="020F0502020204030204" pitchFamily="34" charset="0"/>
                <a:ea typeface="Calibri" panose="020F0502020204030204" pitchFamily="34" charset="-122"/>
                <a:cs typeface="Calibri" panose="020F0502020204030204" pitchFamily="34" charset="-120"/>
              </a:rPr>
              <a:t>→ Surveillance ciblée + liste blanche de processus de confiance</a:t>
            </a:r>
            <a:endParaRPr lang="en-US" sz="1000" dirty="0"/>
          </a:p>
        </p:txBody>
      </p:sp>
      <p:sp>
        <p:nvSpPr>
          <p:cNvPr id="26" name="Shape 24"/>
          <p:cNvSpPr/>
          <p:nvPr/>
        </p:nvSpPr>
        <p:spPr>
          <a:xfrm>
            <a:off x="6035040" y="2880360"/>
            <a:ext cx="5577840" cy="749808"/>
          </a:xfrm>
          <a:prstGeom prst="roundRect">
            <a:avLst>
              <a:gd name="adj" fmla="val 7317"/>
            </a:avLst>
          </a:prstGeom>
          <a:solidFill>
            <a:srgbClr val="F0F5F1"/>
          </a:solidFill>
        </p:spPr>
      </p:sp>
      <p:sp>
        <p:nvSpPr>
          <p:cNvPr id="27" name="Shape 25"/>
          <p:cNvSpPr/>
          <p:nvPr/>
        </p:nvSpPr>
        <p:spPr>
          <a:xfrm>
            <a:off x="6172200" y="3026664"/>
            <a:ext cx="82296" cy="457200"/>
          </a:xfrm>
          <a:prstGeom prst="roundRect">
            <a:avLst/>
          </a:prstGeom>
          <a:solidFill>
            <a:srgbClr val="E0685A"/>
          </a:solidFill>
        </p:spPr>
      </p:sp>
      <p:sp>
        <p:nvSpPr>
          <p:cNvPr id="28" name="Text 26"/>
          <p:cNvSpPr/>
          <p:nvPr/>
        </p:nvSpPr>
        <p:spPr>
          <a:xfrm>
            <a:off x="6400800" y="2953512"/>
            <a:ext cx="5029200" cy="292608"/>
          </a:xfrm>
          <a:prstGeom prst="rect">
            <a:avLst/>
          </a:prstGeom>
          <a:noFill/>
        </p:spPr>
        <p:txBody>
          <a:bodyPr wrap="square" lIns="0" tIns="0" rIns="0" bIns="0" rtlCol="0" anchor="ctr"/>
          <a:lstStyle/>
          <a:p>
            <a:pPr marL="0" indent="0">
              <a:buNone/>
            </a:pPr>
            <a:r>
              <a:rPr lang="en-US" sz="1200" b="1" dirty="0">
                <a:solidFill>
                  <a:srgbClr val="1B1B1B"/>
                </a:solidFill>
                <a:latin typeface="Calibri" panose="020F0502020204030204" pitchFamily="34" charset="0"/>
                <a:ea typeface="Calibri" panose="020F0502020204030204" pitchFamily="34" charset="-122"/>
                <a:cs typeface="Calibri" panose="020F0502020204030204" pitchFamily="34" charset="-120"/>
              </a:rPr>
              <a:t>Lien symbolique (nc)</a:t>
            </a:r>
            <a:endParaRPr lang="en-US" sz="1200" dirty="0"/>
          </a:p>
        </p:txBody>
      </p:sp>
      <p:sp>
        <p:nvSpPr>
          <p:cNvPr id="29" name="Text 27"/>
          <p:cNvSpPr/>
          <p:nvPr/>
        </p:nvSpPr>
        <p:spPr>
          <a:xfrm>
            <a:off x="6400800" y="3246120"/>
            <a:ext cx="5029200" cy="320040"/>
          </a:xfrm>
          <a:prstGeom prst="rect">
            <a:avLst/>
          </a:prstGeom>
          <a:noFill/>
        </p:spPr>
        <p:txBody>
          <a:bodyPr wrap="square" lIns="0" tIns="0" rIns="0" bIns="0" rtlCol="0" anchor="ctr"/>
          <a:lstStyle/>
          <a:p>
            <a:pPr marL="0" indent="0">
              <a:buNone/>
            </a:pPr>
            <a:r>
              <a:rPr lang="en-US" sz="1000" dirty="0">
                <a:solidFill>
                  <a:srgbClr val="2E7D32"/>
                </a:solidFill>
                <a:latin typeface="Calibri" panose="020F0502020204030204" pitchFamily="34" charset="0"/>
                <a:ea typeface="Calibri" panose="020F0502020204030204" pitchFamily="34" charset="-122"/>
                <a:cs typeface="Calibri" panose="020F0502020204030204" pitchFamily="34" charset="-120"/>
              </a:rPr>
              <a:t>→ Résolution du chemin réel via readlink -f</a:t>
            </a:r>
            <a:endParaRPr lang="en-US" sz="1000" dirty="0"/>
          </a:p>
        </p:txBody>
      </p:sp>
      <p:sp>
        <p:nvSpPr>
          <p:cNvPr id="30" name="Shape 28"/>
          <p:cNvSpPr/>
          <p:nvPr/>
        </p:nvSpPr>
        <p:spPr>
          <a:xfrm>
            <a:off x="6035040" y="3749040"/>
            <a:ext cx="5577840" cy="749808"/>
          </a:xfrm>
          <a:prstGeom prst="roundRect">
            <a:avLst>
              <a:gd name="adj" fmla="val 7317"/>
            </a:avLst>
          </a:prstGeom>
          <a:solidFill>
            <a:srgbClr val="F0F5F1"/>
          </a:solidFill>
        </p:spPr>
      </p:sp>
      <p:sp>
        <p:nvSpPr>
          <p:cNvPr id="31" name="Shape 29"/>
          <p:cNvSpPr/>
          <p:nvPr/>
        </p:nvSpPr>
        <p:spPr>
          <a:xfrm>
            <a:off x="6172200" y="3895344"/>
            <a:ext cx="82296" cy="457200"/>
          </a:xfrm>
          <a:prstGeom prst="roundRect">
            <a:avLst/>
          </a:prstGeom>
          <a:solidFill>
            <a:srgbClr val="E0685A"/>
          </a:solidFill>
        </p:spPr>
      </p:sp>
      <p:sp>
        <p:nvSpPr>
          <p:cNvPr id="32" name="Text 30"/>
          <p:cNvSpPr/>
          <p:nvPr/>
        </p:nvSpPr>
        <p:spPr>
          <a:xfrm>
            <a:off x="6400800" y="3822192"/>
            <a:ext cx="5029200" cy="292608"/>
          </a:xfrm>
          <a:prstGeom prst="rect">
            <a:avLst/>
          </a:prstGeom>
          <a:noFill/>
        </p:spPr>
        <p:txBody>
          <a:bodyPr wrap="square" lIns="0" tIns="0" rIns="0" bIns="0" rtlCol="0" anchor="ctr"/>
          <a:lstStyle/>
          <a:p>
            <a:pPr marL="0" indent="0">
              <a:buNone/>
            </a:pPr>
            <a:r>
              <a:rPr lang="en-US" sz="1200" b="1" dirty="0">
                <a:solidFill>
                  <a:srgbClr val="1B1B1B"/>
                </a:solidFill>
                <a:latin typeface="Calibri" panose="020F0502020204030204" pitchFamily="34" charset="0"/>
                <a:ea typeface="Calibri" panose="020F0502020204030204" pitchFamily="34" charset="-122"/>
                <a:cs typeface="Calibri" panose="020F0502020204030204" pitchFamily="34" charset="-120"/>
              </a:rPr>
              <a:t>Blocage encore simulé</a:t>
            </a:r>
            <a:endParaRPr lang="en-US" sz="1200" dirty="0"/>
          </a:p>
        </p:txBody>
      </p:sp>
      <p:sp>
        <p:nvSpPr>
          <p:cNvPr id="33" name="Text 31"/>
          <p:cNvSpPr/>
          <p:nvPr/>
        </p:nvSpPr>
        <p:spPr>
          <a:xfrm>
            <a:off x="6400800" y="4114800"/>
            <a:ext cx="5029200" cy="320040"/>
          </a:xfrm>
          <a:prstGeom prst="rect">
            <a:avLst/>
          </a:prstGeom>
          <a:noFill/>
        </p:spPr>
        <p:txBody>
          <a:bodyPr wrap="square" lIns="0" tIns="0" rIns="0" bIns="0" rtlCol="0" anchor="ctr"/>
          <a:lstStyle/>
          <a:p>
            <a:pPr marL="0" indent="0">
              <a:buNone/>
            </a:pPr>
            <a:r>
              <a:rPr lang="en-US" sz="1000" dirty="0">
                <a:solidFill>
                  <a:srgbClr val="2E7D32"/>
                </a:solidFill>
                <a:latin typeface="Calibri" panose="020F0502020204030204" pitchFamily="34" charset="0"/>
                <a:ea typeface="Calibri" panose="020F0502020204030204" pitchFamily="34" charset="-122"/>
                <a:cs typeface="Calibri" panose="020F0502020204030204" pitchFamily="34" charset="-120"/>
              </a:rPr>
              <a:t>→ Redéploiement de la version réelle iptables + vérification</a:t>
            </a:r>
            <a:endParaRPr lang="en-US" sz="1000" dirty="0"/>
          </a:p>
        </p:txBody>
      </p:sp>
      <p:sp>
        <p:nvSpPr>
          <p:cNvPr id="34" name="Shape 32"/>
          <p:cNvSpPr/>
          <p:nvPr/>
        </p:nvSpPr>
        <p:spPr>
          <a:xfrm>
            <a:off x="6035040" y="4617720"/>
            <a:ext cx="5577840" cy="749808"/>
          </a:xfrm>
          <a:prstGeom prst="roundRect">
            <a:avLst>
              <a:gd name="adj" fmla="val 7317"/>
            </a:avLst>
          </a:prstGeom>
          <a:solidFill>
            <a:srgbClr val="F0F5F1"/>
          </a:solidFill>
        </p:spPr>
      </p:sp>
      <p:sp>
        <p:nvSpPr>
          <p:cNvPr id="35" name="Shape 33"/>
          <p:cNvSpPr/>
          <p:nvPr/>
        </p:nvSpPr>
        <p:spPr>
          <a:xfrm>
            <a:off x="6172200" y="4764024"/>
            <a:ext cx="82296" cy="457200"/>
          </a:xfrm>
          <a:prstGeom prst="roundRect">
            <a:avLst/>
          </a:prstGeom>
          <a:solidFill>
            <a:srgbClr val="E0685A"/>
          </a:solidFill>
        </p:spPr>
      </p:sp>
      <p:sp>
        <p:nvSpPr>
          <p:cNvPr id="36" name="Text 34"/>
          <p:cNvSpPr/>
          <p:nvPr/>
        </p:nvSpPr>
        <p:spPr>
          <a:xfrm>
            <a:off x="6400800" y="4690872"/>
            <a:ext cx="5029200" cy="292608"/>
          </a:xfrm>
          <a:prstGeom prst="rect">
            <a:avLst/>
          </a:prstGeom>
          <a:noFill/>
        </p:spPr>
        <p:txBody>
          <a:bodyPr wrap="square" lIns="0" tIns="0" rIns="0" bIns="0" rtlCol="0" anchor="ctr"/>
          <a:lstStyle/>
          <a:p>
            <a:pPr marL="0" indent="0">
              <a:buNone/>
            </a:pPr>
            <a:r>
              <a:rPr lang="en-US" sz="1200" b="1" dirty="0">
                <a:solidFill>
                  <a:srgbClr val="1B1B1B"/>
                </a:solidFill>
                <a:latin typeface="Calibri" panose="020F0502020204030204" pitchFamily="34" charset="0"/>
                <a:ea typeface="Calibri" panose="020F0502020204030204" pitchFamily="34" charset="-122"/>
                <a:cs typeface="Calibri" panose="020F0502020204030204" pitchFamily="34" charset="-120"/>
              </a:rPr>
              <a:t>Chemin cassé (dashboard vide)</a:t>
            </a:r>
            <a:endParaRPr lang="en-US" sz="1200" dirty="0"/>
          </a:p>
        </p:txBody>
      </p:sp>
      <p:sp>
        <p:nvSpPr>
          <p:cNvPr id="37" name="Text 35"/>
          <p:cNvSpPr/>
          <p:nvPr/>
        </p:nvSpPr>
        <p:spPr>
          <a:xfrm>
            <a:off x="6400800" y="4983480"/>
            <a:ext cx="5029200" cy="320040"/>
          </a:xfrm>
          <a:prstGeom prst="rect">
            <a:avLst/>
          </a:prstGeom>
          <a:noFill/>
        </p:spPr>
        <p:txBody>
          <a:bodyPr wrap="square" lIns="0" tIns="0" rIns="0" bIns="0" rtlCol="0" anchor="ctr"/>
          <a:lstStyle/>
          <a:p>
            <a:pPr marL="0" indent="0">
              <a:buNone/>
            </a:pPr>
            <a:r>
              <a:rPr lang="en-US" sz="1000" dirty="0">
                <a:solidFill>
                  <a:srgbClr val="2E7D32"/>
                </a:solidFill>
                <a:latin typeface="Calibri" panose="020F0502020204030204" pitchFamily="34" charset="0"/>
                <a:ea typeface="Calibri" panose="020F0502020204030204" pitchFamily="34" charset="-122"/>
                <a:cs typeface="Calibri" panose="020F0502020204030204" pitchFamily="34" charset="-120"/>
              </a:rPr>
              <a:t>→ Correction du chemin relatif vers alerts.jsonl</a:t>
            </a:r>
            <a:endParaRPr lang="en-US" sz="1000" dirty="0"/>
          </a:p>
        </p:txBody>
      </p:sp>
      <p:sp>
        <p:nvSpPr>
          <p:cNvPr id="38" name="Text 36"/>
          <p:cNvSpPr/>
          <p:nvPr/>
        </p:nvSpPr>
        <p:spPr>
          <a:xfrm>
            <a:off x="11521440" y="6446520"/>
            <a:ext cx="548640" cy="320040"/>
          </a:xfrm>
          <a:prstGeom prst="rect">
            <a:avLst/>
          </a:prstGeom>
          <a:noFill/>
        </p:spPr>
        <p:txBody>
          <a:bodyPr wrap="square" lIns="0" tIns="0" rIns="0" bIns="0" rtlCol="0" anchor="ctr"/>
          <a:lstStyle/>
          <a:p>
            <a:pPr marL="0" indent="0" algn="r">
              <a:buNone/>
            </a:pPr>
            <a:r>
              <a:rPr lang="en-US" sz="1100" dirty="0">
                <a:solidFill>
                  <a:srgbClr val="B7C2BC"/>
                </a:solidFill>
                <a:latin typeface="Calibri" panose="020F0502020204030204" pitchFamily="34" charset="0"/>
                <a:ea typeface="Calibri" panose="020F0502020204030204" pitchFamily="34" charset="-122"/>
                <a:cs typeface="Calibri" panose="020F0502020204030204" pitchFamily="34" charset="-120"/>
              </a:rPr>
              <a:t>09</a:t>
            </a:r>
            <a:endParaRPr lang="en-US" sz="11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0D1B12"/>
        </a:solidFill>
        <a:effectLst/>
      </p:bgPr>
    </p:bg>
    <p:spTree>
      <p:nvGrpSpPr>
        <p:cNvPr id="1" name=""/>
        <p:cNvGrpSpPr/>
        <p:nvPr/>
      </p:nvGrpSpPr>
      <p:grpSpPr>
        <a:xfrm>
          <a:off x="0" y="0"/>
          <a:ext cx="0" cy="0"/>
          <a:chOff x="0" y="0"/>
          <a:chExt cx="0" cy="0"/>
        </a:xfrm>
      </p:grpSpPr>
      <p:sp>
        <p:nvSpPr>
          <p:cNvPr id="2" name="Text 0"/>
          <p:cNvSpPr/>
          <p:nvPr/>
        </p:nvSpPr>
        <p:spPr>
          <a:xfrm>
            <a:off x="548640" y="365760"/>
            <a:ext cx="7315200" cy="365760"/>
          </a:xfrm>
          <a:prstGeom prst="rect">
            <a:avLst/>
          </a:prstGeom>
          <a:noFill/>
        </p:spPr>
        <p:txBody>
          <a:bodyPr wrap="square" lIns="0" tIns="0" rIns="0" bIns="0" rtlCol="0" anchor="ctr"/>
          <a:lstStyle/>
          <a:p>
            <a:pPr marL="0" indent="0">
              <a:buNone/>
            </a:pPr>
            <a:r>
              <a:rPr lang="en-US" sz="1200" b="1" kern="0" spc="200" dirty="0">
                <a:solidFill>
                  <a:srgbClr val="4CAF50"/>
                </a:solidFill>
                <a:latin typeface="Calibri" panose="020F0502020204030204" pitchFamily="34" charset="0"/>
                <a:ea typeface="Calibri" panose="020F0502020204030204" pitchFamily="34" charset="-122"/>
                <a:cs typeface="Calibri" panose="020F0502020204030204" pitchFamily="34" charset="-120"/>
              </a:rPr>
              <a:t>07 — SCÉNARIOS D'ATTAQUE &amp; DÉTECTION</a:t>
            </a:r>
            <a:endParaRPr lang="en-US" sz="1200" dirty="0"/>
          </a:p>
        </p:txBody>
      </p:sp>
      <p:sp>
        <p:nvSpPr>
          <p:cNvPr id="3" name="Text 1"/>
          <p:cNvSpPr/>
          <p:nvPr/>
        </p:nvSpPr>
        <p:spPr>
          <a:xfrm>
            <a:off x="548640" y="685800"/>
            <a:ext cx="10515600" cy="731520"/>
          </a:xfrm>
          <a:prstGeom prst="rect">
            <a:avLst/>
          </a:prstGeom>
          <a:noFill/>
        </p:spPr>
        <p:txBody>
          <a:bodyPr wrap="square" lIns="0" tIns="0" rIns="0" bIns="0" rtlCol="0" anchor="ctr"/>
          <a:lstStyle/>
          <a:p>
            <a:pPr marL="0" indent="0">
              <a:buNone/>
            </a:pPr>
            <a:r>
              <a:rPr lang="en-US" sz="3000" b="1" dirty="0">
                <a:solidFill>
                  <a:srgbClr val="FFFFFF"/>
                </a:solidFill>
                <a:latin typeface="Cambria" panose="02040503050406030204" pitchFamily="34" charset="0"/>
                <a:ea typeface="Cambria" panose="02040503050406030204" pitchFamily="34" charset="-122"/>
                <a:cs typeface="Cambria" panose="02040503050406030204" pitchFamily="34" charset="-120"/>
              </a:rPr>
              <a:t>Six scénarios testés en conditions réelles</a:t>
            </a:r>
            <a:endParaRPr lang="en-US" sz="3000" dirty="0"/>
          </a:p>
        </p:txBody>
      </p:sp>
      <p:sp>
        <p:nvSpPr>
          <p:cNvPr id="4" name="Shape 2"/>
          <p:cNvSpPr/>
          <p:nvPr/>
        </p:nvSpPr>
        <p:spPr>
          <a:xfrm>
            <a:off x="548640" y="1691640"/>
            <a:ext cx="3611880" cy="1965960"/>
          </a:xfrm>
          <a:prstGeom prst="roundRect">
            <a:avLst>
              <a:gd name="adj" fmla="val 3721"/>
            </a:avLst>
          </a:prstGeom>
          <a:solidFill>
            <a:srgbClr val="13261A"/>
          </a:solidFill>
          <a:ln w="12700">
            <a:solidFill>
              <a:srgbClr val="1F3D28"/>
            </a:solidFill>
            <a:prstDash val="solid"/>
          </a:ln>
        </p:spPr>
      </p:sp>
      <p:sp>
        <p:nvSpPr>
          <p:cNvPr id="5" name="Shape 3"/>
          <p:cNvSpPr/>
          <p:nvPr/>
        </p:nvSpPr>
        <p:spPr>
          <a:xfrm>
            <a:off x="749808" y="1892808"/>
            <a:ext cx="457200" cy="457200"/>
          </a:xfrm>
          <a:prstGeom prst="ellipse">
            <a:avLst/>
          </a:prstGeom>
          <a:solidFill>
            <a:srgbClr val="2E7D32"/>
          </a:solidFill>
        </p:spPr>
      </p:sp>
      <p:sp>
        <p:nvSpPr>
          <p:cNvPr id="6" name="Text 4"/>
          <p:cNvSpPr/>
          <p:nvPr/>
        </p:nvSpPr>
        <p:spPr>
          <a:xfrm>
            <a:off x="749808" y="1892808"/>
            <a:ext cx="457200" cy="457200"/>
          </a:xfrm>
          <a:prstGeom prst="rect">
            <a:avLst/>
          </a:prstGeom>
          <a:noFill/>
        </p:spPr>
        <p:txBody>
          <a:bodyPr wrap="square" lIns="0" tIns="0" rIns="0" bIns="0" rtlCol="0" anchor="ctr"/>
          <a:lstStyle/>
          <a:p>
            <a:pPr marL="0" indent="0" algn="ctr">
              <a:buNone/>
            </a:pPr>
            <a:r>
              <a:rPr lang="en-US" sz="1600" b="1" dirty="0">
                <a:solidFill>
                  <a:srgbClr val="FFFFFF"/>
                </a:solidFill>
                <a:latin typeface="Cambria" panose="02040503050406030204" pitchFamily="34" charset="0"/>
                <a:ea typeface="Cambria" panose="02040503050406030204" pitchFamily="34" charset="-122"/>
                <a:cs typeface="Cambria" panose="02040503050406030204" pitchFamily="34" charset="-120"/>
              </a:rPr>
              <a:t>A</a:t>
            </a:r>
            <a:endParaRPr lang="en-US" sz="1600" dirty="0"/>
          </a:p>
        </p:txBody>
      </p:sp>
      <p:sp>
        <p:nvSpPr>
          <p:cNvPr id="7" name="Text 5"/>
          <p:cNvSpPr/>
          <p:nvPr/>
        </p:nvSpPr>
        <p:spPr>
          <a:xfrm>
            <a:off x="1325880" y="1911096"/>
            <a:ext cx="2651760" cy="457200"/>
          </a:xfrm>
          <a:prstGeom prst="rect">
            <a:avLst/>
          </a:prstGeom>
          <a:noFill/>
        </p:spPr>
        <p:txBody>
          <a:bodyPr wrap="square" lIns="0" tIns="0" rIns="0" bIns="0" rtlCol="0" anchor="ctr"/>
          <a:lstStyle/>
          <a:p>
            <a:pPr marL="0" indent="0">
              <a:buNone/>
            </a:pPr>
            <a:r>
              <a:rPr lang="en-US" sz="1250" b="1" dirty="0">
                <a:solidFill>
                  <a:srgbClr val="FFFFFF"/>
                </a:solidFill>
                <a:latin typeface="Calibri" panose="020F0502020204030204" pitchFamily="34" charset="0"/>
                <a:ea typeface="Calibri" panose="020F0502020204030204" pitchFamily="34" charset="-122"/>
                <a:cs typeface="Calibri" panose="020F0502020204030204" pitchFamily="34" charset="-120"/>
              </a:rPr>
              <a:t>Accès fichier sensible</a:t>
            </a:r>
            <a:endParaRPr lang="en-US" sz="1250" dirty="0"/>
          </a:p>
        </p:txBody>
      </p:sp>
      <p:sp>
        <p:nvSpPr>
          <p:cNvPr id="8" name="Text 6"/>
          <p:cNvSpPr/>
          <p:nvPr/>
        </p:nvSpPr>
        <p:spPr>
          <a:xfrm>
            <a:off x="749808" y="2514600"/>
            <a:ext cx="3200400" cy="1005840"/>
          </a:xfrm>
          <a:prstGeom prst="rect">
            <a:avLst/>
          </a:prstGeom>
          <a:noFill/>
        </p:spPr>
        <p:txBody>
          <a:bodyPr wrap="square" lIns="0" tIns="0" rIns="0" bIns="0" rtlCol="0" anchor="ctr"/>
          <a:lstStyle/>
          <a:p>
            <a:pPr marL="0" indent="0">
              <a:lnSpc>
                <a:spcPct val="135000"/>
              </a:lnSpc>
              <a:buNone/>
            </a:pPr>
            <a:r>
              <a:rPr lang="en-US" sz="950" dirty="0">
                <a:solidFill>
                  <a:srgbClr val="7C9083"/>
                </a:solidFill>
                <a:latin typeface="Calibri" panose="020F0502020204030204" pitchFamily="34" charset="0"/>
                <a:ea typeface="Calibri" panose="020F0502020204030204" pitchFamily="34" charset="-122"/>
                <a:cs typeface="Calibri" panose="020F0502020204030204" pitchFamily="34" charset="-120"/>
              </a:rPr>
              <a:t>Attaque  </a:t>
            </a:r>
            <a:r>
              <a:rPr lang="en-US" sz="1050" b="1" dirty="0">
                <a:solidFill>
                  <a:srgbClr val="F5F7F5"/>
                </a:solidFill>
                <a:latin typeface="Calibri" panose="020F0502020204030204" pitchFamily="34" charset="0"/>
                <a:ea typeface="Calibri" panose="020F0502020204030204" pitchFamily="34" charset="-122"/>
                <a:cs typeface="Calibri" panose="020F0502020204030204" pitchFamily="34" charset="-120"/>
              </a:rPr>
              <a:t>cat /etc/shadow
</a:t>
            </a:r>
            <a:r>
              <a:rPr lang="en-US" sz="950" dirty="0">
                <a:solidFill>
                  <a:srgbClr val="7C9083"/>
                </a:solidFill>
                <a:latin typeface="Calibri" panose="020F0502020204030204" pitchFamily="34" charset="0"/>
                <a:ea typeface="Calibri" panose="020F0502020204030204" pitchFamily="34" charset="-122"/>
                <a:cs typeface="Calibri" panose="020F0502020204030204" pitchFamily="34" charset="-120"/>
              </a:rPr>
              <a:t>Résultat  </a:t>
            </a:r>
            <a:r>
              <a:rPr lang="en-US" sz="1050" b="1" dirty="0">
                <a:solidFill>
                  <a:srgbClr val="8BC9A0"/>
                </a:solidFill>
                <a:latin typeface="Calibri" panose="020F0502020204030204" pitchFamily="34" charset="0"/>
                <a:ea typeface="Calibri" panose="020F0502020204030204" pitchFamily="34" charset="-122"/>
                <a:cs typeface="Calibri" panose="020F0502020204030204" pitchFamily="34" charset="-120"/>
              </a:rPr>
              <a:t>access_shadow détecté</a:t>
            </a:r>
            <a:endParaRPr lang="en-US" sz="950" dirty="0"/>
          </a:p>
        </p:txBody>
      </p:sp>
      <p:sp>
        <p:nvSpPr>
          <p:cNvPr id="9" name="Text 7"/>
          <p:cNvSpPr/>
          <p:nvPr/>
        </p:nvSpPr>
        <p:spPr>
          <a:xfrm>
            <a:off x="749808" y="3291840"/>
            <a:ext cx="3200400" cy="274320"/>
          </a:xfrm>
          <a:prstGeom prst="rect">
            <a:avLst/>
          </a:prstGeom>
          <a:noFill/>
        </p:spPr>
        <p:txBody>
          <a:bodyPr wrap="square" lIns="0" tIns="0" rIns="0" bIns="0" rtlCol="0" anchor="ctr"/>
          <a:lstStyle/>
          <a:p>
            <a:pPr marL="0" indent="0">
              <a:buNone/>
            </a:pPr>
            <a:r>
              <a:rPr lang="en-US" sz="950" b="1" dirty="0">
                <a:solidFill>
                  <a:srgbClr val="4CAF50"/>
                </a:solidFill>
                <a:latin typeface="Calibri" panose="020F0502020204030204" pitchFamily="34" charset="0"/>
                <a:ea typeface="Calibri" panose="020F0502020204030204" pitchFamily="34" charset="-122"/>
                <a:cs typeface="Calibri" panose="020F0502020204030204" pitchFamily="34" charset="-120"/>
              </a:rPr>
              <a:t>✔ VALIDÉ</a:t>
            </a:r>
            <a:endParaRPr lang="en-US" sz="950" dirty="0"/>
          </a:p>
        </p:txBody>
      </p:sp>
      <p:sp>
        <p:nvSpPr>
          <p:cNvPr id="10" name="Shape 8"/>
          <p:cNvSpPr/>
          <p:nvPr/>
        </p:nvSpPr>
        <p:spPr>
          <a:xfrm>
            <a:off x="4343400" y="1691640"/>
            <a:ext cx="3611880" cy="1965960"/>
          </a:xfrm>
          <a:prstGeom prst="roundRect">
            <a:avLst>
              <a:gd name="adj" fmla="val 3721"/>
            </a:avLst>
          </a:prstGeom>
          <a:solidFill>
            <a:srgbClr val="13261A"/>
          </a:solidFill>
          <a:ln w="12700">
            <a:solidFill>
              <a:srgbClr val="1F3D28"/>
            </a:solidFill>
            <a:prstDash val="solid"/>
          </a:ln>
        </p:spPr>
      </p:sp>
      <p:sp>
        <p:nvSpPr>
          <p:cNvPr id="11" name="Shape 9"/>
          <p:cNvSpPr/>
          <p:nvPr/>
        </p:nvSpPr>
        <p:spPr>
          <a:xfrm>
            <a:off x="4544568" y="1892808"/>
            <a:ext cx="457200" cy="457200"/>
          </a:xfrm>
          <a:prstGeom prst="ellipse">
            <a:avLst/>
          </a:prstGeom>
          <a:solidFill>
            <a:srgbClr val="2E7D32"/>
          </a:solidFill>
        </p:spPr>
      </p:sp>
      <p:sp>
        <p:nvSpPr>
          <p:cNvPr id="12" name="Text 10"/>
          <p:cNvSpPr/>
          <p:nvPr/>
        </p:nvSpPr>
        <p:spPr>
          <a:xfrm>
            <a:off x="4544568" y="1892808"/>
            <a:ext cx="457200" cy="457200"/>
          </a:xfrm>
          <a:prstGeom prst="rect">
            <a:avLst/>
          </a:prstGeom>
          <a:noFill/>
        </p:spPr>
        <p:txBody>
          <a:bodyPr wrap="square" lIns="0" tIns="0" rIns="0" bIns="0" rtlCol="0" anchor="ctr"/>
          <a:lstStyle/>
          <a:p>
            <a:pPr marL="0" indent="0" algn="ctr">
              <a:buNone/>
            </a:pPr>
            <a:r>
              <a:rPr lang="en-US" sz="1600" b="1" dirty="0">
                <a:solidFill>
                  <a:srgbClr val="FFFFFF"/>
                </a:solidFill>
                <a:latin typeface="Cambria" panose="02040503050406030204" pitchFamily="34" charset="0"/>
                <a:ea typeface="Cambria" panose="02040503050406030204" pitchFamily="34" charset="-122"/>
                <a:cs typeface="Cambria" panose="02040503050406030204" pitchFamily="34" charset="-120"/>
              </a:rPr>
              <a:t>B</a:t>
            </a:r>
            <a:endParaRPr lang="en-US" sz="1600" dirty="0"/>
          </a:p>
        </p:txBody>
      </p:sp>
      <p:sp>
        <p:nvSpPr>
          <p:cNvPr id="13" name="Text 11"/>
          <p:cNvSpPr/>
          <p:nvPr/>
        </p:nvSpPr>
        <p:spPr>
          <a:xfrm>
            <a:off x="5120640" y="1911096"/>
            <a:ext cx="2651760" cy="457200"/>
          </a:xfrm>
          <a:prstGeom prst="rect">
            <a:avLst/>
          </a:prstGeom>
          <a:noFill/>
        </p:spPr>
        <p:txBody>
          <a:bodyPr wrap="square" lIns="0" tIns="0" rIns="0" bIns="0" rtlCol="0" anchor="ctr"/>
          <a:lstStyle/>
          <a:p>
            <a:pPr marL="0" indent="0">
              <a:buNone/>
            </a:pPr>
            <a:r>
              <a:rPr lang="en-US" sz="1250" b="1" dirty="0">
                <a:solidFill>
                  <a:srgbClr val="FFFFFF"/>
                </a:solidFill>
                <a:latin typeface="Calibri" panose="020F0502020204030204" pitchFamily="34" charset="0"/>
                <a:ea typeface="Calibri" panose="020F0502020204030204" pitchFamily="34" charset="-122"/>
                <a:cs typeface="Calibri" panose="020F0502020204030204" pitchFamily="34" charset="-120"/>
              </a:rPr>
              <a:t>Outils suspects</a:t>
            </a:r>
            <a:endParaRPr lang="en-US" sz="1250" dirty="0"/>
          </a:p>
        </p:txBody>
      </p:sp>
      <p:sp>
        <p:nvSpPr>
          <p:cNvPr id="14" name="Text 12"/>
          <p:cNvSpPr/>
          <p:nvPr/>
        </p:nvSpPr>
        <p:spPr>
          <a:xfrm>
            <a:off x="4544568" y="2514600"/>
            <a:ext cx="3200400" cy="1005840"/>
          </a:xfrm>
          <a:prstGeom prst="rect">
            <a:avLst/>
          </a:prstGeom>
          <a:noFill/>
        </p:spPr>
        <p:txBody>
          <a:bodyPr wrap="square" lIns="0" tIns="0" rIns="0" bIns="0" rtlCol="0" anchor="ctr"/>
          <a:lstStyle/>
          <a:p>
            <a:pPr marL="0" indent="0">
              <a:lnSpc>
                <a:spcPct val="135000"/>
              </a:lnSpc>
              <a:buNone/>
            </a:pPr>
            <a:r>
              <a:rPr lang="en-US" sz="950" dirty="0">
                <a:solidFill>
                  <a:srgbClr val="7C9083"/>
                </a:solidFill>
                <a:latin typeface="Calibri" panose="020F0502020204030204" pitchFamily="34" charset="0"/>
                <a:ea typeface="Calibri" panose="020F0502020204030204" pitchFamily="34" charset="-122"/>
                <a:cs typeface="Calibri" panose="020F0502020204030204" pitchFamily="34" charset="-120"/>
              </a:rPr>
              <a:t>Attaque  </a:t>
            </a:r>
            <a:r>
              <a:rPr lang="en-US" sz="1050" b="1" dirty="0">
                <a:solidFill>
                  <a:srgbClr val="F5F7F5"/>
                </a:solidFill>
                <a:latin typeface="Calibri" panose="020F0502020204030204" pitchFamily="34" charset="0"/>
                <a:ea typeface="Calibri" panose="020F0502020204030204" pitchFamily="34" charset="-122"/>
                <a:cs typeface="Calibri" panose="020F0502020204030204" pitchFamily="34" charset="-120"/>
              </a:rPr>
              <a:t>nc, wget, curl
</a:t>
            </a:r>
            <a:r>
              <a:rPr lang="en-US" sz="950" dirty="0">
                <a:solidFill>
                  <a:srgbClr val="7C9083"/>
                </a:solidFill>
                <a:latin typeface="Calibri" panose="020F0502020204030204" pitchFamily="34" charset="0"/>
                <a:ea typeface="Calibri" panose="020F0502020204030204" pitchFamily="34" charset="-122"/>
                <a:cs typeface="Calibri" panose="020F0502020204030204" pitchFamily="34" charset="-120"/>
              </a:rPr>
              <a:t>Résultat  </a:t>
            </a:r>
            <a:r>
              <a:rPr lang="en-US" sz="1050" b="1" dirty="0">
                <a:solidFill>
                  <a:srgbClr val="8BC9A0"/>
                </a:solidFill>
                <a:latin typeface="Calibri" panose="020F0502020204030204" pitchFamily="34" charset="0"/>
                <a:ea typeface="Calibri" panose="020F0502020204030204" pitchFamily="34" charset="-122"/>
                <a:cs typeface="Calibri" panose="020F0502020204030204" pitchFamily="34" charset="-120"/>
              </a:rPr>
              <a:t>exec_suspicious détecté</a:t>
            </a:r>
            <a:endParaRPr lang="en-US" sz="950" dirty="0"/>
          </a:p>
        </p:txBody>
      </p:sp>
      <p:sp>
        <p:nvSpPr>
          <p:cNvPr id="15" name="Text 13"/>
          <p:cNvSpPr/>
          <p:nvPr/>
        </p:nvSpPr>
        <p:spPr>
          <a:xfrm>
            <a:off x="4544568" y="3291840"/>
            <a:ext cx="3200400" cy="274320"/>
          </a:xfrm>
          <a:prstGeom prst="rect">
            <a:avLst/>
          </a:prstGeom>
          <a:noFill/>
        </p:spPr>
        <p:txBody>
          <a:bodyPr wrap="square" lIns="0" tIns="0" rIns="0" bIns="0" rtlCol="0" anchor="ctr"/>
          <a:lstStyle/>
          <a:p>
            <a:pPr marL="0" indent="0">
              <a:buNone/>
            </a:pPr>
            <a:r>
              <a:rPr lang="en-US" sz="950" b="1" dirty="0">
                <a:solidFill>
                  <a:srgbClr val="4CAF50"/>
                </a:solidFill>
                <a:latin typeface="Calibri" panose="020F0502020204030204" pitchFamily="34" charset="0"/>
                <a:ea typeface="Calibri" panose="020F0502020204030204" pitchFamily="34" charset="-122"/>
                <a:cs typeface="Calibri" panose="020F0502020204030204" pitchFamily="34" charset="-120"/>
              </a:rPr>
              <a:t>✔ VALIDÉ</a:t>
            </a:r>
            <a:endParaRPr lang="en-US" sz="950" dirty="0"/>
          </a:p>
        </p:txBody>
      </p:sp>
      <p:sp>
        <p:nvSpPr>
          <p:cNvPr id="16" name="Shape 14"/>
          <p:cNvSpPr/>
          <p:nvPr/>
        </p:nvSpPr>
        <p:spPr>
          <a:xfrm>
            <a:off x="8138160" y="1691640"/>
            <a:ext cx="3611880" cy="1965960"/>
          </a:xfrm>
          <a:prstGeom prst="roundRect">
            <a:avLst>
              <a:gd name="adj" fmla="val 3721"/>
            </a:avLst>
          </a:prstGeom>
          <a:solidFill>
            <a:srgbClr val="13261A"/>
          </a:solidFill>
          <a:ln w="12700">
            <a:solidFill>
              <a:srgbClr val="1F3D28"/>
            </a:solidFill>
            <a:prstDash val="solid"/>
          </a:ln>
        </p:spPr>
      </p:sp>
      <p:sp>
        <p:nvSpPr>
          <p:cNvPr id="17" name="Shape 15"/>
          <p:cNvSpPr/>
          <p:nvPr/>
        </p:nvSpPr>
        <p:spPr>
          <a:xfrm>
            <a:off x="8339328" y="1892808"/>
            <a:ext cx="457200" cy="457200"/>
          </a:xfrm>
          <a:prstGeom prst="ellipse">
            <a:avLst/>
          </a:prstGeom>
          <a:solidFill>
            <a:srgbClr val="2E7D32"/>
          </a:solidFill>
        </p:spPr>
      </p:sp>
      <p:sp>
        <p:nvSpPr>
          <p:cNvPr id="18" name="Text 16"/>
          <p:cNvSpPr/>
          <p:nvPr/>
        </p:nvSpPr>
        <p:spPr>
          <a:xfrm>
            <a:off x="8339328" y="1892808"/>
            <a:ext cx="457200" cy="457200"/>
          </a:xfrm>
          <a:prstGeom prst="rect">
            <a:avLst/>
          </a:prstGeom>
          <a:noFill/>
        </p:spPr>
        <p:txBody>
          <a:bodyPr wrap="square" lIns="0" tIns="0" rIns="0" bIns="0" rtlCol="0" anchor="ctr"/>
          <a:lstStyle/>
          <a:p>
            <a:pPr marL="0" indent="0" algn="ctr">
              <a:buNone/>
            </a:pPr>
            <a:r>
              <a:rPr lang="en-US" sz="1600" b="1" dirty="0">
                <a:solidFill>
                  <a:srgbClr val="FFFFFF"/>
                </a:solidFill>
                <a:latin typeface="Cambria" panose="02040503050406030204" pitchFamily="34" charset="0"/>
                <a:ea typeface="Cambria" panose="02040503050406030204" pitchFamily="34" charset="-122"/>
                <a:cs typeface="Cambria" panose="02040503050406030204" pitchFamily="34" charset="-120"/>
              </a:rPr>
              <a:t>C</a:t>
            </a:r>
            <a:endParaRPr lang="en-US" sz="1600" dirty="0"/>
          </a:p>
        </p:txBody>
      </p:sp>
      <p:sp>
        <p:nvSpPr>
          <p:cNvPr id="19" name="Text 17"/>
          <p:cNvSpPr/>
          <p:nvPr/>
        </p:nvSpPr>
        <p:spPr>
          <a:xfrm>
            <a:off x="8915400" y="1911096"/>
            <a:ext cx="2651760" cy="457200"/>
          </a:xfrm>
          <a:prstGeom prst="rect">
            <a:avLst/>
          </a:prstGeom>
          <a:noFill/>
        </p:spPr>
        <p:txBody>
          <a:bodyPr wrap="square" lIns="0" tIns="0" rIns="0" bIns="0" rtlCol="0" anchor="ctr"/>
          <a:lstStyle/>
          <a:p>
            <a:pPr marL="0" indent="0">
              <a:buNone/>
            </a:pPr>
            <a:r>
              <a:rPr lang="en-US" sz="1250" b="1" dirty="0">
                <a:solidFill>
                  <a:srgbClr val="FFFFFF"/>
                </a:solidFill>
                <a:latin typeface="Calibri" panose="020F0502020204030204" pitchFamily="34" charset="0"/>
                <a:ea typeface="Calibri" panose="020F0502020204030204" pitchFamily="34" charset="-122"/>
                <a:cs typeface="Calibri" panose="020F0502020204030204" pitchFamily="34" charset="-120"/>
              </a:rPr>
              <a:t>Brute force SSH (v1)</a:t>
            </a:r>
            <a:endParaRPr lang="en-US" sz="1250" dirty="0"/>
          </a:p>
        </p:txBody>
      </p:sp>
      <p:sp>
        <p:nvSpPr>
          <p:cNvPr id="20" name="Text 18"/>
          <p:cNvSpPr/>
          <p:nvPr/>
        </p:nvSpPr>
        <p:spPr>
          <a:xfrm>
            <a:off x="8339328" y="2514600"/>
            <a:ext cx="3200400" cy="1005840"/>
          </a:xfrm>
          <a:prstGeom prst="rect">
            <a:avLst/>
          </a:prstGeom>
          <a:noFill/>
        </p:spPr>
        <p:txBody>
          <a:bodyPr wrap="square" lIns="0" tIns="0" rIns="0" bIns="0" rtlCol="0" anchor="ctr"/>
          <a:lstStyle/>
          <a:p>
            <a:pPr marL="0" indent="0">
              <a:lnSpc>
                <a:spcPct val="135000"/>
              </a:lnSpc>
              <a:buNone/>
            </a:pPr>
            <a:r>
              <a:rPr lang="en-US" sz="950" dirty="0">
                <a:solidFill>
                  <a:srgbClr val="7C9083"/>
                </a:solidFill>
                <a:latin typeface="Calibri" panose="020F0502020204030204" pitchFamily="34" charset="0"/>
                <a:ea typeface="Calibri" panose="020F0502020204030204" pitchFamily="34" charset="-122"/>
                <a:cs typeface="Calibri" panose="020F0502020204030204" pitchFamily="34" charset="-120"/>
              </a:rPr>
              <a:t>Attaque  </a:t>
            </a:r>
            <a:r>
              <a:rPr lang="en-US" sz="1050" b="1" dirty="0">
                <a:solidFill>
                  <a:srgbClr val="F5F7F5"/>
                </a:solidFill>
                <a:latin typeface="Calibri" panose="020F0502020204030204" pitchFamily="34" charset="0"/>
                <a:ea typeface="Calibri" panose="020F0502020204030204" pitchFamily="34" charset="-122"/>
                <a:cs typeface="Calibri" panose="020F0502020204030204" pitchFamily="34" charset="-120"/>
              </a:rPr>
              <a:t>5+ échecs SSH
</a:t>
            </a:r>
            <a:r>
              <a:rPr lang="en-US" sz="950" dirty="0">
                <a:solidFill>
                  <a:srgbClr val="7C9083"/>
                </a:solidFill>
                <a:latin typeface="Calibri" panose="020F0502020204030204" pitchFamily="34" charset="0"/>
                <a:ea typeface="Calibri" panose="020F0502020204030204" pitchFamily="34" charset="-122"/>
                <a:cs typeface="Calibri" panose="020F0502020204030204" pitchFamily="34" charset="-120"/>
              </a:rPr>
              <a:t>Résultat  </a:t>
            </a:r>
            <a:r>
              <a:rPr lang="en-US" sz="1050" b="1" dirty="0">
                <a:solidFill>
                  <a:srgbClr val="8BC9A0"/>
                </a:solidFill>
                <a:latin typeface="Calibri" panose="020F0502020204030204" pitchFamily="34" charset="0"/>
                <a:ea typeface="Calibri" panose="020F0502020204030204" pitchFamily="34" charset="-122"/>
                <a:cs typeface="Calibri" panose="020F0502020204030204" pitchFamily="34" charset="-120"/>
              </a:rPr>
              <a:t>Détecté, kill process</a:t>
            </a:r>
            <a:endParaRPr lang="en-US" sz="950" dirty="0"/>
          </a:p>
        </p:txBody>
      </p:sp>
      <p:sp>
        <p:nvSpPr>
          <p:cNvPr id="21" name="Text 19"/>
          <p:cNvSpPr/>
          <p:nvPr/>
        </p:nvSpPr>
        <p:spPr>
          <a:xfrm>
            <a:off x="8339328" y="3291840"/>
            <a:ext cx="3200400" cy="274320"/>
          </a:xfrm>
          <a:prstGeom prst="rect">
            <a:avLst/>
          </a:prstGeom>
          <a:noFill/>
        </p:spPr>
        <p:txBody>
          <a:bodyPr wrap="square" lIns="0" tIns="0" rIns="0" bIns="0" rtlCol="0" anchor="ctr"/>
          <a:lstStyle/>
          <a:p>
            <a:pPr marL="0" indent="0">
              <a:buNone/>
            </a:pPr>
            <a:r>
              <a:rPr lang="en-US" sz="950" b="1" dirty="0">
                <a:solidFill>
                  <a:srgbClr val="4CAF50"/>
                </a:solidFill>
                <a:latin typeface="Calibri" panose="020F0502020204030204" pitchFamily="34" charset="0"/>
                <a:ea typeface="Calibri" panose="020F0502020204030204" pitchFamily="34" charset="-122"/>
                <a:cs typeface="Calibri" panose="020F0502020204030204" pitchFamily="34" charset="-120"/>
              </a:rPr>
              <a:t>✔ VALIDÉ</a:t>
            </a:r>
            <a:endParaRPr lang="en-US" sz="950" dirty="0"/>
          </a:p>
        </p:txBody>
      </p:sp>
      <p:sp>
        <p:nvSpPr>
          <p:cNvPr id="22" name="Shape 20"/>
          <p:cNvSpPr/>
          <p:nvPr/>
        </p:nvSpPr>
        <p:spPr>
          <a:xfrm>
            <a:off x="548640" y="3840480"/>
            <a:ext cx="3611880" cy="1965960"/>
          </a:xfrm>
          <a:prstGeom prst="roundRect">
            <a:avLst>
              <a:gd name="adj" fmla="val 3721"/>
            </a:avLst>
          </a:prstGeom>
          <a:solidFill>
            <a:srgbClr val="13261A"/>
          </a:solidFill>
          <a:ln w="12700">
            <a:solidFill>
              <a:srgbClr val="1F3D28"/>
            </a:solidFill>
            <a:prstDash val="solid"/>
          </a:ln>
        </p:spPr>
      </p:sp>
      <p:sp>
        <p:nvSpPr>
          <p:cNvPr id="23" name="Shape 21"/>
          <p:cNvSpPr/>
          <p:nvPr/>
        </p:nvSpPr>
        <p:spPr>
          <a:xfrm>
            <a:off x="749808" y="4041648"/>
            <a:ext cx="457200" cy="457200"/>
          </a:xfrm>
          <a:prstGeom prst="ellipse">
            <a:avLst/>
          </a:prstGeom>
          <a:solidFill>
            <a:srgbClr val="2E7D32"/>
          </a:solidFill>
        </p:spPr>
      </p:sp>
      <p:sp>
        <p:nvSpPr>
          <p:cNvPr id="24" name="Text 22"/>
          <p:cNvSpPr/>
          <p:nvPr/>
        </p:nvSpPr>
        <p:spPr>
          <a:xfrm>
            <a:off x="749808" y="4041648"/>
            <a:ext cx="457200" cy="457200"/>
          </a:xfrm>
          <a:prstGeom prst="rect">
            <a:avLst/>
          </a:prstGeom>
          <a:noFill/>
        </p:spPr>
        <p:txBody>
          <a:bodyPr wrap="square" lIns="0" tIns="0" rIns="0" bIns="0" rtlCol="0" anchor="ctr"/>
          <a:lstStyle/>
          <a:p>
            <a:pPr marL="0" indent="0" algn="ctr">
              <a:buNone/>
            </a:pPr>
            <a:r>
              <a:rPr lang="en-US" sz="1600" b="1" dirty="0">
                <a:solidFill>
                  <a:srgbClr val="FFFFFF"/>
                </a:solidFill>
                <a:latin typeface="Cambria" panose="02040503050406030204" pitchFamily="34" charset="0"/>
                <a:ea typeface="Cambria" panose="02040503050406030204" pitchFamily="34" charset="-122"/>
                <a:cs typeface="Cambria" panose="02040503050406030204" pitchFamily="34" charset="-120"/>
              </a:rPr>
              <a:t>D</a:t>
            </a:r>
            <a:endParaRPr lang="en-US" sz="1600" dirty="0"/>
          </a:p>
        </p:txBody>
      </p:sp>
      <p:sp>
        <p:nvSpPr>
          <p:cNvPr id="25" name="Text 23"/>
          <p:cNvSpPr/>
          <p:nvPr/>
        </p:nvSpPr>
        <p:spPr>
          <a:xfrm>
            <a:off x="1325880" y="4059936"/>
            <a:ext cx="2651760" cy="457200"/>
          </a:xfrm>
          <a:prstGeom prst="rect">
            <a:avLst/>
          </a:prstGeom>
          <a:noFill/>
        </p:spPr>
        <p:txBody>
          <a:bodyPr wrap="square" lIns="0" tIns="0" rIns="0" bIns="0" rtlCol="0" anchor="ctr"/>
          <a:lstStyle/>
          <a:p>
            <a:pPr marL="0" indent="0">
              <a:buNone/>
            </a:pPr>
            <a:r>
              <a:rPr lang="en-US" sz="1250" b="1" dirty="0">
                <a:solidFill>
                  <a:srgbClr val="FFFFFF"/>
                </a:solidFill>
                <a:latin typeface="Calibri" panose="020F0502020204030204" pitchFamily="34" charset="0"/>
                <a:ea typeface="Calibri" panose="020F0502020204030204" pitchFamily="34" charset="-122"/>
                <a:cs typeface="Calibri" panose="020F0502020204030204" pitchFamily="34" charset="-120"/>
              </a:rPr>
              <a:t>Malware simple</a:t>
            </a:r>
            <a:endParaRPr lang="en-US" sz="1250" dirty="0"/>
          </a:p>
        </p:txBody>
      </p:sp>
      <p:sp>
        <p:nvSpPr>
          <p:cNvPr id="26" name="Text 24"/>
          <p:cNvSpPr/>
          <p:nvPr/>
        </p:nvSpPr>
        <p:spPr>
          <a:xfrm>
            <a:off x="749808" y="4663440"/>
            <a:ext cx="3200400" cy="1005840"/>
          </a:xfrm>
          <a:prstGeom prst="rect">
            <a:avLst/>
          </a:prstGeom>
          <a:noFill/>
        </p:spPr>
        <p:txBody>
          <a:bodyPr wrap="square" lIns="0" tIns="0" rIns="0" bIns="0" rtlCol="0" anchor="ctr"/>
          <a:lstStyle/>
          <a:p>
            <a:pPr marL="0" indent="0">
              <a:lnSpc>
                <a:spcPct val="135000"/>
              </a:lnSpc>
              <a:buNone/>
            </a:pPr>
            <a:r>
              <a:rPr lang="en-US" sz="950" dirty="0">
                <a:solidFill>
                  <a:srgbClr val="7C9083"/>
                </a:solidFill>
                <a:latin typeface="Calibri" panose="020F0502020204030204" pitchFamily="34" charset="0"/>
                <a:ea typeface="Calibri" panose="020F0502020204030204" pitchFamily="34" charset="-122"/>
                <a:cs typeface="Calibri" panose="020F0502020204030204" pitchFamily="34" charset="-120"/>
              </a:rPr>
              <a:t>Attaque  </a:t>
            </a:r>
            <a:r>
              <a:rPr lang="en-US" sz="1050" b="1" dirty="0">
                <a:solidFill>
                  <a:srgbClr val="F5F7F5"/>
                </a:solidFill>
                <a:latin typeface="Calibri" panose="020F0502020204030204" pitchFamily="34" charset="0"/>
                <a:ea typeface="Calibri" panose="020F0502020204030204" pitchFamily="34" charset="-122"/>
                <a:cs typeface="Calibri" panose="020F0502020204030204" pitchFamily="34" charset="-120"/>
              </a:rPr>
              <a:t>fake_malware.sh
</a:t>
            </a:r>
            <a:r>
              <a:rPr lang="en-US" sz="950" dirty="0">
                <a:solidFill>
                  <a:srgbClr val="7C9083"/>
                </a:solidFill>
                <a:latin typeface="Calibri" panose="020F0502020204030204" pitchFamily="34" charset="0"/>
                <a:ea typeface="Calibri" panose="020F0502020204030204" pitchFamily="34" charset="-122"/>
                <a:cs typeface="Calibri" panose="020F0502020204030204" pitchFamily="34" charset="-120"/>
              </a:rPr>
              <a:t>Résultat  </a:t>
            </a:r>
            <a:r>
              <a:rPr lang="en-US" sz="1050" b="1" dirty="0">
                <a:solidFill>
                  <a:srgbClr val="8BC9A0"/>
                </a:solidFill>
                <a:latin typeface="Calibri" panose="020F0502020204030204" pitchFamily="34" charset="0"/>
                <a:ea typeface="Calibri" panose="020F0502020204030204" pitchFamily="34" charset="-122"/>
                <a:cs typeface="Calibri" panose="020F0502020204030204" pitchFamily="34" charset="-120"/>
              </a:rPr>
              <a:t>Détecté, process tué</a:t>
            </a:r>
            <a:endParaRPr lang="en-US" sz="950" dirty="0"/>
          </a:p>
        </p:txBody>
      </p:sp>
      <p:sp>
        <p:nvSpPr>
          <p:cNvPr id="27" name="Text 25"/>
          <p:cNvSpPr/>
          <p:nvPr/>
        </p:nvSpPr>
        <p:spPr>
          <a:xfrm>
            <a:off x="749808" y="5440680"/>
            <a:ext cx="3200400" cy="274320"/>
          </a:xfrm>
          <a:prstGeom prst="rect">
            <a:avLst/>
          </a:prstGeom>
          <a:noFill/>
        </p:spPr>
        <p:txBody>
          <a:bodyPr wrap="square" lIns="0" tIns="0" rIns="0" bIns="0" rtlCol="0" anchor="ctr"/>
          <a:lstStyle/>
          <a:p>
            <a:pPr marL="0" indent="0">
              <a:buNone/>
            </a:pPr>
            <a:r>
              <a:rPr lang="en-US" sz="950" b="1" dirty="0">
                <a:solidFill>
                  <a:srgbClr val="4CAF50"/>
                </a:solidFill>
                <a:latin typeface="Calibri" panose="020F0502020204030204" pitchFamily="34" charset="0"/>
                <a:ea typeface="Calibri" panose="020F0502020204030204" pitchFamily="34" charset="-122"/>
                <a:cs typeface="Calibri" panose="020F0502020204030204" pitchFamily="34" charset="-120"/>
              </a:rPr>
              <a:t>✔ VALIDÉ</a:t>
            </a:r>
            <a:endParaRPr lang="en-US" sz="950" dirty="0"/>
          </a:p>
        </p:txBody>
      </p:sp>
      <p:sp>
        <p:nvSpPr>
          <p:cNvPr id="28" name="Shape 26"/>
          <p:cNvSpPr/>
          <p:nvPr/>
        </p:nvSpPr>
        <p:spPr>
          <a:xfrm>
            <a:off x="4343400" y="3840480"/>
            <a:ext cx="3611880" cy="1965960"/>
          </a:xfrm>
          <a:prstGeom prst="roundRect">
            <a:avLst>
              <a:gd name="adj" fmla="val 3721"/>
            </a:avLst>
          </a:prstGeom>
          <a:solidFill>
            <a:srgbClr val="13261A"/>
          </a:solidFill>
          <a:ln w="12700">
            <a:solidFill>
              <a:srgbClr val="1F3D28"/>
            </a:solidFill>
            <a:prstDash val="solid"/>
          </a:ln>
        </p:spPr>
      </p:sp>
      <p:sp>
        <p:nvSpPr>
          <p:cNvPr id="29" name="Shape 27"/>
          <p:cNvSpPr/>
          <p:nvPr/>
        </p:nvSpPr>
        <p:spPr>
          <a:xfrm>
            <a:off x="4544568" y="4041648"/>
            <a:ext cx="457200" cy="457200"/>
          </a:xfrm>
          <a:prstGeom prst="ellipse">
            <a:avLst/>
          </a:prstGeom>
          <a:solidFill>
            <a:srgbClr val="2E7D32"/>
          </a:solidFill>
        </p:spPr>
      </p:sp>
      <p:sp>
        <p:nvSpPr>
          <p:cNvPr id="30" name="Text 28"/>
          <p:cNvSpPr/>
          <p:nvPr/>
        </p:nvSpPr>
        <p:spPr>
          <a:xfrm>
            <a:off x="4544568" y="4041648"/>
            <a:ext cx="457200" cy="457200"/>
          </a:xfrm>
          <a:prstGeom prst="rect">
            <a:avLst/>
          </a:prstGeom>
          <a:noFill/>
        </p:spPr>
        <p:txBody>
          <a:bodyPr wrap="square" lIns="0" tIns="0" rIns="0" bIns="0" rtlCol="0" anchor="ctr"/>
          <a:lstStyle/>
          <a:p>
            <a:pPr marL="0" indent="0" algn="ctr">
              <a:buNone/>
            </a:pPr>
            <a:r>
              <a:rPr lang="en-US" sz="1600" b="1" dirty="0">
                <a:solidFill>
                  <a:srgbClr val="FFFFFF"/>
                </a:solidFill>
                <a:latin typeface="Cambria" panose="02040503050406030204" pitchFamily="34" charset="0"/>
                <a:ea typeface="Cambria" panose="02040503050406030204" pitchFamily="34" charset="-122"/>
                <a:cs typeface="Cambria" panose="02040503050406030204" pitchFamily="34" charset="-120"/>
              </a:rPr>
              <a:t>E</a:t>
            </a:r>
            <a:endParaRPr lang="en-US" sz="1600" dirty="0"/>
          </a:p>
        </p:txBody>
      </p:sp>
      <p:sp>
        <p:nvSpPr>
          <p:cNvPr id="31" name="Text 29"/>
          <p:cNvSpPr/>
          <p:nvPr/>
        </p:nvSpPr>
        <p:spPr>
          <a:xfrm>
            <a:off x="5120640" y="4059936"/>
            <a:ext cx="2651760" cy="457200"/>
          </a:xfrm>
          <a:prstGeom prst="rect">
            <a:avLst/>
          </a:prstGeom>
          <a:noFill/>
        </p:spPr>
        <p:txBody>
          <a:bodyPr wrap="square" lIns="0" tIns="0" rIns="0" bIns="0" rtlCol="0" anchor="ctr"/>
          <a:lstStyle/>
          <a:p>
            <a:pPr marL="0" indent="0">
              <a:buNone/>
            </a:pPr>
            <a:r>
              <a:rPr lang="en-US" sz="1250" b="1" dirty="0">
                <a:solidFill>
                  <a:srgbClr val="FFFFFF"/>
                </a:solidFill>
                <a:latin typeface="Calibri" panose="020F0502020204030204" pitchFamily="34" charset="0"/>
                <a:ea typeface="Calibri" panose="020F0502020204030204" pitchFamily="34" charset="-122"/>
                <a:cs typeface="Calibri" panose="020F0502020204030204" pitchFamily="34" charset="-120"/>
              </a:rPr>
              <a:t>Brute force + blocage réel</a:t>
            </a:r>
            <a:endParaRPr lang="en-US" sz="1250" dirty="0"/>
          </a:p>
        </p:txBody>
      </p:sp>
      <p:sp>
        <p:nvSpPr>
          <p:cNvPr id="32" name="Text 30"/>
          <p:cNvSpPr/>
          <p:nvPr/>
        </p:nvSpPr>
        <p:spPr>
          <a:xfrm>
            <a:off x="4544568" y="4663440"/>
            <a:ext cx="3200400" cy="1005840"/>
          </a:xfrm>
          <a:prstGeom prst="rect">
            <a:avLst/>
          </a:prstGeom>
          <a:noFill/>
        </p:spPr>
        <p:txBody>
          <a:bodyPr wrap="square" lIns="0" tIns="0" rIns="0" bIns="0" rtlCol="0" anchor="ctr"/>
          <a:lstStyle/>
          <a:p>
            <a:pPr marL="0" indent="0">
              <a:lnSpc>
                <a:spcPct val="135000"/>
              </a:lnSpc>
              <a:buNone/>
            </a:pPr>
            <a:r>
              <a:rPr lang="en-US" sz="950" dirty="0">
                <a:solidFill>
                  <a:srgbClr val="7C9083"/>
                </a:solidFill>
                <a:latin typeface="Calibri" panose="020F0502020204030204" pitchFamily="34" charset="0"/>
                <a:ea typeface="Calibri" panose="020F0502020204030204" pitchFamily="34" charset="-122"/>
                <a:cs typeface="Calibri" panose="020F0502020204030204" pitchFamily="34" charset="-120"/>
              </a:rPr>
              <a:t>Attaque  </a:t>
            </a:r>
            <a:r>
              <a:rPr lang="en-US" sz="1050" b="1" dirty="0">
                <a:solidFill>
                  <a:srgbClr val="F5F7F5"/>
                </a:solidFill>
                <a:latin typeface="Calibri" panose="020F0502020204030204" pitchFamily="34" charset="0"/>
                <a:ea typeface="Calibri" panose="020F0502020204030204" pitchFamily="34" charset="-122"/>
                <a:cs typeface="Calibri" panose="020F0502020204030204" pitchFamily="34" charset="-120"/>
              </a:rPr>
              <a:t>Hydra ssh
</a:t>
            </a:r>
            <a:r>
              <a:rPr lang="en-US" sz="950" dirty="0">
                <a:solidFill>
                  <a:srgbClr val="7C9083"/>
                </a:solidFill>
                <a:latin typeface="Calibri" panose="020F0502020204030204" pitchFamily="34" charset="0"/>
                <a:ea typeface="Calibri" panose="020F0502020204030204" pitchFamily="34" charset="-122"/>
                <a:cs typeface="Calibri" panose="020F0502020204030204" pitchFamily="34" charset="-120"/>
              </a:rPr>
              <a:t>Résultat  </a:t>
            </a:r>
            <a:r>
              <a:rPr lang="en-US" sz="1050" b="1" dirty="0">
                <a:solidFill>
                  <a:srgbClr val="8BC9A0"/>
                </a:solidFill>
                <a:latin typeface="Calibri" panose="020F0502020204030204" pitchFamily="34" charset="0"/>
                <a:ea typeface="Calibri" panose="020F0502020204030204" pitchFamily="34" charset="-122"/>
                <a:cs typeface="Calibri" panose="020F0502020204030204" pitchFamily="34" charset="-120"/>
              </a:rPr>
              <a:t>IP bloquée via iptables</a:t>
            </a:r>
            <a:endParaRPr lang="en-US" sz="950" dirty="0"/>
          </a:p>
        </p:txBody>
      </p:sp>
      <p:sp>
        <p:nvSpPr>
          <p:cNvPr id="33" name="Text 31"/>
          <p:cNvSpPr/>
          <p:nvPr/>
        </p:nvSpPr>
        <p:spPr>
          <a:xfrm>
            <a:off x="4544568" y="5440680"/>
            <a:ext cx="3200400" cy="274320"/>
          </a:xfrm>
          <a:prstGeom prst="rect">
            <a:avLst/>
          </a:prstGeom>
          <a:noFill/>
        </p:spPr>
        <p:txBody>
          <a:bodyPr wrap="square" lIns="0" tIns="0" rIns="0" bIns="0" rtlCol="0" anchor="ctr"/>
          <a:lstStyle/>
          <a:p>
            <a:pPr marL="0" indent="0">
              <a:buNone/>
            </a:pPr>
            <a:r>
              <a:rPr lang="en-US" sz="950" b="1" dirty="0">
                <a:solidFill>
                  <a:srgbClr val="4CAF50"/>
                </a:solidFill>
                <a:latin typeface="Calibri" panose="020F0502020204030204" pitchFamily="34" charset="0"/>
                <a:ea typeface="Calibri" panose="020F0502020204030204" pitchFamily="34" charset="-122"/>
                <a:cs typeface="Calibri" panose="020F0502020204030204" pitchFamily="34" charset="-120"/>
              </a:rPr>
              <a:t>✔ VALIDÉ</a:t>
            </a:r>
            <a:endParaRPr lang="en-US" sz="950" dirty="0"/>
          </a:p>
        </p:txBody>
      </p:sp>
      <p:sp>
        <p:nvSpPr>
          <p:cNvPr id="34" name="Shape 32"/>
          <p:cNvSpPr/>
          <p:nvPr/>
        </p:nvSpPr>
        <p:spPr>
          <a:xfrm>
            <a:off x="8138160" y="3840480"/>
            <a:ext cx="3611880" cy="1965960"/>
          </a:xfrm>
          <a:prstGeom prst="roundRect">
            <a:avLst>
              <a:gd name="adj" fmla="val 3721"/>
            </a:avLst>
          </a:prstGeom>
          <a:solidFill>
            <a:srgbClr val="13261A"/>
          </a:solidFill>
          <a:ln w="12700">
            <a:solidFill>
              <a:srgbClr val="1F3D28"/>
            </a:solidFill>
            <a:prstDash val="solid"/>
          </a:ln>
        </p:spPr>
      </p:sp>
      <p:sp>
        <p:nvSpPr>
          <p:cNvPr id="35" name="Shape 33"/>
          <p:cNvSpPr/>
          <p:nvPr/>
        </p:nvSpPr>
        <p:spPr>
          <a:xfrm>
            <a:off x="8339328" y="4041648"/>
            <a:ext cx="457200" cy="457200"/>
          </a:xfrm>
          <a:prstGeom prst="ellipse">
            <a:avLst/>
          </a:prstGeom>
          <a:solidFill>
            <a:srgbClr val="2E7D32"/>
          </a:solidFill>
        </p:spPr>
      </p:sp>
      <p:sp>
        <p:nvSpPr>
          <p:cNvPr id="36" name="Text 34"/>
          <p:cNvSpPr/>
          <p:nvPr/>
        </p:nvSpPr>
        <p:spPr>
          <a:xfrm>
            <a:off x="8339328" y="4041648"/>
            <a:ext cx="457200" cy="457200"/>
          </a:xfrm>
          <a:prstGeom prst="rect">
            <a:avLst/>
          </a:prstGeom>
          <a:noFill/>
        </p:spPr>
        <p:txBody>
          <a:bodyPr wrap="square" lIns="0" tIns="0" rIns="0" bIns="0" rtlCol="0" anchor="ctr"/>
          <a:lstStyle/>
          <a:p>
            <a:pPr marL="0" indent="0" algn="ctr">
              <a:buNone/>
            </a:pPr>
            <a:r>
              <a:rPr lang="en-US" sz="1600" b="1" dirty="0">
                <a:solidFill>
                  <a:srgbClr val="FFFFFF"/>
                </a:solidFill>
                <a:latin typeface="Cambria" panose="02040503050406030204" pitchFamily="34" charset="0"/>
                <a:ea typeface="Cambria" panose="02040503050406030204" pitchFamily="34" charset="-122"/>
                <a:cs typeface="Cambria" panose="02040503050406030204" pitchFamily="34" charset="-120"/>
              </a:rPr>
              <a:t>F</a:t>
            </a:r>
            <a:endParaRPr lang="en-US" sz="1600" dirty="0"/>
          </a:p>
        </p:txBody>
      </p:sp>
      <p:sp>
        <p:nvSpPr>
          <p:cNvPr id="37" name="Text 35"/>
          <p:cNvSpPr/>
          <p:nvPr/>
        </p:nvSpPr>
        <p:spPr>
          <a:xfrm>
            <a:off x="8915400" y="4059936"/>
            <a:ext cx="2651760" cy="457200"/>
          </a:xfrm>
          <a:prstGeom prst="rect">
            <a:avLst/>
          </a:prstGeom>
          <a:noFill/>
        </p:spPr>
        <p:txBody>
          <a:bodyPr wrap="square" lIns="0" tIns="0" rIns="0" bIns="0" rtlCol="0" anchor="ctr"/>
          <a:lstStyle/>
          <a:p>
            <a:pPr marL="0" indent="0">
              <a:buNone/>
            </a:pPr>
            <a:r>
              <a:rPr lang="en-US" sz="1250" b="1" dirty="0">
                <a:solidFill>
                  <a:srgbClr val="FFFFFF"/>
                </a:solidFill>
                <a:latin typeface="Calibri" panose="020F0502020204030204" pitchFamily="34" charset="0"/>
                <a:ea typeface="Calibri" panose="020F0502020204030204" pitchFamily="34" charset="-122"/>
                <a:cs typeface="Calibri" panose="020F0502020204030204" pitchFamily="34" charset="-120"/>
              </a:rPr>
              <a:t>Consultation dashboard</a:t>
            </a:r>
            <a:endParaRPr lang="en-US" sz="1250" dirty="0"/>
          </a:p>
        </p:txBody>
      </p:sp>
      <p:sp>
        <p:nvSpPr>
          <p:cNvPr id="38" name="Text 36"/>
          <p:cNvSpPr/>
          <p:nvPr/>
        </p:nvSpPr>
        <p:spPr>
          <a:xfrm>
            <a:off x="8339328" y="4663440"/>
            <a:ext cx="3200400" cy="1005840"/>
          </a:xfrm>
          <a:prstGeom prst="rect">
            <a:avLst/>
          </a:prstGeom>
          <a:noFill/>
        </p:spPr>
        <p:txBody>
          <a:bodyPr wrap="square" lIns="0" tIns="0" rIns="0" bIns="0" rtlCol="0" anchor="ctr"/>
          <a:lstStyle/>
          <a:p>
            <a:pPr marL="0" indent="0">
              <a:lnSpc>
                <a:spcPct val="135000"/>
              </a:lnSpc>
              <a:buNone/>
            </a:pPr>
            <a:r>
              <a:rPr lang="en-US" sz="950" dirty="0">
                <a:solidFill>
                  <a:srgbClr val="7C9083"/>
                </a:solidFill>
                <a:latin typeface="Calibri" panose="020F0502020204030204" pitchFamily="34" charset="0"/>
                <a:ea typeface="Calibri" panose="020F0502020204030204" pitchFamily="34" charset="-122"/>
                <a:cs typeface="Calibri" panose="020F0502020204030204" pitchFamily="34" charset="-120"/>
              </a:rPr>
              <a:t>Attaque  </a:t>
            </a:r>
            <a:r>
              <a:rPr lang="en-US" sz="1050" b="1" dirty="0">
                <a:solidFill>
                  <a:srgbClr val="F5F7F5"/>
                </a:solidFill>
                <a:latin typeface="Calibri" panose="020F0502020204030204" pitchFamily="34" charset="0"/>
                <a:ea typeface="Calibri" panose="020F0502020204030204" pitchFamily="34" charset="-122"/>
                <a:cs typeface="Calibri" panose="020F0502020204030204" pitchFamily="34" charset="-120"/>
              </a:rPr>
              <a:t>Clic sur alerte
</a:t>
            </a:r>
            <a:r>
              <a:rPr lang="en-US" sz="950" dirty="0">
                <a:solidFill>
                  <a:srgbClr val="7C9083"/>
                </a:solidFill>
                <a:latin typeface="Calibri" panose="020F0502020204030204" pitchFamily="34" charset="0"/>
                <a:ea typeface="Calibri" panose="020F0502020204030204" pitchFamily="34" charset="-122"/>
                <a:cs typeface="Calibri" panose="020F0502020204030204" pitchFamily="34" charset="-120"/>
              </a:rPr>
              <a:t>Résultat  </a:t>
            </a:r>
            <a:r>
              <a:rPr lang="en-US" sz="1050" b="1" dirty="0">
                <a:solidFill>
                  <a:srgbClr val="8BC9A0"/>
                </a:solidFill>
                <a:latin typeface="Calibri" panose="020F0502020204030204" pitchFamily="34" charset="0"/>
                <a:ea typeface="Calibri" panose="020F0502020204030204" pitchFamily="34" charset="-122"/>
                <a:cs typeface="Calibri" panose="020F0502020204030204" pitchFamily="34" charset="-120"/>
              </a:rPr>
              <a:t>Détail affiché correctement</a:t>
            </a:r>
            <a:endParaRPr lang="en-US" sz="950" dirty="0"/>
          </a:p>
        </p:txBody>
      </p:sp>
      <p:sp>
        <p:nvSpPr>
          <p:cNvPr id="39" name="Text 37"/>
          <p:cNvSpPr/>
          <p:nvPr/>
        </p:nvSpPr>
        <p:spPr>
          <a:xfrm>
            <a:off x="8339328" y="5440680"/>
            <a:ext cx="3200400" cy="274320"/>
          </a:xfrm>
          <a:prstGeom prst="rect">
            <a:avLst/>
          </a:prstGeom>
          <a:noFill/>
        </p:spPr>
        <p:txBody>
          <a:bodyPr wrap="square" lIns="0" tIns="0" rIns="0" bIns="0" rtlCol="0" anchor="ctr"/>
          <a:lstStyle/>
          <a:p>
            <a:pPr marL="0" indent="0">
              <a:buNone/>
            </a:pPr>
            <a:r>
              <a:rPr lang="en-US" sz="950" b="1" dirty="0">
                <a:solidFill>
                  <a:srgbClr val="4CAF50"/>
                </a:solidFill>
                <a:latin typeface="Calibri" panose="020F0502020204030204" pitchFamily="34" charset="0"/>
                <a:ea typeface="Calibri" panose="020F0502020204030204" pitchFamily="34" charset="-122"/>
                <a:cs typeface="Calibri" panose="020F0502020204030204" pitchFamily="34" charset="-120"/>
              </a:rPr>
              <a:t>✔ VALIDÉ</a:t>
            </a:r>
            <a:endParaRPr lang="en-US" sz="950" dirty="0"/>
          </a:p>
        </p:txBody>
      </p:sp>
      <p:sp>
        <p:nvSpPr>
          <p:cNvPr id="40" name="Text 38"/>
          <p:cNvSpPr/>
          <p:nvPr/>
        </p:nvSpPr>
        <p:spPr>
          <a:xfrm>
            <a:off x="11521440" y="6446520"/>
            <a:ext cx="548640" cy="320040"/>
          </a:xfrm>
          <a:prstGeom prst="rect">
            <a:avLst/>
          </a:prstGeom>
          <a:noFill/>
        </p:spPr>
        <p:txBody>
          <a:bodyPr wrap="square" lIns="0" tIns="0" rIns="0" bIns="0" rtlCol="0" anchor="ctr"/>
          <a:lstStyle/>
          <a:p>
            <a:pPr marL="0" indent="0" algn="r">
              <a:buNone/>
            </a:pPr>
            <a:r>
              <a:rPr lang="en-US" sz="1100" dirty="0">
                <a:solidFill>
                  <a:srgbClr val="5C6B60"/>
                </a:solidFill>
                <a:latin typeface="Calibri" panose="020F0502020204030204" pitchFamily="34" charset="0"/>
                <a:ea typeface="Calibri" panose="020F0502020204030204" pitchFamily="34" charset="-122"/>
                <a:cs typeface="Calibri" panose="020F0502020204030204" pitchFamily="34" charset="-120"/>
              </a:rPr>
              <a:t>10</a:t>
            </a:r>
            <a:endParaRPr lang="en-US" sz="11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0D1B12"/>
        </a:solidFill>
        <a:effectLst/>
      </p:bgPr>
    </p:bg>
    <p:spTree>
      <p:nvGrpSpPr>
        <p:cNvPr id="1" name=""/>
        <p:cNvGrpSpPr/>
        <p:nvPr/>
      </p:nvGrpSpPr>
      <p:grpSpPr>
        <a:xfrm>
          <a:off x="0" y="0"/>
          <a:ext cx="0" cy="0"/>
          <a:chOff x="0" y="0"/>
          <a:chExt cx="0" cy="0"/>
        </a:xfrm>
      </p:grpSpPr>
      <p:sp>
        <p:nvSpPr>
          <p:cNvPr id="2" name="Text 0"/>
          <p:cNvSpPr/>
          <p:nvPr/>
        </p:nvSpPr>
        <p:spPr>
          <a:xfrm>
            <a:off x="548640" y="365760"/>
            <a:ext cx="7315200" cy="365760"/>
          </a:xfrm>
          <a:prstGeom prst="rect">
            <a:avLst/>
          </a:prstGeom>
          <a:noFill/>
        </p:spPr>
        <p:txBody>
          <a:bodyPr wrap="square" lIns="0" tIns="0" rIns="0" bIns="0" rtlCol="0" anchor="ctr"/>
          <a:lstStyle/>
          <a:p>
            <a:pPr marL="0" indent="0">
              <a:buNone/>
            </a:pPr>
            <a:r>
              <a:rPr lang="en-US" sz="1200" b="1" kern="0" spc="200" dirty="0">
                <a:solidFill>
                  <a:srgbClr val="4CAF50"/>
                </a:solidFill>
                <a:latin typeface="Calibri" panose="020F0502020204030204" pitchFamily="34" charset="0"/>
                <a:ea typeface="Calibri" panose="020F0502020204030204" pitchFamily="34" charset="-122"/>
                <a:cs typeface="Calibri" panose="020F0502020204030204" pitchFamily="34" charset="-120"/>
              </a:rPr>
              <a:t>08 — CONCLUSION</a:t>
            </a:r>
            <a:endParaRPr lang="en-US" sz="1200" dirty="0"/>
          </a:p>
        </p:txBody>
      </p:sp>
      <p:sp>
        <p:nvSpPr>
          <p:cNvPr id="3" name="Text 1"/>
          <p:cNvSpPr/>
          <p:nvPr/>
        </p:nvSpPr>
        <p:spPr>
          <a:xfrm>
            <a:off x="548640" y="685800"/>
            <a:ext cx="10515600" cy="731520"/>
          </a:xfrm>
          <a:prstGeom prst="rect">
            <a:avLst/>
          </a:prstGeom>
          <a:noFill/>
        </p:spPr>
        <p:txBody>
          <a:bodyPr wrap="square" lIns="0" tIns="0" rIns="0" bIns="0" rtlCol="0" anchor="ctr"/>
          <a:lstStyle/>
          <a:p>
            <a:pPr marL="0" indent="0">
              <a:buNone/>
            </a:pPr>
            <a:r>
              <a:rPr lang="en-US" sz="3000" b="1" dirty="0">
                <a:solidFill>
                  <a:srgbClr val="FFFFFF"/>
                </a:solidFill>
                <a:latin typeface="Cambria" panose="02040503050406030204" pitchFamily="34" charset="0"/>
                <a:ea typeface="Cambria" panose="02040503050406030204" pitchFamily="34" charset="-122"/>
                <a:cs typeface="Cambria" panose="02040503050406030204" pitchFamily="34" charset="-120"/>
              </a:rPr>
              <a:t>Bilan et perspectives</a:t>
            </a:r>
            <a:endParaRPr lang="en-US" sz="3000" dirty="0"/>
          </a:p>
        </p:txBody>
      </p:sp>
      <p:sp>
        <p:nvSpPr>
          <p:cNvPr id="4" name="Text 2"/>
          <p:cNvSpPr/>
          <p:nvPr/>
        </p:nvSpPr>
        <p:spPr>
          <a:xfrm>
            <a:off x="548640" y="1645920"/>
            <a:ext cx="5212080" cy="320040"/>
          </a:xfrm>
          <a:prstGeom prst="rect">
            <a:avLst/>
          </a:prstGeom>
          <a:noFill/>
        </p:spPr>
        <p:txBody>
          <a:bodyPr wrap="square" lIns="0" tIns="0" rIns="0" bIns="0" rtlCol="0" anchor="ctr"/>
          <a:lstStyle/>
          <a:p>
            <a:pPr marL="0" indent="0">
              <a:buNone/>
            </a:pPr>
            <a:r>
              <a:rPr lang="en-US" sz="1250" b="1" kern="0" spc="150" dirty="0">
                <a:solidFill>
                  <a:srgbClr val="4CAF50"/>
                </a:solidFill>
                <a:latin typeface="Calibri" panose="020F0502020204030204" pitchFamily="34" charset="0"/>
                <a:ea typeface="Calibri" panose="020F0502020204030204" pitchFamily="34" charset="-122"/>
                <a:cs typeface="Calibri" panose="020F0502020204030204" pitchFamily="34" charset="-120"/>
              </a:rPr>
              <a:t>BILAN</a:t>
            </a:r>
            <a:endParaRPr lang="en-US" sz="1250" dirty="0"/>
          </a:p>
        </p:txBody>
      </p:sp>
      <p:sp>
        <p:nvSpPr>
          <p:cNvPr id="5" name="Text 3"/>
          <p:cNvSpPr/>
          <p:nvPr/>
        </p:nvSpPr>
        <p:spPr>
          <a:xfrm>
            <a:off x="548640" y="2011680"/>
            <a:ext cx="5212080" cy="1554480"/>
          </a:xfrm>
          <a:prstGeom prst="rect">
            <a:avLst/>
          </a:prstGeom>
          <a:noFill/>
        </p:spPr>
        <p:txBody>
          <a:bodyPr wrap="square" lIns="0" tIns="0" rIns="0" bIns="0" rtlCol="0" anchor="ctr"/>
          <a:lstStyle/>
          <a:p>
            <a:pPr marL="0" indent="0">
              <a:lnSpc>
                <a:spcPct val="130000"/>
              </a:lnSpc>
              <a:buNone/>
            </a:pPr>
            <a:r>
              <a:rPr lang="en-US" sz="1300" dirty="0">
                <a:solidFill>
                  <a:srgbClr val="F5F7F5"/>
                </a:solidFill>
                <a:latin typeface="Calibri" panose="020F0502020204030204" pitchFamily="34" charset="0"/>
                <a:ea typeface="Calibri" panose="020F0502020204030204" pitchFamily="34" charset="-122"/>
                <a:cs typeface="Calibri" panose="020F0502020204030204" pitchFamily="34" charset="-120"/>
              </a:rPr>
              <a:t>Un système HIPS fonctionnel couvrant l'ensemble des exigences : collecte multi-source, détection multi-vecteurs, actions automatiques réelles (iptables, kill), stockage structuré et tableau de bord web, validé par six scénarios d'attaque réels depuis Kali Linux.</a:t>
            </a:r>
            <a:endParaRPr lang="en-US" sz="1300" dirty="0"/>
          </a:p>
        </p:txBody>
      </p:sp>
      <p:sp>
        <p:nvSpPr>
          <p:cNvPr id="6" name="Text 4"/>
          <p:cNvSpPr/>
          <p:nvPr/>
        </p:nvSpPr>
        <p:spPr>
          <a:xfrm>
            <a:off x="548640" y="3657600"/>
            <a:ext cx="5212080" cy="320040"/>
          </a:xfrm>
          <a:prstGeom prst="rect">
            <a:avLst/>
          </a:prstGeom>
          <a:noFill/>
        </p:spPr>
        <p:txBody>
          <a:bodyPr wrap="square" lIns="0" tIns="0" rIns="0" bIns="0" rtlCol="0" anchor="ctr"/>
          <a:lstStyle/>
          <a:p>
            <a:pPr marL="0" indent="0">
              <a:buNone/>
            </a:pPr>
            <a:r>
              <a:rPr lang="en-US" sz="1250" b="1" kern="0" spc="150" dirty="0">
                <a:solidFill>
                  <a:srgbClr val="4CAF50"/>
                </a:solidFill>
                <a:latin typeface="Calibri" panose="020F0502020204030204" pitchFamily="34" charset="0"/>
                <a:ea typeface="Calibri" panose="020F0502020204030204" pitchFamily="34" charset="-122"/>
                <a:cs typeface="Calibri" panose="020F0502020204030204" pitchFamily="34" charset="-120"/>
              </a:rPr>
              <a:t>LIMITES</a:t>
            </a:r>
            <a:endParaRPr lang="en-US" sz="1250" dirty="0"/>
          </a:p>
        </p:txBody>
      </p:sp>
      <p:sp>
        <p:nvSpPr>
          <p:cNvPr id="7" name="Text 5"/>
          <p:cNvSpPr/>
          <p:nvPr/>
        </p:nvSpPr>
        <p:spPr>
          <a:xfrm>
            <a:off x="548640" y="4023360"/>
            <a:ext cx="5212080" cy="1371600"/>
          </a:xfrm>
          <a:prstGeom prst="rect">
            <a:avLst/>
          </a:prstGeom>
          <a:noFill/>
        </p:spPr>
        <p:txBody>
          <a:bodyPr wrap="square" lIns="0" tIns="0" rIns="0" bIns="0" rtlCol="0" anchor="ctr"/>
          <a:lstStyle/>
          <a:p>
            <a:pPr marL="177800" indent="-177800">
              <a:lnSpc>
                <a:spcPct val="120000"/>
              </a:lnSpc>
              <a:spcAft>
                <a:spcPts val="800"/>
              </a:spcAft>
              <a:buSzPct val="100000"/>
              <a:buChar char="•"/>
            </a:pPr>
            <a:r>
              <a:rPr lang="en-US" sz="1200" dirty="0">
                <a:solidFill>
                  <a:srgbClr val="F5F7F5"/>
                </a:solidFill>
                <a:latin typeface="Calibri" panose="020F0502020204030204" pitchFamily="34" charset="0"/>
                <a:ea typeface="Calibri" panose="020F0502020204030204" pitchFamily="34" charset="-122"/>
                <a:cs typeface="Calibri" panose="020F0502020204030204" pitchFamily="34" charset="-120"/>
              </a:rPr>
              <a:t>Blocage IP permanent (pas d'expiration automatique)</a:t>
            </a:r>
            <a:endParaRPr lang="en-US" sz="1200" dirty="0"/>
          </a:p>
          <a:p>
            <a:pPr marL="177800" indent="-177800">
              <a:lnSpc>
                <a:spcPct val="120000"/>
              </a:lnSpc>
              <a:spcAft>
                <a:spcPts val="800"/>
              </a:spcAft>
              <a:buSzPct val="100000"/>
              <a:buChar char="•"/>
            </a:pPr>
            <a:r>
              <a:rPr lang="en-US" sz="1200" dirty="0">
                <a:solidFill>
                  <a:srgbClr val="F5F7F5"/>
                </a:solidFill>
                <a:latin typeface="Calibri" panose="020F0502020204030204" pitchFamily="34" charset="0"/>
                <a:ea typeface="Calibri" panose="020F0502020204030204" pitchFamily="34" charset="-122"/>
                <a:cs typeface="Calibri" panose="020F0502020204030204" pitchFamily="34" charset="-120"/>
              </a:rPr>
              <a:t>Liste blanche fixe, à maintenir manuellement</a:t>
            </a:r>
            <a:endParaRPr lang="en-US" sz="1200" dirty="0"/>
          </a:p>
          <a:p>
            <a:pPr marL="177800" indent="-177800">
              <a:lnSpc>
                <a:spcPct val="120000"/>
              </a:lnSpc>
              <a:spcAft>
                <a:spcPts val="800"/>
              </a:spcAft>
              <a:buSzPct val="100000"/>
              <a:buChar char="•"/>
            </a:pPr>
            <a:r>
              <a:rPr lang="en-US" sz="1200" dirty="0">
                <a:solidFill>
                  <a:srgbClr val="F5F7F5"/>
                </a:solidFill>
                <a:latin typeface="Calibri" panose="020F0502020204030204" pitchFamily="34" charset="0"/>
                <a:ea typeface="Calibri" panose="020F0502020204030204" pitchFamily="34" charset="-122"/>
                <a:cs typeface="Calibri" panose="020F0502020204030204" pitchFamily="34" charset="-120"/>
              </a:rPr>
              <a:t>Stockage fichier, non adapté à grande échelle</a:t>
            </a:r>
            <a:endParaRPr lang="en-US" sz="1200" dirty="0"/>
          </a:p>
        </p:txBody>
      </p:sp>
      <p:sp>
        <p:nvSpPr>
          <p:cNvPr id="8" name="Shape 6"/>
          <p:cNvSpPr/>
          <p:nvPr/>
        </p:nvSpPr>
        <p:spPr>
          <a:xfrm>
            <a:off x="6217920" y="1645920"/>
            <a:ext cx="5440680" cy="4160520"/>
          </a:xfrm>
          <a:prstGeom prst="roundRect">
            <a:avLst>
              <a:gd name="adj" fmla="val 1758"/>
            </a:avLst>
          </a:prstGeom>
          <a:solidFill>
            <a:srgbClr val="13261A"/>
          </a:solidFill>
          <a:ln w="12700">
            <a:solidFill>
              <a:srgbClr val="1F3D28"/>
            </a:solidFill>
            <a:prstDash val="solid"/>
          </a:ln>
        </p:spPr>
      </p:sp>
      <p:sp>
        <p:nvSpPr>
          <p:cNvPr id="9" name="Text 7"/>
          <p:cNvSpPr/>
          <p:nvPr/>
        </p:nvSpPr>
        <p:spPr>
          <a:xfrm>
            <a:off x="6492240" y="1920240"/>
            <a:ext cx="4846320" cy="320040"/>
          </a:xfrm>
          <a:prstGeom prst="rect">
            <a:avLst/>
          </a:prstGeom>
          <a:noFill/>
        </p:spPr>
        <p:txBody>
          <a:bodyPr wrap="square" lIns="0" tIns="0" rIns="0" bIns="0" rtlCol="0" anchor="ctr"/>
          <a:lstStyle/>
          <a:p>
            <a:pPr marL="0" indent="0">
              <a:buNone/>
            </a:pPr>
            <a:r>
              <a:rPr lang="en-US" sz="1250" b="1" kern="0" spc="150" dirty="0">
                <a:solidFill>
                  <a:srgbClr val="4CAF50"/>
                </a:solidFill>
                <a:latin typeface="Calibri" panose="020F0502020204030204" pitchFamily="34" charset="0"/>
                <a:ea typeface="Calibri" panose="020F0502020204030204" pitchFamily="34" charset="-122"/>
                <a:cs typeface="Calibri" panose="020F0502020204030204" pitchFamily="34" charset="-120"/>
              </a:rPr>
              <a:t>PERSPECTIVES</a:t>
            </a:r>
            <a:endParaRPr lang="en-US" sz="1250" dirty="0"/>
          </a:p>
        </p:txBody>
      </p:sp>
      <p:sp>
        <p:nvSpPr>
          <p:cNvPr id="10" name="Shape 8"/>
          <p:cNvSpPr/>
          <p:nvPr/>
        </p:nvSpPr>
        <p:spPr>
          <a:xfrm>
            <a:off x="6492240" y="2377440"/>
            <a:ext cx="365760" cy="365760"/>
          </a:xfrm>
          <a:prstGeom prst="ellipse">
            <a:avLst/>
          </a:prstGeom>
          <a:solidFill>
            <a:srgbClr val="2E7D32"/>
          </a:solidFill>
        </p:spPr>
      </p:sp>
      <p:sp>
        <p:nvSpPr>
          <p:cNvPr id="11" name="Text 9"/>
          <p:cNvSpPr/>
          <p:nvPr/>
        </p:nvSpPr>
        <p:spPr>
          <a:xfrm>
            <a:off x="6492240" y="2377440"/>
            <a:ext cx="365760" cy="365760"/>
          </a:xfrm>
          <a:prstGeom prst="rect">
            <a:avLst/>
          </a:prstGeom>
          <a:noFill/>
        </p:spPr>
        <p:txBody>
          <a:bodyPr wrap="square" lIns="0" tIns="0" rIns="0" bIns="0" rtlCol="0" anchor="ctr"/>
          <a:lstStyle/>
          <a:p>
            <a:pPr marL="0" indent="0" algn="ctr">
              <a:buNone/>
            </a:pPr>
            <a:r>
              <a:rPr lang="en-US" sz="1200" b="1" dirty="0">
                <a:solidFill>
                  <a:srgbClr val="FFFFFF"/>
                </a:solidFill>
                <a:latin typeface="Calibri" panose="020F0502020204030204" pitchFamily="34" charset="0"/>
                <a:ea typeface="Calibri" panose="020F0502020204030204" pitchFamily="34" charset="-122"/>
                <a:cs typeface="Calibri" panose="020F0502020204030204" pitchFamily="34" charset="-120"/>
              </a:rPr>
              <a:t>1</a:t>
            </a:r>
            <a:endParaRPr lang="en-US" sz="1200" dirty="0"/>
          </a:p>
        </p:txBody>
      </p:sp>
      <p:sp>
        <p:nvSpPr>
          <p:cNvPr id="12" name="Text 10"/>
          <p:cNvSpPr/>
          <p:nvPr/>
        </p:nvSpPr>
        <p:spPr>
          <a:xfrm>
            <a:off x="7040880" y="2359152"/>
            <a:ext cx="4480560" cy="594360"/>
          </a:xfrm>
          <a:prstGeom prst="rect">
            <a:avLst/>
          </a:prstGeom>
          <a:noFill/>
        </p:spPr>
        <p:txBody>
          <a:bodyPr wrap="square" lIns="0" tIns="0" rIns="0" bIns="0" rtlCol="0" anchor="ctr"/>
          <a:lstStyle/>
          <a:p>
            <a:pPr marL="0" indent="0">
              <a:buNone/>
            </a:pPr>
            <a:r>
              <a:rPr lang="en-US" sz="1200" dirty="0">
                <a:solidFill>
                  <a:srgbClr val="F5F7F5"/>
                </a:solidFill>
                <a:latin typeface="Calibri" panose="020F0502020204030204" pitchFamily="34" charset="0"/>
                <a:ea typeface="Calibri" panose="020F0502020204030204" pitchFamily="34" charset="-122"/>
                <a:cs typeface="Calibri" panose="020F0502020204030204" pitchFamily="34" charset="-120"/>
              </a:rPr>
              <a:t>Blocage IP temporaire avec expiration automatique</a:t>
            </a:r>
            <a:endParaRPr lang="en-US" sz="1200" dirty="0"/>
          </a:p>
        </p:txBody>
      </p:sp>
      <p:sp>
        <p:nvSpPr>
          <p:cNvPr id="13" name="Shape 11"/>
          <p:cNvSpPr/>
          <p:nvPr/>
        </p:nvSpPr>
        <p:spPr>
          <a:xfrm>
            <a:off x="6492240" y="3154680"/>
            <a:ext cx="365760" cy="365760"/>
          </a:xfrm>
          <a:prstGeom prst="ellipse">
            <a:avLst/>
          </a:prstGeom>
          <a:solidFill>
            <a:srgbClr val="2E7D32"/>
          </a:solidFill>
        </p:spPr>
      </p:sp>
      <p:sp>
        <p:nvSpPr>
          <p:cNvPr id="14" name="Text 12"/>
          <p:cNvSpPr/>
          <p:nvPr/>
        </p:nvSpPr>
        <p:spPr>
          <a:xfrm>
            <a:off x="6492240" y="3154680"/>
            <a:ext cx="365760" cy="365760"/>
          </a:xfrm>
          <a:prstGeom prst="rect">
            <a:avLst/>
          </a:prstGeom>
          <a:noFill/>
        </p:spPr>
        <p:txBody>
          <a:bodyPr wrap="square" lIns="0" tIns="0" rIns="0" bIns="0" rtlCol="0" anchor="ctr"/>
          <a:lstStyle/>
          <a:p>
            <a:pPr marL="0" indent="0" algn="ctr">
              <a:buNone/>
            </a:pPr>
            <a:r>
              <a:rPr lang="en-US" sz="1200" b="1" dirty="0">
                <a:solidFill>
                  <a:srgbClr val="FFFFFF"/>
                </a:solidFill>
                <a:latin typeface="Calibri" panose="020F0502020204030204" pitchFamily="34" charset="0"/>
                <a:ea typeface="Calibri" panose="020F0502020204030204" pitchFamily="34" charset="-122"/>
                <a:cs typeface="Calibri" panose="020F0502020204030204" pitchFamily="34" charset="-120"/>
              </a:rPr>
              <a:t>2</a:t>
            </a:r>
            <a:endParaRPr lang="en-US" sz="1200" dirty="0"/>
          </a:p>
        </p:txBody>
      </p:sp>
      <p:sp>
        <p:nvSpPr>
          <p:cNvPr id="15" name="Text 13"/>
          <p:cNvSpPr/>
          <p:nvPr/>
        </p:nvSpPr>
        <p:spPr>
          <a:xfrm>
            <a:off x="7040880" y="3136392"/>
            <a:ext cx="4480560" cy="594360"/>
          </a:xfrm>
          <a:prstGeom prst="rect">
            <a:avLst/>
          </a:prstGeom>
          <a:noFill/>
        </p:spPr>
        <p:txBody>
          <a:bodyPr wrap="square" lIns="0" tIns="0" rIns="0" bIns="0" rtlCol="0" anchor="ctr"/>
          <a:lstStyle/>
          <a:p>
            <a:pPr marL="0" indent="0">
              <a:buNone/>
            </a:pPr>
            <a:r>
              <a:rPr lang="en-US" sz="1200" dirty="0">
                <a:solidFill>
                  <a:srgbClr val="F5F7F5"/>
                </a:solidFill>
                <a:latin typeface="Calibri" panose="020F0502020204030204" pitchFamily="34" charset="0"/>
                <a:ea typeface="Calibri" panose="020F0502020204030204" pitchFamily="34" charset="-122"/>
                <a:cs typeface="Calibri" panose="020F0502020204030204" pitchFamily="34" charset="-120"/>
              </a:rPr>
              <a:t>Authentification sur le tableau de bord web</a:t>
            </a:r>
            <a:endParaRPr lang="en-US" sz="1200" dirty="0"/>
          </a:p>
        </p:txBody>
      </p:sp>
      <p:sp>
        <p:nvSpPr>
          <p:cNvPr id="16" name="Shape 14"/>
          <p:cNvSpPr/>
          <p:nvPr/>
        </p:nvSpPr>
        <p:spPr>
          <a:xfrm>
            <a:off x="6492240" y="3931920"/>
            <a:ext cx="365760" cy="365760"/>
          </a:xfrm>
          <a:prstGeom prst="ellipse">
            <a:avLst/>
          </a:prstGeom>
          <a:solidFill>
            <a:srgbClr val="2E7D32"/>
          </a:solidFill>
        </p:spPr>
      </p:sp>
      <p:sp>
        <p:nvSpPr>
          <p:cNvPr id="17" name="Text 15"/>
          <p:cNvSpPr/>
          <p:nvPr/>
        </p:nvSpPr>
        <p:spPr>
          <a:xfrm>
            <a:off x="6492240" y="3931920"/>
            <a:ext cx="365760" cy="365760"/>
          </a:xfrm>
          <a:prstGeom prst="rect">
            <a:avLst/>
          </a:prstGeom>
          <a:noFill/>
        </p:spPr>
        <p:txBody>
          <a:bodyPr wrap="square" lIns="0" tIns="0" rIns="0" bIns="0" rtlCol="0" anchor="ctr"/>
          <a:lstStyle/>
          <a:p>
            <a:pPr marL="0" indent="0" algn="ctr">
              <a:buNone/>
            </a:pPr>
            <a:r>
              <a:rPr lang="en-US" sz="1200" b="1" dirty="0">
                <a:solidFill>
                  <a:srgbClr val="FFFFFF"/>
                </a:solidFill>
                <a:latin typeface="Calibri" panose="020F0502020204030204" pitchFamily="34" charset="0"/>
                <a:ea typeface="Calibri" panose="020F0502020204030204" pitchFamily="34" charset="-122"/>
                <a:cs typeface="Calibri" panose="020F0502020204030204" pitchFamily="34" charset="-120"/>
              </a:rPr>
              <a:t>3</a:t>
            </a:r>
            <a:endParaRPr lang="en-US" sz="1200" dirty="0"/>
          </a:p>
        </p:txBody>
      </p:sp>
      <p:sp>
        <p:nvSpPr>
          <p:cNvPr id="18" name="Text 16"/>
          <p:cNvSpPr/>
          <p:nvPr/>
        </p:nvSpPr>
        <p:spPr>
          <a:xfrm>
            <a:off x="7040880" y="3913632"/>
            <a:ext cx="4480560" cy="594360"/>
          </a:xfrm>
          <a:prstGeom prst="rect">
            <a:avLst/>
          </a:prstGeom>
          <a:noFill/>
        </p:spPr>
        <p:txBody>
          <a:bodyPr wrap="square" lIns="0" tIns="0" rIns="0" bIns="0" rtlCol="0" anchor="ctr"/>
          <a:lstStyle/>
          <a:p>
            <a:pPr marL="0" indent="0">
              <a:buNone/>
            </a:pPr>
            <a:r>
              <a:rPr lang="en-US" sz="1200" dirty="0">
                <a:solidFill>
                  <a:srgbClr val="F5F7F5"/>
                </a:solidFill>
                <a:latin typeface="Calibri" panose="020F0502020204030204" pitchFamily="34" charset="0"/>
                <a:ea typeface="Calibri" panose="020F0502020204030204" pitchFamily="34" charset="-122"/>
                <a:cs typeface="Calibri" panose="020F0502020204030204" pitchFamily="34" charset="-120"/>
              </a:rPr>
              <a:t>Extension à d'autres vecteurs (élévation de privilèges, persistance, cron)</a:t>
            </a:r>
            <a:endParaRPr lang="en-US" sz="1200" dirty="0"/>
          </a:p>
        </p:txBody>
      </p:sp>
      <p:sp>
        <p:nvSpPr>
          <p:cNvPr id="19" name="Shape 17"/>
          <p:cNvSpPr/>
          <p:nvPr/>
        </p:nvSpPr>
        <p:spPr>
          <a:xfrm>
            <a:off x="6492240" y="4709160"/>
            <a:ext cx="365760" cy="365760"/>
          </a:xfrm>
          <a:prstGeom prst="ellipse">
            <a:avLst/>
          </a:prstGeom>
          <a:solidFill>
            <a:srgbClr val="2E7D32"/>
          </a:solidFill>
        </p:spPr>
      </p:sp>
      <p:sp>
        <p:nvSpPr>
          <p:cNvPr id="20" name="Text 18"/>
          <p:cNvSpPr/>
          <p:nvPr/>
        </p:nvSpPr>
        <p:spPr>
          <a:xfrm>
            <a:off x="6492240" y="4709160"/>
            <a:ext cx="365760" cy="365760"/>
          </a:xfrm>
          <a:prstGeom prst="rect">
            <a:avLst/>
          </a:prstGeom>
          <a:noFill/>
        </p:spPr>
        <p:txBody>
          <a:bodyPr wrap="square" lIns="0" tIns="0" rIns="0" bIns="0" rtlCol="0" anchor="ctr"/>
          <a:lstStyle/>
          <a:p>
            <a:pPr marL="0" indent="0" algn="ctr">
              <a:buNone/>
            </a:pPr>
            <a:r>
              <a:rPr lang="en-US" sz="1200" b="1" dirty="0">
                <a:solidFill>
                  <a:srgbClr val="FFFFFF"/>
                </a:solidFill>
                <a:latin typeface="Calibri" panose="020F0502020204030204" pitchFamily="34" charset="0"/>
                <a:ea typeface="Calibri" panose="020F0502020204030204" pitchFamily="34" charset="-122"/>
                <a:cs typeface="Calibri" panose="020F0502020204030204" pitchFamily="34" charset="-120"/>
              </a:rPr>
              <a:t>4</a:t>
            </a:r>
            <a:endParaRPr lang="en-US" sz="1200" dirty="0"/>
          </a:p>
        </p:txBody>
      </p:sp>
      <p:sp>
        <p:nvSpPr>
          <p:cNvPr id="21" name="Text 19"/>
          <p:cNvSpPr/>
          <p:nvPr/>
        </p:nvSpPr>
        <p:spPr>
          <a:xfrm>
            <a:off x="7040880" y="4690872"/>
            <a:ext cx="4480560" cy="594360"/>
          </a:xfrm>
          <a:prstGeom prst="rect">
            <a:avLst/>
          </a:prstGeom>
          <a:noFill/>
        </p:spPr>
        <p:txBody>
          <a:bodyPr wrap="square" lIns="0" tIns="0" rIns="0" bIns="0" rtlCol="0" anchor="ctr"/>
          <a:lstStyle/>
          <a:p>
            <a:pPr marL="0" indent="0">
              <a:buNone/>
            </a:pPr>
            <a:r>
              <a:rPr lang="en-US" sz="1200" dirty="0">
                <a:solidFill>
                  <a:srgbClr val="F5F7F5"/>
                </a:solidFill>
                <a:latin typeface="Calibri" panose="020F0502020204030204" pitchFamily="34" charset="0"/>
                <a:ea typeface="Calibri" panose="020F0502020204030204" pitchFamily="34" charset="-122"/>
                <a:cs typeface="Calibri" panose="020F0502020204030204" pitchFamily="34" charset="-120"/>
              </a:rPr>
              <a:t>Graphiques de tendance des alertes par type et période</a:t>
            </a:r>
            <a:endParaRPr lang="en-US" sz="1200" dirty="0"/>
          </a:p>
        </p:txBody>
      </p:sp>
      <p:sp>
        <p:nvSpPr>
          <p:cNvPr id="22" name="Text 20"/>
          <p:cNvSpPr/>
          <p:nvPr/>
        </p:nvSpPr>
        <p:spPr>
          <a:xfrm>
            <a:off x="11521440" y="6446520"/>
            <a:ext cx="548640" cy="320040"/>
          </a:xfrm>
          <a:prstGeom prst="rect">
            <a:avLst/>
          </a:prstGeom>
          <a:noFill/>
        </p:spPr>
        <p:txBody>
          <a:bodyPr wrap="square" lIns="0" tIns="0" rIns="0" bIns="0" rtlCol="0" anchor="ctr"/>
          <a:lstStyle/>
          <a:p>
            <a:pPr marL="0" indent="0" algn="r">
              <a:buNone/>
            </a:pPr>
            <a:r>
              <a:rPr lang="en-US" sz="1100" dirty="0">
                <a:solidFill>
                  <a:srgbClr val="5C6B60"/>
                </a:solidFill>
                <a:latin typeface="Calibri" panose="020F0502020204030204" pitchFamily="34" charset="0"/>
                <a:ea typeface="Calibri" panose="020F0502020204030204" pitchFamily="34" charset="-122"/>
                <a:cs typeface="Calibri" panose="020F0502020204030204" pitchFamily="34" charset="-120"/>
              </a:rPr>
              <a:t>11</a:t>
            </a:r>
            <a:endParaRPr lang="en-US" sz="11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6593</Words>
  <Application>WPS Presentation</Application>
  <PresentationFormat>On-screen Show (16:9)</PresentationFormat>
  <Paragraphs>441</Paragraphs>
  <Slides>11</Slides>
  <Notes>11</Notes>
  <HiddenSlides>0</HiddenSlides>
  <MMClips>0</MMClips>
  <ScaleCrop>false</ScaleCrop>
  <HeadingPairs>
    <vt:vector size="6" baseType="variant">
      <vt:variant>
        <vt:lpstr>已用的字体</vt:lpstr>
      </vt:variant>
      <vt:variant>
        <vt:i4>14</vt:i4>
      </vt:variant>
      <vt:variant>
        <vt:lpstr>主题</vt:lpstr>
      </vt:variant>
      <vt:variant>
        <vt:i4>1</vt:i4>
      </vt:variant>
      <vt:variant>
        <vt:lpstr>幻灯片标题</vt:lpstr>
      </vt:variant>
      <vt:variant>
        <vt:i4>11</vt:i4>
      </vt:variant>
    </vt:vector>
  </HeadingPairs>
  <TitlesOfParts>
    <vt:vector size="26" baseType="lpstr">
      <vt:lpstr>Arial</vt:lpstr>
      <vt:lpstr>SimSun</vt:lpstr>
      <vt:lpstr>Wingdings</vt:lpstr>
      <vt:lpstr>Calibri</vt:lpstr>
      <vt:lpstr>Calibri</vt:lpstr>
      <vt:lpstr>Calibri</vt:lpstr>
      <vt:lpstr>Cambria</vt:lpstr>
      <vt:lpstr>Cambria</vt:lpstr>
      <vt:lpstr>Cambria</vt:lpstr>
      <vt:lpstr>Consolas</vt:lpstr>
      <vt:lpstr>Consolas</vt:lpstr>
      <vt:lpstr>Consolas</vt:lpstr>
      <vt:lpstr>Microsoft YaHei</vt:lpstr>
      <vt:lpstr>Arial Unicode MS</vt:lpstr>
      <vt:lpstr>Office Theme</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Company>PptxGenJS</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Cahier de réalisation — Système HIPS</dc:title>
  <dc:creator>KAMDOUM TEUFENG Josette</dc:creator>
  <dc:subject>PptxGenJS Presentation</dc:subject>
  <cp:lastModifiedBy>Josette Joan's</cp:lastModifiedBy>
  <cp:revision>2</cp:revision>
  <dcterms:created xsi:type="dcterms:W3CDTF">2026-07-11T13:49:00Z</dcterms:created>
  <dcterms:modified xsi:type="dcterms:W3CDTF">2026-07-11T15:14:05Z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90FADC93828240C6B3FA28772E907D58_12</vt:lpwstr>
  </property>
  <property fmtid="{D5CDD505-2E9C-101B-9397-08002B2CF9AE}" pid="3" name="KSOProductBuildVer">
    <vt:lpwstr>1036-12.1.0.26880</vt:lpwstr>
  </property>
</Properties>
</file>